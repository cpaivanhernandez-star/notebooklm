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C1810"/>
          </a:solidFill>
          <a:ln/>
        </p:spPr>
      </p:sp>
      <p:sp>
        <p:nvSpPr>
          <p:cNvPr id="3" name="Shape 1"/>
          <p:cNvSpPr/>
          <p:nvPr/>
        </p:nvSpPr>
        <p:spPr>
          <a:xfrm>
            <a:off x="0" y="0"/>
            <a:ext cx="164592" cy="6858000"/>
          </a:xfrm>
          <a:prstGeom prst="rect">
            <a:avLst/>
          </a:prstGeom>
          <a:solidFill>
            <a:srgbClr val="C89C10"/>
          </a:solidFill>
          <a:ln/>
        </p:spPr>
      </p:sp>
      <p:sp>
        <p:nvSpPr>
          <p:cNvPr id="4" name="Text 2"/>
          <p:cNvSpPr/>
          <p:nvPr/>
        </p:nvSpPr>
        <p:spPr>
          <a:xfrm>
            <a:off x="347472" y="201168"/>
            <a:ext cx="10972800" cy="256032"/>
          </a:xfrm>
          <a:prstGeom prst="rect">
            <a:avLst/>
          </a:prstGeom>
          <a:noFill/>
          <a:ln/>
        </p:spPr>
        <p:txBody>
          <a:bodyPr wrap="square" rtlCol="0" anchor="ctr"/>
          <a:lstStyle/>
          <a:p>
            <a:pPr indent="0" marL="0">
              <a:buNone/>
            </a:pPr>
            <a:r>
              <a:rPr lang="en-US" sz="950" dirty="0">
                <a:solidFill>
                  <a:srgbClr val="B09868"/>
                </a:solidFill>
              </a:rPr>
              <a:t>Miércoles · 19 agosto 2026 · Cierre de mercados — Día FOMC Minutes</a:t>
            </a:r>
            <a:endParaRPr lang="en-US" sz="950" dirty="0"/>
          </a:p>
        </p:txBody>
      </p:sp>
      <p:sp>
        <p:nvSpPr>
          <p:cNvPr id="5" name="Text 3"/>
          <p:cNvSpPr/>
          <p:nvPr/>
        </p:nvSpPr>
        <p:spPr>
          <a:xfrm>
            <a:off x="347472" y="502920"/>
            <a:ext cx="10972800" cy="822960"/>
          </a:xfrm>
          <a:prstGeom prst="rect">
            <a:avLst/>
          </a:prstGeom>
          <a:noFill/>
          <a:ln/>
        </p:spPr>
        <p:txBody>
          <a:bodyPr wrap="square" rtlCol="0" anchor="ctr"/>
          <a:lstStyle/>
          <a:p>
            <a:pPr indent="0" marL="0">
              <a:buNone/>
            </a:pPr>
            <a:r>
              <a:rPr lang="en-US" sz="5200" b="1" dirty="0">
                <a:solidFill>
                  <a:srgbClr val="FFFFFF"/>
                </a:solidFill>
              </a:rPr>
              <a:t>MÉXICO</a:t>
            </a:r>
            <a:endParaRPr lang="en-US" sz="5200" dirty="0"/>
          </a:p>
        </p:txBody>
      </p:sp>
      <p:sp>
        <p:nvSpPr>
          <p:cNvPr id="6" name="Text 4"/>
          <p:cNvSpPr/>
          <p:nvPr/>
        </p:nvSpPr>
        <p:spPr>
          <a:xfrm>
            <a:off x="347472" y="1234440"/>
            <a:ext cx="10972800" cy="594360"/>
          </a:xfrm>
          <a:prstGeom prst="rect">
            <a:avLst/>
          </a:prstGeom>
          <a:noFill/>
          <a:ln/>
        </p:spPr>
        <p:txBody>
          <a:bodyPr wrap="square" rtlCol="0" anchor="ctr"/>
          <a:lstStyle/>
          <a:p>
            <a:pPr indent="0" marL="0">
              <a:buNone/>
            </a:pPr>
            <a:r>
              <a:rPr lang="en-US" sz="3800" b="1" dirty="0">
                <a:solidFill>
                  <a:srgbClr val="C89C10"/>
                </a:solidFill>
              </a:rPr>
              <a:t>BRIEFING</a:t>
            </a:r>
            <a:endParaRPr lang="en-US" sz="3800" dirty="0"/>
          </a:p>
        </p:txBody>
      </p:sp>
      <p:sp>
        <p:nvSpPr>
          <p:cNvPr id="7" name="Text 5"/>
          <p:cNvSpPr/>
          <p:nvPr/>
        </p:nvSpPr>
        <p:spPr>
          <a:xfrm>
            <a:off x="347472" y="1810512"/>
            <a:ext cx="9144000" cy="274320"/>
          </a:xfrm>
          <a:prstGeom prst="rect">
            <a:avLst/>
          </a:prstGeom>
          <a:noFill/>
          <a:ln/>
        </p:spPr>
        <p:txBody>
          <a:bodyPr wrap="square" rtlCol="0" anchor="ctr"/>
          <a:lstStyle/>
          <a:p>
            <a:pPr indent="0" marL="0">
              <a:buNone/>
            </a:pPr>
            <a:r>
              <a:rPr lang="en-US" sz="1000" dirty="0">
                <a:solidFill>
                  <a:srgbClr val="B09868"/>
                </a:solidFill>
              </a:rPr>
              <a:t>Análisis diario de mercados · macro · política</a:t>
            </a:r>
            <a:endParaRPr lang="en-US" sz="1000" dirty="0"/>
          </a:p>
        </p:txBody>
      </p:sp>
      <p:sp>
        <p:nvSpPr>
          <p:cNvPr id="8" name="Shape 6"/>
          <p:cNvSpPr/>
          <p:nvPr/>
        </p:nvSpPr>
        <p:spPr>
          <a:xfrm>
            <a:off x="347472" y="2148840"/>
            <a:ext cx="6858000" cy="27432"/>
          </a:xfrm>
          <a:prstGeom prst="rect">
            <a:avLst/>
          </a:prstGeom>
          <a:solidFill>
            <a:srgbClr val="C89C10"/>
          </a:solidFill>
          <a:ln/>
        </p:spPr>
      </p:sp>
      <p:sp>
        <p:nvSpPr>
          <p:cNvPr id="9" name="Text 7"/>
          <p:cNvSpPr/>
          <p:nvPr/>
        </p:nvSpPr>
        <p:spPr>
          <a:xfrm>
            <a:off x="347472" y="2240280"/>
            <a:ext cx="11430000" cy="320040"/>
          </a:xfrm>
          <a:prstGeom prst="rect">
            <a:avLst/>
          </a:prstGeom>
          <a:noFill/>
          <a:ln/>
        </p:spPr>
        <p:txBody>
          <a:bodyPr wrap="square" rtlCol="0" anchor="ctr"/>
          <a:lstStyle/>
          <a:p>
            <a:pPr indent="0" marL="0">
              <a:buNone/>
            </a:pPr>
            <a:r>
              <a:rPr lang="en-US" sz="950" i="1" dirty="0">
                <a:solidFill>
                  <a:srgbClr val="B09868"/>
                </a:solidFill>
              </a:rPr>
              <a:t>Minutas FOMC hawkish · Oro récord $4,493 (+3.66%) · Peso MXN máximos 24 meses · Brent $91.86 · Ormuz escala</a:t>
            </a:r>
            <a:endParaRPr lang="en-US" sz="950" dirty="0"/>
          </a:p>
        </p:txBody>
      </p:sp>
      <p:sp>
        <p:nvSpPr>
          <p:cNvPr id="10" name="Shape 8"/>
          <p:cNvSpPr/>
          <p:nvPr/>
        </p:nvSpPr>
        <p:spPr>
          <a:xfrm>
            <a:off x="347472" y="2670048"/>
            <a:ext cx="2560320" cy="987552"/>
          </a:xfrm>
          <a:prstGeom prst="rect">
            <a:avLst/>
          </a:prstGeom>
          <a:solidFill>
            <a:srgbClr val="FAF4D8"/>
          </a:solidFill>
          <a:ln w="12700">
            <a:solidFill>
              <a:srgbClr val="D8C8A0"/>
            </a:solidFill>
            <a:prstDash val="solid"/>
          </a:ln>
        </p:spPr>
      </p:sp>
      <p:sp>
        <p:nvSpPr>
          <p:cNvPr id="11" name="Text 9"/>
          <p:cNvSpPr/>
          <p:nvPr/>
        </p:nvSpPr>
        <p:spPr>
          <a:xfrm>
            <a:off x="457200" y="2743200"/>
            <a:ext cx="2340864" cy="201168"/>
          </a:xfrm>
          <a:prstGeom prst="rect">
            <a:avLst/>
          </a:prstGeom>
          <a:noFill/>
          <a:ln/>
        </p:spPr>
        <p:txBody>
          <a:bodyPr wrap="square" rtlCol="0" anchor="ctr"/>
          <a:lstStyle/>
          <a:p>
            <a:pPr indent="0" marL="0">
              <a:buNone/>
            </a:pPr>
            <a:r>
              <a:rPr lang="en-US" sz="750" b="1" dirty="0">
                <a:solidFill>
                  <a:srgbClr val="7A6040"/>
                </a:solidFill>
              </a:rPr>
              <a:t>Oro — Récord Histórico</a:t>
            </a:r>
            <a:endParaRPr lang="en-US" sz="750" dirty="0"/>
          </a:p>
        </p:txBody>
      </p:sp>
      <p:sp>
        <p:nvSpPr>
          <p:cNvPr id="12" name="Text 10"/>
          <p:cNvSpPr/>
          <p:nvPr/>
        </p:nvSpPr>
        <p:spPr>
          <a:xfrm>
            <a:off x="457200" y="2916936"/>
            <a:ext cx="2340864" cy="420624"/>
          </a:xfrm>
          <a:prstGeom prst="rect">
            <a:avLst/>
          </a:prstGeom>
          <a:noFill/>
          <a:ln/>
        </p:spPr>
        <p:txBody>
          <a:bodyPr wrap="square" rtlCol="0" anchor="ctr"/>
          <a:lstStyle/>
          <a:p>
            <a:pPr indent="0" marL="0">
              <a:buNone/>
            </a:pPr>
            <a:r>
              <a:rPr lang="en-US" sz="2200" b="1" dirty="0">
                <a:solidFill>
                  <a:srgbClr val="C89C10"/>
                </a:solidFill>
              </a:rPr>
              <a:t>$4,493</a:t>
            </a:r>
            <a:endParaRPr lang="en-US" sz="2200" dirty="0"/>
          </a:p>
        </p:txBody>
      </p:sp>
      <p:sp>
        <p:nvSpPr>
          <p:cNvPr id="13" name="Text 11"/>
          <p:cNvSpPr/>
          <p:nvPr/>
        </p:nvSpPr>
        <p:spPr>
          <a:xfrm>
            <a:off x="457200" y="3355848"/>
            <a:ext cx="2340864" cy="228600"/>
          </a:xfrm>
          <a:prstGeom prst="rect">
            <a:avLst/>
          </a:prstGeom>
          <a:noFill/>
          <a:ln/>
        </p:spPr>
        <p:txBody>
          <a:bodyPr wrap="square" rtlCol="0" anchor="ctr"/>
          <a:lstStyle/>
          <a:p>
            <a:pPr indent="0" marL="0">
              <a:buNone/>
            </a:pPr>
            <a:r>
              <a:rPr lang="en-US" sz="750" dirty="0">
                <a:solidFill>
                  <a:srgbClr val="7A6040"/>
                </a:solidFill>
              </a:rPr>
              <a:t>+3.66% · +$158 en el día</a:t>
            </a:r>
            <a:endParaRPr lang="en-US" sz="750" dirty="0"/>
          </a:p>
        </p:txBody>
      </p:sp>
      <p:sp>
        <p:nvSpPr>
          <p:cNvPr id="14" name="Shape 12"/>
          <p:cNvSpPr/>
          <p:nvPr/>
        </p:nvSpPr>
        <p:spPr>
          <a:xfrm>
            <a:off x="3090672" y="2670048"/>
            <a:ext cx="2560320" cy="987552"/>
          </a:xfrm>
          <a:prstGeom prst="rect">
            <a:avLst/>
          </a:prstGeom>
          <a:solidFill>
            <a:srgbClr val="FAE4E8"/>
          </a:solidFill>
          <a:ln w="12700">
            <a:solidFill>
              <a:srgbClr val="D8C8A0"/>
            </a:solidFill>
            <a:prstDash val="solid"/>
          </a:ln>
        </p:spPr>
      </p:sp>
      <p:sp>
        <p:nvSpPr>
          <p:cNvPr id="15" name="Text 13"/>
          <p:cNvSpPr/>
          <p:nvPr/>
        </p:nvSpPr>
        <p:spPr>
          <a:xfrm>
            <a:off x="3200400" y="2743200"/>
            <a:ext cx="2340864" cy="201168"/>
          </a:xfrm>
          <a:prstGeom prst="rect">
            <a:avLst/>
          </a:prstGeom>
          <a:noFill/>
          <a:ln/>
        </p:spPr>
        <p:txBody>
          <a:bodyPr wrap="square" rtlCol="0" anchor="ctr"/>
          <a:lstStyle/>
          <a:p>
            <a:pPr indent="0" marL="0">
              <a:buNone/>
            </a:pPr>
            <a:r>
              <a:rPr lang="en-US" sz="750" b="1" dirty="0">
                <a:solidFill>
                  <a:srgbClr val="7A6040"/>
                </a:solidFill>
              </a:rPr>
              <a:t>FOMC Minutas</a:t>
            </a:r>
            <a:endParaRPr lang="en-US" sz="750" dirty="0"/>
          </a:p>
        </p:txBody>
      </p:sp>
      <p:sp>
        <p:nvSpPr>
          <p:cNvPr id="16" name="Text 14"/>
          <p:cNvSpPr/>
          <p:nvPr/>
        </p:nvSpPr>
        <p:spPr>
          <a:xfrm>
            <a:off x="3200400" y="2916936"/>
            <a:ext cx="2340864" cy="420624"/>
          </a:xfrm>
          <a:prstGeom prst="rect">
            <a:avLst/>
          </a:prstGeom>
          <a:noFill/>
          <a:ln/>
        </p:spPr>
        <p:txBody>
          <a:bodyPr wrap="square" rtlCol="0" anchor="ctr"/>
          <a:lstStyle/>
          <a:p>
            <a:pPr indent="0" marL="0">
              <a:buNone/>
            </a:pPr>
            <a:r>
              <a:rPr lang="en-US" sz="2200" b="1" dirty="0">
                <a:solidFill>
                  <a:srgbClr val="981828"/>
                </a:solidFill>
              </a:rPr>
              <a:t>Hawkish</a:t>
            </a:r>
            <a:endParaRPr lang="en-US" sz="2200" dirty="0"/>
          </a:p>
        </p:txBody>
      </p:sp>
      <p:sp>
        <p:nvSpPr>
          <p:cNvPr id="17" name="Text 15"/>
          <p:cNvSpPr/>
          <p:nvPr/>
        </p:nvSpPr>
        <p:spPr>
          <a:xfrm>
            <a:off x="3200400" y="3355848"/>
            <a:ext cx="2340864" cy="228600"/>
          </a:xfrm>
          <a:prstGeom prst="rect">
            <a:avLst/>
          </a:prstGeom>
          <a:noFill/>
          <a:ln/>
        </p:spPr>
        <p:txBody>
          <a:bodyPr wrap="square" rtlCol="0" anchor="ctr"/>
          <a:lstStyle/>
          <a:p>
            <a:pPr indent="0" marL="0">
              <a:buNone/>
            </a:pPr>
            <a:r>
              <a:rPr lang="en-US" sz="750" dirty="0">
                <a:solidFill>
                  <a:srgbClr val="7A6040"/>
                </a:solidFill>
              </a:rPr>
              <a:t>Mayoría aprecia alza si inflación no cede</a:t>
            </a:r>
            <a:endParaRPr lang="en-US" sz="750" dirty="0"/>
          </a:p>
        </p:txBody>
      </p:sp>
      <p:sp>
        <p:nvSpPr>
          <p:cNvPr id="18" name="Shape 16"/>
          <p:cNvSpPr/>
          <p:nvPr/>
        </p:nvSpPr>
        <p:spPr>
          <a:xfrm>
            <a:off x="5833872" y="2670048"/>
            <a:ext cx="2560320" cy="987552"/>
          </a:xfrm>
          <a:prstGeom prst="rect">
            <a:avLst/>
          </a:prstGeom>
          <a:solidFill>
            <a:srgbClr val="E0F4E8"/>
          </a:solidFill>
          <a:ln w="12700">
            <a:solidFill>
              <a:srgbClr val="D8C8A0"/>
            </a:solidFill>
            <a:prstDash val="solid"/>
          </a:ln>
        </p:spPr>
      </p:sp>
      <p:sp>
        <p:nvSpPr>
          <p:cNvPr id="19" name="Text 17"/>
          <p:cNvSpPr/>
          <p:nvPr/>
        </p:nvSpPr>
        <p:spPr>
          <a:xfrm>
            <a:off x="5943600" y="2743200"/>
            <a:ext cx="2340864" cy="201168"/>
          </a:xfrm>
          <a:prstGeom prst="rect">
            <a:avLst/>
          </a:prstGeom>
          <a:noFill/>
          <a:ln/>
        </p:spPr>
        <p:txBody>
          <a:bodyPr wrap="square" rtlCol="0" anchor="ctr"/>
          <a:lstStyle/>
          <a:p>
            <a:pPr indent="0" marL="0">
              <a:buNone/>
            </a:pPr>
            <a:r>
              <a:rPr lang="en-US" sz="750" b="1" dirty="0">
                <a:solidFill>
                  <a:srgbClr val="7A6040"/>
                </a:solidFill>
              </a:rPr>
              <a:t>Peso MXN</a:t>
            </a:r>
            <a:endParaRPr lang="en-US" sz="750" dirty="0"/>
          </a:p>
        </p:txBody>
      </p:sp>
      <p:sp>
        <p:nvSpPr>
          <p:cNvPr id="20" name="Text 18"/>
          <p:cNvSpPr/>
          <p:nvPr/>
        </p:nvSpPr>
        <p:spPr>
          <a:xfrm>
            <a:off x="5943600" y="2916936"/>
            <a:ext cx="2340864" cy="420624"/>
          </a:xfrm>
          <a:prstGeom prst="rect">
            <a:avLst/>
          </a:prstGeom>
          <a:noFill/>
          <a:ln/>
        </p:spPr>
        <p:txBody>
          <a:bodyPr wrap="square" rtlCol="0" anchor="ctr"/>
          <a:lstStyle/>
          <a:p>
            <a:pPr indent="0" marL="0">
              <a:buNone/>
            </a:pPr>
            <a:r>
              <a:rPr lang="en-US" sz="2200" b="1" dirty="0">
                <a:solidFill>
                  <a:srgbClr val="2A9050"/>
                </a:solidFill>
              </a:rPr>
              <a:t>$17.03</a:t>
            </a:r>
            <a:endParaRPr lang="en-US" sz="2200" dirty="0"/>
          </a:p>
        </p:txBody>
      </p:sp>
      <p:sp>
        <p:nvSpPr>
          <p:cNvPr id="21" name="Text 19"/>
          <p:cNvSpPr/>
          <p:nvPr/>
        </p:nvSpPr>
        <p:spPr>
          <a:xfrm>
            <a:off x="5943600" y="3355848"/>
            <a:ext cx="2340864" cy="228600"/>
          </a:xfrm>
          <a:prstGeom prst="rect">
            <a:avLst/>
          </a:prstGeom>
          <a:noFill/>
          <a:ln/>
        </p:spPr>
        <p:txBody>
          <a:bodyPr wrap="square" rtlCol="0" anchor="ctr"/>
          <a:lstStyle/>
          <a:p>
            <a:pPr indent="0" marL="0">
              <a:buNone/>
            </a:pPr>
            <a:r>
              <a:rPr lang="en-US" sz="750" dirty="0">
                <a:solidFill>
                  <a:srgbClr val="7A6040"/>
                </a:solidFill>
              </a:rPr>
              <a:t>Máximos 24 meses · −0.23%</a:t>
            </a:r>
            <a:endParaRPr lang="en-US" sz="750" dirty="0"/>
          </a:p>
        </p:txBody>
      </p:sp>
      <p:sp>
        <p:nvSpPr>
          <p:cNvPr id="22" name="Shape 20"/>
          <p:cNvSpPr/>
          <p:nvPr/>
        </p:nvSpPr>
        <p:spPr>
          <a:xfrm>
            <a:off x="0" y="6510528"/>
            <a:ext cx="12161520" cy="347472"/>
          </a:xfrm>
          <a:prstGeom prst="rect">
            <a:avLst/>
          </a:prstGeom>
          <a:solidFill>
            <a:srgbClr val="1C1810"/>
          </a:solidFill>
          <a:ln/>
        </p:spPr>
      </p:sp>
      <p:sp>
        <p:nvSpPr>
          <p:cNvPr id="23" name="Text 21"/>
          <p:cNvSpPr/>
          <p:nvPr/>
        </p:nvSpPr>
        <p:spPr>
          <a:xfrm>
            <a:off x="164592" y="6510528"/>
            <a:ext cx="11795760" cy="347472"/>
          </a:xfrm>
          <a:prstGeom prst="rect">
            <a:avLst/>
          </a:prstGeom>
          <a:noFill/>
          <a:ln/>
        </p:spPr>
        <p:txBody>
          <a:bodyPr wrap="square" rtlCol="0" anchor="ctr"/>
          <a:lstStyle/>
          <a:p>
            <a:pPr indent="0" marL="0">
              <a:buNone/>
            </a:pPr>
            <a:r>
              <a:rPr lang="en-US" sz="680" dirty="0">
                <a:solidFill>
                  <a:srgbClr val="B09868"/>
                </a:solidFill>
              </a:rPr>
              <a:t>Fuentes: CME FedWatch · Yahoo Finance · ABC News · CNBC · Forbes · FXStreet · Rio Times · Wikipedia Ormuz  |  Análisis informativo — No constituye asesoría financiera.  1 / 5</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AF8F2"/>
          </a:solidFill>
          <a:ln/>
        </p:spPr>
      </p:sp>
      <p:sp>
        <p:nvSpPr>
          <p:cNvPr id="3" name="Shape 1"/>
          <p:cNvSpPr/>
          <p:nvPr/>
        </p:nvSpPr>
        <p:spPr>
          <a:xfrm>
            <a:off x="0" y="0"/>
            <a:ext cx="12161520" cy="347472"/>
          </a:xfrm>
          <a:prstGeom prst="rect">
            <a:avLst/>
          </a:prstGeom>
          <a:solidFill>
            <a:srgbClr val="1C1810"/>
          </a:solidFill>
          <a:ln/>
        </p:spPr>
      </p:sp>
      <p:sp>
        <p:nvSpPr>
          <p:cNvPr id="4" name="Text 2"/>
          <p:cNvSpPr/>
          <p:nvPr/>
        </p:nvSpPr>
        <p:spPr>
          <a:xfrm>
            <a:off x="164592" y="0"/>
            <a:ext cx="8229600" cy="347472"/>
          </a:xfrm>
          <a:prstGeom prst="rect">
            <a:avLst/>
          </a:prstGeom>
          <a:noFill/>
          <a:ln/>
        </p:spPr>
        <p:txBody>
          <a:bodyPr wrap="square" rtlCol="0" anchor="ctr"/>
          <a:lstStyle/>
          <a:p>
            <a:pPr indent="0" marL="0">
              <a:buNone/>
            </a:pPr>
            <a:r>
              <a:rPr lang="en-US" sz="850" dirty="0">
                <a:solidFill>
                  <a:srgbClr val="B09868"/>
                </a:solidFill>
              </a:rPr>
              <a:t>FOMC Minutes 19 ago 2026 — Tono Hawkish + Reacción Mercados</a:t>
            </a:r>
            <a:endParaRPr lang="en-US" sz="850" dirty="0"/>
          </a:p>
        </p:txBody>
      </p:sp>
      <p:sp>
        <p:nvSpPr>
          <p:cNvPr id="5" name="Text 3"/>
          <p:cNvSpPr/>
          <p:nvPr/>
        </p:nvSpPr>
        <p:spPr>
          <a:xfrm>
            <a:off x="8503920" y="0"/>
            <a:ext cx="3474720" cy="347472"/>
          </a:xfrm>
          <a:prstGeom prst="rect">
            <a:avLst/>
          </a:prstGeom>
          <a:noFill/>
          <a:ln/>
        </p:spPr>
        <p:txBody>
          <a:bodyPr wrap="square" rtlCol="0" anchor="ctr"/>
          <a:lstStyle/>
          <a:p>
            <a:pPr algn="r" indent="0" marL="0">
              <a:buNone/>
            </a:pPr>
            <a:r>
              <a:rPr lang="en-US" sz="850" dirty="0">
                <a:solidFill>
                  <a:srgbClr val="B09868"/>
                </a:solidFill>
              </a:rPr>
              <a:t>Miércoles 19 agosto 2026</a:t>
            </a:r>
            <a:endParaRPr lang="en-US" sz="850" dirty="0"/>
          </a:p>
        </p:txBody>
      </p:sp>
      <p:sp>
        <p:nvSpPr>
          <p:cNvPr id="6" name="Text 4"/>
          <p:cNvSpPr/>
          <p:nvPr/>
        </p:nvSpPr>
        <p:spPr>
          <a:xfrm>
            <a:off x="228600" y="411480"/>
            <a:ext cx="11704320" cy="347472"/>
          </a:xfrm>
          <a:prstGeom prst="rect">
            <a:avLst/>
          </a:prstGeom>
          <a:noFill/>
          <a:ln/>
        </p:spPr>
        <p:txBody>
          <a:bodyPr wrap="square" rtlCol="0" anchor="ctr"/>
          <a:lstStyle/>
          <a:p>
            <a:pPr indent="0" marL="0">
              <a:buNone/>
            </a:pPr>
            <a:r>
              <a:rPr lang="en-US" sz="1400" b="1" dirty="0">
                <a:solidFill>
                  <a:srgbClr val="1C1810"/>
                </a:solidFill>
              </a:rPr>
              <a:t>FOMC Minutes — Tono Hawkish &amp; Reacción Post-14:00 EDT</a:t>
            </a:r>
            <a:endParaRPr lang="en-US" sz="1400" dirty="0"/>
          </a:p>
        </p:txBody>
      </p:sp>
      <p:sp>
        <p:nvSpPr>
          <p:cNvPr id="7" name="Shape 5"/>
          <p:cNvSpPr/>
          <p:nvPr/>
        </p:nvSpPr>
        <p:spPr>
          <a:xfrm>
            <a:off x="228600" y="822960"/>
            <a:ext cx="5577840" cy="3246120"/>
          </a:xfrm>
          <a:prstGeom prst="rect">
            <a:avLst/>
          </a:prstGeom>
          <a:solidFill>
            <a:srgbClr val="FFFEF8"/>
          </a:solidFill>
          <a:ln w="12700">
            <a:solidFill>
              <a:srgbClr val="D8C8A0"/>
            </a:solidFill>
            <a:prstDash val="solid"/>
          </a:ln>
        </p:spPr>
      </p:sp>
      <p:sp>
        <p:nvSpPr>
          <p:cNvPr id="8" name="Shape 6"/>
          <p:cNvSpPr/>
          <p:nvPr/>
        </p:nvSpPr>
        <p:spPr>
          <a:xfrm>
            <a:off x="228600" y="822960"/>
            <a:ext cx="5577840" cy="274320"/>
          </a:xfrm>
          <a:prstGeom prst="rect">
            <a:avLst/>
          </a:prstGeom>
          <a:solidFill>
            <a:srgbClr val="981828"/>
          </a:solidFill>
          <a:ln/>
        </p:spPr>
      </p:sp>
      <p:sp>
        <p:nvSpPr>
          <p:cNvPr id="9" name="Text 7"/>
          <p:cNvSpPr/>
          <p:nvPr/>
        </p:nvSpPr>
        <p:spPr>
          <a:xfrm>
            <a:off x="228600" y="822960"/>
            <a:ext cx="5577840" cy="274320"/>
          </a:xfrm>
          <a:prstGeom prst="rect">
            <a:avLst/>
          </a:prstGeom>
          <a:noFill/>
          <a:ln/>
        </p:spPr>
        <p:txBody>
          <a:bodyPr wrap="square" rtlCol="0" anchor="ctr"/>
          <a:lstStyle/>
          <a:p>
            <a:pPr algn="ctr" indent="0" marL="0">
              <a:buNone/>
            </a:pPr>
            <a:r>
              <a:rPr lang="en-US" sz="850" b="1" dirty="0">
                <a:solidFill>
                  <a:srgbClr val="FFFFFF"/>
                </a:solidFill>
              </a:rPr>
              <a:t>📋  FOMC MINUTES · ACTAS 28–29 JULIO · PUBLICADAS 14:00 EDT</a:t>
            </a:r>
            <a:endParaRPr lang="en-US" sz="850" dirty="0"/>
          </a:p>
        </p:txBody>
      </p:sp>
      <p:sp>
        <p:nvSpPr>
          <p:cNvPr id="10" name="Text 8"/>
          <p:cNvSpPr/>
          <p:nvPr/>
        </p:nvSpPr>
        <p:spPr>
          <a:xfrm>
            <a:off x="347472" y="1170432"/>
            <a:ext cx="5340096" cy="384048"/>
          </a:xfrm>
          <a:prstGeom prst="rect">
            <a:avLst/>
          </a:prstGeom>
          <a:noFill/>
          <a:ln/>
        </p:spPr>
        <p:txBody>
          <a:bodyPr wrap="square" rtlCol="0" anchor="ctr"/>
          <a:lstStyle/>
          <a:p>
            <a:pPr indent="0" marL="0">
              <a:buNone/>
            </a:pPr>
            <a:r>
              <a:rPr lang="en-US" sz="780" dirty="0">
                <a:solidFill>
                  <a:srgbClr val="1C1810"/>
                </a:solidFill>
              </a:rPr>
              <a:t>🔴  División formal 9–3 (hold) subestima consenso hawkish real: MUCHOS participantes consideraron probable necesitar subir tasas si inflación no cede</a:t>
            </a:r>
            <a:endParaRPr lang="en-US" sz="780" dirty="0"/>
          </a:p>
        </p:txBody>
      </p:sp>
      <p:sp>
        <p:nvSpPr>
          <p:cNvPr id="11" name="Text 9"/>
          <p:cNvSpPr/>
          <p:nvPr/>
        </p:nvSpPr>
        <p:spPr>
          <a:xfrm>
            <a:off x="347472" y="1591056"/>
            <a:ext cx="5340096" cy="384048"/>
          </a:xfrm>
          <a:prstGeom prst="rect">
            <a:avLst/>
          </a:prstGeom>
          <a:noFill/>
          <a:ln/>
        </p:spPr>
        <p:txBody>
          <a:bodyPr wrap="square" rtlCol="0" anchor="ctr"/>
          <a:lstStyle/>
          <a:p>
            <a:pPr indent="0" marL="0">
              <a:buNone/>
            </a:pPr>
            <a:r>
              <a:rPr lang="en-US" sz="780" dirty="0">
                <a:solidFill>
                  <a:srgbClr val="1C1810"/>
                </a:solidFill>
              </a:rPr>
              <a:t>🔴  Tres disidentes formales: Logan (Dallas), Hammack (Cleveland), Kashkari (Minneapolis) — votaron por +25 pb en julio</a:t>
            </a:r>
            <a:endParaRPr lang="en-US" sz="780" dirty="0"/>
          </a:p>
        </p:txBody>
      </p:sp>
      <p:sp>
        <p:nvSpPr>
          <p:cNvPr id="12" name="Text 10"/>
          <p:cNvSpPr/>
          <p:nvPr/>
        </p:nvSpPr>
        <p:spPr>
          <a:xfrm>
            <a:off x="347472" y="2011680"/>
            <a:ext cx="5340096" cy="384048"/>
          </a:xfrm>
          <a:prstGeom prst="rect">
            <a:avLst/>
          </a:prstGeom>
          <a:noFill/>
          <a:ln/>
        </p:spPr>
        <p:txBody>
          <a:bodyPr wrap="square" rtlCol="0" anchor="ctr"/>
          <a:lstStyle/>
          <a:p>
            <a:pPr indent="0" marL="0">
              <a:buNone/>
            </a:pPr>
            <a:r>
              <a:rPr lang="en-US" sz="780" dirty="0">
                <a:solidFill>
                  <a:srgbClr val="1C1810"/>
                </a:solidFill>
              </a:rPr>
              <a:t>🟡  Sorpresa inesperada: Warsh propuso reducir reuniones FOMC de 8 a 6 anuales — elemento no anticipado por el mercado</a:t>
            </a:r>
            <a:endParaRPr lang="en-US" sz="780" dirty="0"/>
          </a:p>
        </p:txBody>
      </p:sp>
      <p:sp>
        <p:nvSpPr>
          <p:cNvPr id="13" name="Text 11"/>
          <p:cNvSpPr/>
          <p:nvPr/>
        </p:nvSpPr>
        <p:spPr>
          <a:xfrm>
            <a:off x="347472" y="2432304"/>
            <a:ext cx="5340096" cy="384048"/>
          </a:xfrm>
          <a:prstGeom prst="rect">
            <a:avLst/>
          </a:prstGeom>
          <a:noFill/>
          <a:ln/>
        </p:spPr>
        <p:txBody>
          <a:bodyPr wrap="square" rtlCol="0" anchor="ctr"/>
          <a:lstStyle/>
          <a:p>
            <a:pPr indent="0" marL="0">
              <a:buNone/>
            </a:pPr>
            <a:r>
              <a:rPr lang="en-US" sz="780" dirty="0">
                <a:solidFill>
                  <a:srgbClr val="1C1810"/>
                </a:solidFill>
              </a:rPr>
              <a:t>🟡  Balance entre mandatos: inflación progresa pero "no lo suficientemente rápido"; mercado laboral "más en equilibrio"</a:t>
            </a:r>
            <a:endParaRPr lang="en-US" sz="780" dirty="0"/>
          </a:p>
        </p:txBody>
      </p:sp>
      <p:sp>
        <p:nvSpPr>
          <p:cNvPr id="14" name="Text 12"/>
          <p:cNvSpPr/>
          <p:nvPr/>
        </p:nvSpPr>
        <p:spPr>
          <a:xfrm>
            <a:off x="347472" y="2852928"/>
            <a:ext cx="5340096" cy="384048"/>
          </a:xfrm>
          <a:prstGeom prst="rect">
            <a:avLst/>
          </a:prstGeom>
          <a:noFill/>
          <a:ln/>
        </p:spPr>
        <p:txBody>
          <a:bodyPr wrap="square" rtlCol="0" anchor="ctr"/>
          <a:lstStyle/>
          <a:p>
            <a:pPr indent="0" marL="0">
              <a:buNone/>
            </a:pPr>
            <a:r>
              <a:rPr lang="en-US" sz="780" dirty="0">
                <a:solidFill>
                  <a:srgbClr val="1C1810"/>
                </a:solidFill>
              </a:rPr>
              <a:t>🟢  Reacción post-14:00 EDT: renta variable subió moderadamente (+0.2%) al interpretar que el hold en sep sigue siendo el escenario base</a:t>
            </a:r>
            <a:endParaRPr lang="en-US" sz="780" dirty="0"/>
          </a:p>
        </p:txBody>
      </p:sp>
      <p:sp>
        <p:nvSpPr>
          <p:cNvPr id="15" name="Shape 13"/>
          <p:cNvSpPr/>
          <p:nvPr/>
        </p:nvSpPr>
        <p:spPr>
          <a:xfrm>
            <a:off x="347472" y="3273552"/>
            <a:ext cx="5340096" cy="18288"/>
          </a:xfrm>
          <a:prstGeom prst="rect">
            <a:avLst/>
          </a:prstGeom>
          <a:solidFill>
            <a:srgbClr val="D8C8A0"/>
          </a:solidFill>
          <a:ln/>
        </p:spPr>
      </p:sp>
      <p:sp>
        <p:nvSpPr>
          <p:cNvPr id="16" name="Text 14"/>
          <p:cNvSpPr/>
          <p:nvPr/>
        </p:nvSpPr>
        <p:spPr>
          <a:xfrm>
            <a:off x="347472" y="3310128"/>
            <a:ext cx="5340096" cy="384048"/>
          </a:xfrm>
          <a:prstGeom prst="rect">
            <a:avLst/>
          </a:prstGeom>
          <a:noFill/>
          <a:ln/>
        </p:spPr>
        <p:txBody>
          <a:bodyPr wrap="square" rtlCol="0" anchor="ctr"/>
          <a:lstStyle/>
          <a:p>
            <a:pPr indent="0" marL="0">
              <a:buNone/>
            </a:pPr>
            <a:r>
              <a:rPr lang="en-US" sz="750" i="1" dirty="0">
                <a:solidFill>
                  <a:srgbClr val="7A6040"/>
                </a:solidFill>
              </a:rPr>
              <a:t>💡  Clave: las minutas son retrospectivas (jul 28-29). Datos de inflación y empleo publicados DESPUÉS de esa reunión son más relevantes para la decisión de septiembre.</a:t>
            </a:r>
            <a:endParaRPr lang="en-US" sz="750" dirty="0"/>
          </a:p>
        </p:txBody>
      </p:sp>
      <p:sp>
        <p:nvSpPr>
          <p:cNvPr id="17" name="Shape 15"/>
          <p:cNvSpPr/>
          <p:nvPr/>
        </p:nvSpPr>
        <p:spPr>
          <a:xfrm>
            <a:off x="5989320" y="822960"/>
            <a:ext cx="5943600" cy="3246120"/>
          </a:xfrm>
          <a:prstGeom prst="rect">
            <a:avLst/>
          </a:prstGeom>
          <a:solidFill>
            <a:srgbClr val="FFFEF8"/>
          </a:solidFill>
          <a:ln w="12700">
            <a:solidFill>
              <a:srgbClr val="D8C8A0"/>
            </a:solidFill>
            <a:prstDash val="solid"/>
          </a:ln>
        </p:spPr>
      </p:sp>
      <p:sp>
        <p:nvSpPr>
          <p:cNvPr id="18" name="Shape 16"/>
          <p:cNvSpPr/>
          <p:nvPr/>
        </p:nvSpPr>
        <p:spPr>
          <a:xfrm>
            <a:off x="5989320" y="822960"/>
            <a:ext cx="5943600" cy="274320"/>
          </a:xfrm>
          <a:prstGeom prst="rect">
            <a:avLst/>
          </a:prstGeom>
          <a:solidFill>
            <a:srgbClr val="7048B8"/>
          </a:solidFill>
          <a:ln/>
        </p:spPr>
      </p:sp>
      <p:sp>
        <p:nvSpPr>
          <p:cNvPr id="19" name="Text 17"/>
          <p:cNvSpPr/>
          <p:nvPr/>
        </p:nvSpPr>
        <p:spPr>
          <a:xfrm>
            <a:off x="5989320" y="822960"/>
            <a:ext cx="5943600" cy="274320"/>
          </a:xfrm>
          <a:prstGeom prst="rect">
            <a:avLst/>
          </a:prstGeom>
          <a:noFill/>
          <a:ln/>
        </p:spPr>
        <p:txBody>
          <a:bodyPr wrap="square" rtlCol="0" anchor="ctr"/>
          <a:lstStyle/>
          <a:p>
            <a:pPr algn="ctr" indent="0" marL="0">
              <a:buNone/>
            </a:pPr>
            <a:r>
              <a:rPr lang="en-US" sz="850" b="1" dirty="0">
                <a:solidFill>
                  <a:srgbClr val="FFFFFF"/>
                </a:solidFill>
              </a:rPr>
              <a:t>CME FEDWATCH — PROBABILIDADES REUNIÓN SEP 2026 (post-minutas)</a:t>
            </a:r>
            <a:endParaRPr lang="en-US" sz="850" dirty="0"/>
          </a:p>
        </p:txBody>
      </p:sp>
      <p:sp>
        <p:nvSpPr>
          <p:cNvPr id="20" name="Text 18"/>
          <p:cNvSpPr/>
          <p:nvPr/>
        </p:nvSpPr>
        <p:spPr>
          <a:xfrm>
            <a:off x="6126480" y="1170432"/>
            <a:ext cx="3566160" cy="310896"/>
          </a:xfrm>
          <a:prstGeom prst="rect">
            <a:avLst/>
          </a:prstGeom>
          <a:noFill/>
          <a:ln/>
        </p:spPr>
        <p:txBody>
          <a:bodyPr wrap="square" rtlCol="0" anchor="ctr"/>
          <a:lstStyle/>
          <a:p>
            <a:pPr indent="0" marL="0">
              <a:buNone/>
            </a:pPr>
            <a:r>
              <a:rPr lang="en-US" sz="800" dirty="0">
                <a:solidFill>
                  <a:srgbClr val="7A6040"/>
                </a:solidFill>
              </a:rPr>
              <a:t>Hold (sin cambio) · Escenario base</a:t>
            </a:r>
            <a:endParaRPr lang="en-US" sz="800" dirty="0"/>
          </a:p>
        </p:txBody>
      </p:sp>
      <p:sp>
        <p:nvSpPr>
          <p:cNvPr id="21" name="Text 19"/>
          <p:cNvSpPr/>
          <p:nvPr/>
        </p:nvSpPr>
        <p:spPr>
          <a:xfrm>
            <a:off x="9692640" y="1170432"/>
            <a:ext cx="2011680" cy="310896"/>
          </a:xfrm>
          <a:prstGeom prst="rect">
            <a:avLst/>
          </a:prstGeom>
          <a:noFill/>
          <a:ln/>
        </p:spPr>
        <p:txBody>
          <a:bodyPr wrap="square" rtlCol="0" anchor="ctr"/>
          <a:lstStyle/>
          <a:p>
            <a:pPr algn="r" indent="0" marL="0">
              <a:buNone/>
            </a:pPr>
            <a:r>
              <a:rPr lang="en-US" sz="950" b="1" dirty="0">
                <a:solidFill>
                  <a:srgbClr val="2A9050"/>
                </a:solidFill>
              </a:rPr>
              <a:t>~65–68%</a:t>
            </a:r>
            <a:endParaRPr lang="en-US" sz="950" dirty="0"/>
          </a:p>
        </p:txBody>
      </p:sp>
      <p:sp>
        <p:nvSpPr>
          <p:cNvPr id="22" name="Shape 20"/>
          <p:cNvSpPr/>
          <p:nvPr/>
        </p:nvSpPr>
        <p:spPr>
          <a:xfrm>
            <a:off x="6126480" y="1463040"/>
            <a:ext cx="5577840" cy="18288"/>
          </a:xfrm>
          <a:prstGeom prst="rect">
            <a:avLst/>
          </a:prstGeom>
          <a:solidFill>
            <a:srgbClr val="D8C8A0"/>
          </a:solidFill>
          <a:ln/>
        </p:spPr>
      </p:sp>
      <p:sp>
        <p:nvSpPr>
          <p:cNvPr id="23" name="Text 21"/>
          <p:cNvSpPr/>
          <p:nvPr/>
        </p:nvSpPr>
        <p:spPr>
          <a:xfrm>
            <a:off x="6126480" y="1517904"/>
            <a:ext cx="3566160" cy="310896"/>
          </a:xfrm>
          <a:prstGeom prst="rect">
            <a:avLst/>
          </a:prstGeom>
          <a:noFill/>
          <a:ln/>
        </p:spPr>
        <p:txBody>
          <a:bodyPr wrap="square" rtlCol="0" anchor="ctr"/>
          <a:lstStyle/>
          <a:p>
            <a:pPr indent="0" marL="0">
              <a:buNone/>
            </a:pPr>
            <a:r>
              <a:rPr lang="en-US" sz="800" dirty="0">
                <a:solidFill>
                  <a:srgbClr val="7A6040"/>
                </a:solidFill>
              </a:rPr>
              <a:t>Alza +25 pb en sep</a:t>
            </a:r>
            <a:endParaRPr lang="en-US" sz="800" dirty="0"/>
          </a:p>
        </p:txBody>
      </p:sp>
      <p:sp>
        <p:nvSpPr>
          <p:cNvPr id="24" name="Text 22"/>
          <p:cNvSpPr/>
          <p:nvPr/>
        </p:nvSpPr>
        <p:spPr>
          <a:xfrm>
            <a:off x="9692640" y="1517904"/>
            <a:ext cx="2011680" cy="310896"/>
          </a:xfrm>
          <a:prstGeom prst="rect">
            <a:avLst/>
          </a:prstGeom>
          <a:noFill/>
          <a:ln/>
        </p:spPr>
        <p:txBody>
          <a:bodyPr wrap="square" rtlCol="0" anchor="ctr"/>
          <a:lstStyle/>
          <a:p>
            <a:pPr algn="r" indent="0" marL="0">
              <a:buNone/>
            </a:pPr>
            <a:r>
              <a:rPr lang="en-US" sz="950" b="1" dirty="0">
                <a:solidFill>
                  <a:srgbClr val="B03028"/>
                </a:solidFill>
              </a:rPr>
              <a:t>~32–35%</a:t>
            </a:r>
            <a:endParaRPr lang="en-US" sz="950" dirty="0"/>
          </a:p>
        </p:txBody>
      </p:sp>
      <p:sp>
        <p:nvSpPr>
          <p:cNvPr id="25" name="Shape 23"/>
          <p:cNvSpPr/>
          <p:nvPr/>
        </p:nvSpPr>
        <p:spPr>
          <a:xfrm>
            <a:off x="6126480" y="1810512"/>
            <a:ext cx="5577840" cy="18288"/>
          </a:xfrm>
          <a:prstGeom prst="rect">
            <a:avLst/>
          </a:prstGeom>
          <a:solidFill>
            <a:srgbClr val="D8C8A0"/>
          </a:solidFill>
          <a:ln/>
        </p:spPr>
      </p:sp>
      <p:sp>
        <p:nvSpPr>
          <p:cNvPr id="26" name="Text 24"/>
          <p:cNvSpPr/>
          <p:nvPr/>
        </p:nvSpPr>
        <p:spPr>
          <a:xfrm>
            <a:off x="6126480" y="1865376"/>
            <a:ext cx="3566160" cy="310896"/>
          </a:xfrm>
          <a:prstGeom prst="rect">
            <a:avLst/>
          </a:prstGeom>
          <a:noFill/>
          <a:ln/>
        </p:spPr>
        <p:txBody>
          <a:bodyPr wrap="square" rtlCol="0" anchor="ctr"/>
          <a:lstStyle/>
          <a:p>
            <a:pPr indent="0" marL="0">
              <a:buNone/>
            </a:pPr>
            <a:r>
              <a:rPr lang="en-US" sz="800" dirty="0">
                <a:solidFill>
                  <a:srgbClr val="7A6040"/>
                </a:solidFill>
              </a:rPr>
              <a:t>Recorte −25 pb en sep</a:t>
            </a:r>
            <a:endParaRPr lang="en-US" sz="800" dirty="0"/>
          </a:p>
        </p:txBody>
      </p:sp>
      <p:sp>
        <p:nvSpPr>
          <p:cNvPr id="27" name="Text 25"/>
          <p:cNvSpPr/>
          <p:nvPr/>
        </p:nvSpPr>
        <p:spPr>
          <a:xfrm>
            <a:off x="9692640" y="1865376"/>
            <a:ext cx="2011680" cy="310896"/>
          </a:xfrm>
          <a:prstGeom prst="rect">
            <a:avLst/>
          </a:prstGeom>
          <a:noFill/>
          <a:ln/>
        </p:spPr>
        <p:txBody>
          <a:bodyPr wrap="square" rtlCol="0" anchor="ctr"/>
          <a:lstStyle/>
          <a:p>
            <a:pPr algn="r" indent="0" marL="0">
              <a:buNone/>
            </a:pPr>
            <a:r>
              <a:rPr lang="en-US" sz="950" b="1" dirty="0">
                <a:solidFill>
                  <a:srgbClr val="7A6040"/>
                </a:solidFill>
              </a:rPr>
              <a:t>~4%</a:t>
            </a:r>
            <a:endParaRPr lang="en-US" sz="950" dirty="0"/>
          </a:p>
        </p:txBody>
      </p:sp>
      <p:sp>
        <p:nvSpPr>
          <p:cNvPr id="28" name="Shape 26"/>
          <p:cNvSpPr/>
          <p:nvPr/>
        </p:nvSpPr>
        <p:spPr>
          <a:xfrm>
            <a:off x="6126480" y="2157984"/>
            <a:ext cx="5577840" cy="18288"/>
          </a:xfrm>
          <a:prstGeom prst="rect">
            <a:avLst/>
          </a:prstGeom>
          <a:solidFill>
            <a:srgbClr val="D8C8A0"/>
          </a:solidFill>
          <a:ln/>
        </p:spPr>
      </p:sp>
      <p:sp>
        <p:nvSpPr>
          <p:cNvPr id="29" name="Text 27"/>
          <p:cNvSpPr/>
          <p:nvPr/>
        </p:nvSpPr>
        <p:spPr>
          <a:xfrm>
            <a:off x="6126480" y="2212848"/>
            <a:ext cx="3566160" cy="310896"/>
          </a:xfrm>
          <a:prstGeom prst="rect">
            <a:avLst/>
          </a:prstGeom>
          <a:noFill/>
          <a:ln/>
        </p:spPr>
        <p:txBody>
          <a:bodyPr wrap="square" rtlCol="0" anchor="ctr"/>
          <a:lstStyle/>
          <a:p>
            <a:pPr indent="0" marL="0">
              <a:buNone/>
            </a:pPr>
            <a:r>
              <a:rPr lang="en-US" sz="800" dirty="0">
                <a:solidFill>
                  <a:srgbClr val="7A6040"/>
                </a:solidFill>
              </a:rPr>
              <a:t>Decisión real proyectada</a:t>
            </a:r>
            <a:endParaRPr lang="en-US" sz="800" dirty="0"/>
          </a:p>
        </p:txBody>
      </p:sp>
      <p:sp>
        <p:nvSpPr>
          <p:cNvPr id="30" name="Text 28"/>
          <p:cNvSpPr/>
          <p:nvPr/>
        </p:nvSpPr>
        <p:spPr>
          <a:xfrm>
            <a:off x="9692640" y="2212848"/>
            <a:ext cx="2011680" cy="310896"/>
          </a:xfrm>
          <a:prstGeom prst="rect">
            <a:avLst/>
          </a:prstGeom>
          <a:noFill/>
          <a:ln/>
        </p:spPr>
        <p:txBody>
          <a:bodyPr wrap="square" rtlCol="0" anchor="ctr"/>
          <a:lstStyle/>
          <a:p>
            <a:pPr algn="r" indent="0" marL="0">
              <a:buNone/>
            </a:pPr>
            <a:r>
              <a:rPr lang="en-US" sz="950" b="1" dirty="0">
                <a:solidFill>
                  <a:srgbClr val="7048B8"/>
                </a:solidFill>
              </a:rPr>
              <a:t>Diciembre</a:t>
            </a:r>
            <a:endParaRPr lang="en-US" sz="950" dirty="0"/>
          </a:p>
        </p:txBody>
      </p:sp>
      <p:sp>
        <p:nvSpPr>
          <p:cNvPr id="31" name="Shape 29"/>
          <p:cNvSpPr/>
          <p:nvPr/>
        </p:nvSpPr>
        <p:spPr>
          <a:xfrm>
            <a:off x="6126480" y="2578608"/>
            <a:ext cx="5577840" cy="18288"/>
          </a:xfrm>
          <a:prstGeom prst="rect">
            <a:avLst/>
          </a:prstGeom>
          <a:solidFill>
            <a:srgbClr val="D8C8A0"/>
          </a:solidFill>
          <a:ln/>
        </p:spPr>
      </p:sp>
      <p:sp>
        <p:nvSpPr>
          <p:cNvPr id="32" name="Text 30"/>
          <p:cNvSpPr/>
          <p:nvPr/>
        </p:nvSpPr>
        <p:spPr>
          <a:xfrm>
            <a:off x="6126480" y="2615184"/>
            <a:ext cx="5577840" cy="201168"/>
          </a:xfrm>
          <a:prstGeom prst="rect">
            <a:avLst/>
          </a:prstGeom>
          <a:noFill/>
          <a:ln/>
        </p:spPr>
        <p:txBody>
          <a:bodyPr wrap="square" rtlCol="0" anchor="ctr"/>
          <a:lstStyle/>
          <a:p>
            <a:pPr indent="0" marL="0">
              <a:buNone/>
            </a:pPr>
            <a:r>
              <a:rPr lang="en-US" sz="750" b="1" dirty="0">
                <a:solidFill>
                  <a:srgbClr val="7A6040"/>
                </a:solidFill>
              </a:rPr>
              <a:t>YIELDS TESORO EE.UU. — NIVELES HISTÓRICOS</a:t>
            </a:r>
            <a:endParaRPr lang="en-US" sz="750" dirty="0"/>
          </a:p>
        </p:txBody>
      </p:sp>
      <p:sp>
        <p:nvSpPr>
          <p:cNvPr id="33" name="Text 31"/>
          <p:cNvSpPr/>
          <p:nvPr/>
        </p:nvSpPr>
        <p:spPr>
          <a:xfrm>
            <a:off x="6126480" y="2852928"/>
            <a:ext cx="2377440" cy="182880"/>
          </a:xfrm>
          <a:prstGeom prst="rect">
            <a:avLst/>
          </a:prstGeom>
          <a:noFill/>
          <a:ln/>
        </p:spPr>
        <p:txBody>
          <a:bodyPr wrap="square" rtlCol="0" anchor="ctr"/>
          <a:lstStyle/>
          <a:p>
            <a:pPr indent="0" marL="0">
              <a:buNone/>
            </a:pPr>
            <a:r>
              <a:rPr lang="en-US" sz="750" b="1" dirty="0">
                <a:solidFill>
                  <a:srgbClr val="7A6040"/>
                </a:solidFill>
              </a:rPr>
              <a:t>T-30 (bono 30 años)</a:t>
            </a:r>
            <a:endParaRPr lang="en-US" sz="750" dirty="0"/>
          </a:p>
        </p:txBody>
      </p:sp>
      <p:sp>
        <p:nvSpPr>
          <p:cNvPr id="34" name="Text 32"/>
          <p:cNvSpPr/>
          <p:nvPr/>
        </p:nvSpPr>
        <p:spPr>
          <a:xfrm>
            <a:off x="8503920" y="2852928"/>
            <a:ext cx="1371600" cy="182880"/>
          </a:xfrm>
          <a:prstGeom prst="rect">
            <a:avLst/>
          </a:prstGeom>
          <a:noFill/>
          <a:ln/>
        </p:spPr>
        <p:txBody>
          <a:bodyPr wrap="square" rtlCol="0" anchor="ctr"/>
          <a:lstStyle/>
          <a:p>
            <a:pPr algn="r" indent="0" marL="0">
              <a:buNone/>
            </a:pPr>
            <a:r>
              <a:rPr lang="en-US" sz="1000" b="1" dirty="0">
                <a:solidFill>
                  <a:srgbClr val="981828"/>
                </a:solidFill>
              </a:rPr>
              <a:t>5.195%</a:t>
            </a:r>
            <a:endParaRPr lang="en-US" sz="1000" dirty="0"/>
          </a:p>
        </p:txBody>
      </p:sp>
      <p:sp>
        <p:nvSpPr>
          <p:cNvPr id="35" name="Text 33"/>
          <p:cNvSpPr/>
          <p:nvPr/>
        </p:nvSpPr>
        <p:spPr>
          <a:xfrm>
            <a:off x="6126480" y="3035808"/>
            <a:ext cx="5577840" cy="182880"/>
          </a:xfrm>
          <a:prstGeom prst="rect">
            <a:avLst/>
          </a:prstGeom>
          <a:noFill/>
          <a:ln/>
        </p:spPr>
        <p:txBody>
          <a:bodyPr wrap="square" rtlCol="0" anchor="ctr"/>
          <a:lstStyle/>
          <a:p>
            <a:pPr indent="0" marL="0">
              <a:buNone/>
            </a:pPr>
            <a:r>
              <a:rPr lang="en-US" sz="720" dirty="0">
                <a:solidFill>
                  <a:srgbClr val="7A6040"/>
                </a:solidFill>
              </a:rPr>
              <a:t>Máx. martes: 5.33% — mayor desde jun 2007</a:t>
            </a:r>
            <a:endParaRPr lang="en-US" sz="720" dirty="0"/>
          </a:p>
        </p:txBody>
      </p:sp>
      <p:sp>
        <p:nvSpPr>
          <p:cNvPr id="36" name="Text 34"/>
          <p:cNvSpPr/>
          <p:nvPr/>
        </p:nvSpPr>
        <p:spPr>
          <a:xfrm>
            <a:off x="6126480" y="3355848"/>
            <a:ext cx="2377440" cy="182880"/>
          </a:xfrm>
          <a:prstGeom prst="rect">
            <a:avLst/>
          </a:prstGeom>
          <a:noFill/>
          <a:ln/>
        </p:spPr>
        <p:txBody>
          <a:bodyPr wrap="square" rtlCol="0" anchor="ctr"/>
          <a:lstStyle/>
          <a:p>
            <a:pPr indent="0" marL="0">
              <a:buNone/>
            </a:pPr>
            <a:r>
              <a:rPr lang="en-US" sz="750" b="1" dirty="0">
                <a:solidFill>
                  <a:srgbClr val="7A6040"/>
                </a:solidFill>
              </a:rPr>
              <a:t>T-10 (bono 10 años)</a:t>
            </a:r>
            <a:endParaRPr lang="en-US" sz="750" dirty="0"/>
          </a:p>
        </p:txBody>
      </p:sp>
      <p:sp>
        <p:nvSpPr>
          <p:cNvPr id="37" name="Text 35"/>
          <p:cNvSpPr/>
          <p:nvPr/>
        </p:nvSpPr>
        <p:spPr>
          <a:xfrm>
            <a:off x="8503920" y="3355848"/>
            <a:ext cx="1371600" cy="182880"/>
          </a:xfrm>
          <a:prstGeom prst="rect">
            <a:avLst/>
          </a:prstGeom>
          <a:noFill/>
          <a:ln/>
        </p:spPr>
        <p:txBody>
          <a:bodyPr wrap="square" rtlCol="0" anchor="ctr"/>
          <a:lstStyle/>
          <a:p>
            <a:pPr algn="r" indent="0" marL="0">
              <a:buNone/>
            </a:pPr>
            <a:r>
              <a:rPr lang="en-US" sz="1000" b="1" dirty="0">
                <a:solidFill>
                  <a:srgbClr val="B87820"/>
                </a:solidFill>
              </a:rPr>
              <a:t>Elevado</a:t>
            </a:r>
            <a:endParaRPr lang="en-US" sz="1000" dirty="0"/>
          </a:p>
        </p:txBody>
      </p:sp>
      <p:sp>
        <p:nvSpPr>
          <p:cNvPr id="38" name="Text 36"/>
          <p:cNvSpPr/>
          <p:nvPr/>
        </p:nvSpPr>
        <p:spPr>
          <a:xfrm>
            <a:off x="6126480" y="3538728"/>
            <a:ext cx="5577840" cy="182880"/>
          </a:xfrm>
          <a:prstGeom prst="rect">
            <a:avLst/>
          </a:prstGeom>
          <a:noFill/>
          <a:ln/>
        </p:spPr>
        <p:txBody>
          <a:bodyPr wrap="square" rtlCol="0" anchor="ctr"/>
          <a:lstStyle/>
          <a:p>
            <a:pPr indent="0" marL="0">
              <a:buNone/>
            </a:pPr>
            <a:r>
              <a:rPr lang="en-US" sz="720" dirty="0">
                <a:solidFill>
                  <a:srgbClr val="7A6040"/>
                </a:solidFill>
              </a:rPr>
              <a:t>Presiona valuaciones de growth stocks</a:t>
            </a:r>
            <a:endParaRPr lang="en-US" sz="720" dirty="0"/>
          </a:p>
        </p:txBody>
      </p:sp>
      <p:sp>
        <p:nvSpPr>
          <p:cNvPr id="39" name="Shape 37"/>
          <p:cNvSpPr/>
          <p:nvPr/>
        </p:nvSpPr>
        <p:spPr>
          <a:xfrm>
            <a:off x="228600" y="4160520"/>
            <a:ext cx="11704320" cy="1463040"/>
          </a:xfrm>
          <a:prstGeom prst="rect">
            <a:avLst/>
          </a:prstGeom>
          <a:solidFill>
            <a:srgbClr val="E0F4E8"/>
          </a:solidFill>
          <a:ln w="12700">
            <a:solidFill>
              <a:srgbClr val="D8C8A0"/>
            </a:solidFill>
            <a:prstDash val="solid"/>
          </a:ln>
        </p:spPr>
      </p:sp>
      <p:sp>
        <p:nvSpPr>
          <p:cNvPr id="40" name="Shape 38"/>
          <p:cNvSpPr/>
          <p:nvPr/>
        </p:nvSpPr>
        <p:spPr>
          <a:xfrm>
            <a:off x="228600" y="4160520"/>
            <a:ext cx="11704320" cy="256032"/>
          </a:xfrm>
          <a:prstGeom prst="rect">
            <a:avLst/>
          </a:prstGeom>
          <a:solidFill>
            <a:srgbClr val="2A9050"/>
          </a:solidFill>
          <a:ln/>
        </p:spPr>
      </p:sp>
      <p:sp>
        <p:nvSpPr>
          <p:cNvPr id="41" name="Text 39"/>
          <p:cNvSpPr/>
          <p:nvPr/>
        </p:nvSpPr>
        <p:spPr>
          <a:xfrm>
            <a:off x="228600" y="4160520"/>
            <a:ext cx="11704320" cy="256032"/>
          </a:xfrm>
          <a:prstGeom prst="rect">
            <a:avLst/>
          </a:prstGeom>
          <a:noFill/>
          <a:ln/>
        </p:spPr>
        <p:txBody>
          <a:bodyPr wrap="square" rtlCol="0" anchor="ctr"/>
          <a:lstStyle/>
          <a:p>
            <a:pPr algn="ctr" indent="0" marL="0">
              <a:buNone/>
            </a:pPr>
            <a:r>
              <a:rPr lang="en-US" sz="850" b="1" dirty="0">
                <a:solidFill>
                  <a:srgbClr val="FFFFFF"/>
                </a:solidFill>
              </a:rPr>
              <a:t>🇲🇽  PESO MEXICANO — SORPRESA POSITIVA TRAS MINUTAS HAWKISH</a:t>
            </a:r>
            <a:endParaRPr lang="en-US" sz="850" dirty="0"/>
          </a:p>
        </p:txBody>
      </p:sp>
      <p:sp>
        <p:nvSpPr>
          <p:cNvPr id="42" name="Text 40"/>
          <p:cNvSpPr/>
          <p:nvPr/>
        </p:nvSpPr>
        <p:spPr>
          <a:xfrm>
            <a:off x="347472" y="4462272"/>
            <a:ext cx="11430000" cy="246888"/>
          </a:xfrm>
          <a:prstGeom prst="rect">
            <a:avLst/>
          </a:prstGeom>
          <a:noFill/>
          <a:ln/>
        </p:spPr>
        <p:txBody>
          <a:bodyPr wrap="square" rtlCol="0" anchor="ctr"/>
          <a:lstStyle/>
          <a:p>
            <a:pPr indent="0" marL="0">
              <a:buNone/>
            </a:pPr>
            <a:r>
              <a:rPr lang="en-US" sz="780" dirty="0">
                <a:solidFill>
                  <a:srgbClr val="1C1810"/>
                </a:solidFill>
              </a:rPr>
              <a:t>💵  USD/MXN cierra en $17.03 (−0.23%): el peso SE APRECIA a pesar de minutas hawkish — señal de fortaleza estructural</a:t>
            </a:r>
            <a:endParaRPr lang="en-US" sz="780" dirty="0"/>
          </a:p>
        </p:txBody>
      </p:sp>
      <p:sp>
        <p:nvSpPr>
          <p:cNvPr id="43" name="Text 41"/>
          <p:cNvSpPr/>
          <p:nvPr/>
        </p:nvSpPr>
        <p:spPr>
          <a:xfrm>
            <a:off x="347472" y="4745736"/>
            <a:ext cx="11430000" cy="246888"/>
          </a:xfrm>
          <a:prstGeom prst="rect">
            <a:avLst/>
          </a:prstGeom>
          <a:noFill/>
          <a:ln/>
        </p:spPr>
        <p:txBody>
          <a:bodyPr wrap="square" rtlCol="0" anchor="ctr"/>
          <a:lstStyle/>
          <a:p>
            <a:pPr indent="0" marL="0">
              <a:buNone/>
            </a:pPr>
            <a:r>
              <a:rPr lang="en-US" sz="780" dirty="0">
                <a:solidFill>
                  <a:srgbClr val="1C1810"/>
                </a:solidFill>
              </a:rPr>
              <a:t>📊  Posiciones largas en MXN: récord de 83,700 contratos netos en CME — inversores institucionales apuestan por el peso</a:t>
            </a:r>
            <a:endParaRPr lang="en-US" sz="780" dirty="0"/>
          </a:p>
        </p:txBody>
      </p:sp>
      <p:sp>
        <p:nvSpPr>
          <p:cNvPr id="44" name="Text 42"/>
          <p:cNvSpPr/>
          <p:nvPr/>
        </p:nvSpPr>
        <p:spPr>
          <a:xfrm>
            <a:off x="347472" y="5029200"/>
            <a:ext cx="11430000" cy="246888"/>
          </a:xfrm>
          <a:prstGeom prst="rect">
            <a:avLst/>
          </a:prstGeom>
          <a:noFill/>
          <a:ln/>
        </p:spPr>
        <p:txBody>
          <a:bodyPr wrap="square" rtlCol="0" anchor="ctr"/>
          <a:lstStyle/>
          <a:p>
            <a:pPr indent="0" marL="0">
              <a:buNone/>
            </a:pPr>
            <a:r>
              <a:rPr lang="en-US" sz="780" dirty="0">
                <a:solidFill>
                  <a:srgbClr val="1C1810"/>
                </a:solidFill>
              </a:rPr>
              <a:t>🏦  Diferencial tasas Banxico (6.50%) vs Fed (3.50–3.75%): ~275–300 pb de carry trade sostienen el MXN frente al hawkismo Fed</a:t>
            </a:r>
            <a:endParaRPr lang="en-US" sz="780" dirty="0"/>
          </a:p>
        </p:txBody>
      </p:sp>
      <p:sp>
        <p:nvSpPr>
          <p:cNvPr id="45" name="Text 43"/>
          <p:cNvSpPr/>
          <p:nvPr/>
        </p:nvSpPr>
        <p:spPr>
          <a:xfrm>
            <a:off x="347472" y="5312664"/>
            <a:ext cx="11430000" cy="246888"/>
          </a:xfrm>
          <a:prstGeom prst="rect">
            <a:avLst/>
          </a:prstGeom>
          <a:noFill/>
          <a:ln/>
        </p:spPr>
        <p:txBody>
          <a:bodyPr wrap="square" rtlCol="0" anchor="ctr"/>
          <a:lstStyle/>
          <a:p>
            <a:pPr indent="0" marL="0">
              <a:buNone/>
            </a:pPr>
            <a:r>
              <a:rPr lang="en-US" sz="780" dirty="0">
                <a:solidFill>
                  <a:srgbClr val="1C1810"/>
                </a:solidFill>
              </a:rPr>
              <a:t>⚠️   Riesgo clave: si la Fed efectivamente sube en sep/dic → reversión rápida del carry trade; USD/MXN podría ir a $17.50–$17.90 (estimado Citi)</a:t>
            </a:r>
            <a:endParaRPr lang="en-US" sz="780" dirty="0"/>
          </a:p>
        </p:txBody>
      </p:sp>
      <p:sp>
        <p:nvSpPr>
          <p:cNvPr id="46" name="Shape 44"/>
          <p:cNvSpPr/>
          <p:nvPr/>
        </p:nvSpPr>
        <p:spPr>
          <a:xfrm>
            <a:off x="0" y="6510528"/>
            <a:ext cx="12161520" cy="347472"/>
          </a:xfrm>
          <a:prstGeom prst="rect">
            <a:avLst/>
          </a:prstGeom>
          <a:solidFill>
            <a:srgbClr val="1C1810"/>
          </a:solidFill>
          <a:ln/>
        </p:spPr>
      </p:sp>
      <p:sp>
        <p:nvSpPr>
          <p:cNvPr id="47" name="Text 45"/>
          <p:cNvSpPr/>
          <p:nvPr/>
        </p:nvSpPr>
        <p:spPr>
          <a:xfrm>
            <a:off x="164592" y="6510528"/>
            <a:ext cx="11795760" cy="347472"/>
          </a:xfrm>
          <a:prstGeom prst="rect">
            <a:avLst/>
          </a:prstGeom>
          <a:noFill/>
          <a:ln/>
        </p:spPr>
        <p:txBody>
          <a:bodyPr wrap="square" rtlCol="0" anchor="ctr"/>
          <a:lstStyle/>
          <a:p>
            <a:pPr indent="0" marL="0">
              <a:buNone/>
            </a:pPr>
            <a:r>
              <a:rPr lang="en-US" sz="680" dirty="0">
                <a:solidFill>
                  <a:srgbClr val="B09868"/>
                </a:solidFill>
              </a:rPr>
              <a:t>Fuentes: Seeking Alpha · CNBC · Yahoo Finance/Quartz · Fed.gov · CME FedWatch · FXStreet · Newsquawk · TechTimes  |  Análisis informativo — No constituye asesoría financiera.  2 / 5</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AF8F2"/>
          </a:solidFill>
          <a:ln/>
        </p:spPr>
      </p:sp>
      <p:sp>
        <p:nvSpPr>
          <p:cNvPr id="3" name="Shape 1"/>
          <p:cNvSpPr/>
          <p:nvPr/>
        </p:nvSpPr>
        <p:spPr>
          <a:xfrm>
            <a:off x="0" y="0"/>
            <a:ext cx="12161520" cy="347472"/>
          </a:xfrm>
          <a:prstGeom prst="rect">
            <a:avLst/>
          </a:prstGeom>
          <a:solidFill>
            <a:srgbClr val="1C1810"/>
          </a:solidFill>
          <a:ln/>
        </p:spPr>
      </p:sp>
      <p:sp>
        <p:nvSpPr>
          <p:cNvPr id="4" name="Text 2"/>
          <p:cNvSpPr/>
          <p:nvPr/>
        </p:nvSpPr>
        <p:spPr>
          <a:xfrm>
            <a:off x="164592" y="0"/>
            <a:ext cx="8229600" cy="347472"/>
          </a:xfrm>
          <a:prstGeom prst="rect">
            <a:avLst/>
          </a:prstGeom>
          <a:noFill/>
          <a:ln/>
        </p:spPr>
        <p:txBody>
          <a:bodyPr wrap="square" rtlCol="0" anchor="ctr"/>
          <a:lstStyle/>
          <a:p>
            <a:pPr indent="0" marL="0">
              <a:buNone/>
            </a:pPr>
            <a:r>
              <a:rPr lang="en-US" sz="850" dirty="0">
                <a:solidFill>
                  <a:srgbClr val="B09868"/>
                </a:solidFill>
              </a:rPr>
              <a:t>Mercados Globales — Cierre 19 agosto 2026</a:t>
            </a:r>
            <a:endParaRPr lang="en-US" sz="850" dirty="0"/>
          </a:p>
        </p:txBody>
      </p:sp>
      <p:sp>
        <p:nvSpPr>
          <p:cNvPr id="5" name="Text 3"/>
          <p:cNvSpPr/>
          <p:nvPr/>
        </p:nvSpPr>
        <p:spPr>
          <a:xfrm>
            <a:off x="8503920" y="0"/>
            <a:ext cx="3474720" cy="347472"/>
          </a:xfrm>
          <a:prstGeom prst="rect">
            <a:avLst/>
          </a:prstGeom>
          <a:noFill/>
          <a:ln/>
        </p:spPr>
        <p:txBody>
          <a:bodyPr wrap="square" rtlCol="0" anchor="ctr"/>
          <a:lstStyle/>
          <a:p>
            <a:pPr algn="r" indent="0" marL="0">
              <a:buNone/>
            </a:pPr>
            <a:r>
              <a:rPr lang="en-US" sz="850" dirty="0">
                <a:solidFill>
                  <a:srgbClr val="B09868"/>
                </a:solidFill>
              </a:rPr>
              <a:t>Miércoles 19 agosto 2026</a:t>
            </a:r>
            <a:endParaRPr lang="en-US" sz="850" dirty="0"/>
          </a:p>
        </p:txBody>
      </p:sp>
      <p:sp>
        <p:nvSpPr>
          <p:cNvPr id="6" name="Text 4"/>
          <p:cNvSpPr/>
          <p:nvPr/>
        </p:nvSpPr>
        <p:spPr>
          <a:xfrm>
            <a:off x="228600" y="411480"/>
            <a:ext cx="11704320" cy="347472"/>
          </a:xfrm>
          <a:prstGeom prst="rect">
            <a:avLst/>
          </a:prstGeom>
          <a:noFill/>
          <a:ln/>
        </p:spPr>
        <p:txBody>
          <a:bodyPr wrap="square" rtlCol="0" anchor="ctr"/>
          <a:lstStyle/>
          <a:p>
            <a:pPr indent="0" marL="0">
              <a:buNone/>
            </a:pPr>
            <a:r>
              <a:rPr lang="en-US" sz="1400" b="1" dirty="0">
                <a:solidFill>
                  <a:srgbClr val="1C1810"/>
                </a:solidFill>
              </a:rPr>
              <a:t>Mercados Globales — Cierre 19 agosto 2026</a:t>
            </a:r>
            <a:endParaRPr lang="en-US" sz="1400" dirty="0"/>
          </a:p>
        </p:txBody>
      </p:sp>
      <p:sp>
        <p:nvSpPr>
          <p:cNvPr id="7" name="Shape 5"/>
          <p:cNvSpPr/>
          <p:nvPr/>
        </p:nvSpPr>
        <p:spPr>
          <a:xfrm>
            <a:off x="228600" y="822960"/>
            <a:ext cx="5303520" cy="2286000"/>
          </a:xfrm>
          <a:prstGeom prst="rect">
            <a:avLst/>
          </a:prstGeom>
          <a:solidFill>
            <a:srgbClr val="FFFEF8"/>
          </a:solidFill>
          <a:ln w="12700">
            <a:solidFill>
              <a:srgbClr val="D8C8A0"/>
            </a:solidFill>
            <a:prstDash val="solid"/>
          </a:ln>
        </p:spPr>
      </p:sp>
      <p:sp>
        <p:nvSpPr>
          <p:cNvPr id="8" name="Shape 6"/>
          <p:cNvSpPr/>
          <p:nvPr/>
        </p:nvSpPr>
        <p:spPr>
          <a:xfrm>
            <a:off x="228600" y="822960"/>
            <a:ext cx="5303520" cy="274320"/>
          </a:xfrm>
          <a:prstGeom prst="rect">
            <a:avLst/>
          </a:prstGeom>
          <a:solidFill>
            <a:srgbClr val="1C1810"/>
          </a:solidFill>
          <a:ln/>
        </p:spPr>
      </p:sp>
      <p:sp>
        <p:nvSpPr>
          <p:cNvPr id="9" name="Text 7"/>
          <p:cNvSpPr/>
          <p:nvPr/>
        </p:nvSpPr>
        <p:spPr>
          <a:xfrm>
            <a:off x="228600" y="822960"/>
            <a:ext cx="5303520" cy="274320"/>
          </a:xfrm>
          <a:prstGeom prst="rect">
            <a:avLst/>
          </a:prstGeom>
          <a:noFill/>
          <a:ln/>
        </p:spPr>
        <p:txBody>
          <a:bodyPr wrap="square" rtlCol="0" anchor="ctr"/>
          <a:lstStyle/>
          <a:p>
            <a:pPr algn="ctr" indent="0" marL="0">
              <a:buNone/>
            </a:pPr>
            <a:r>
              <a:rPr lang="en-US" sz="850" b="1" dirty="0">
                <a:solidFill>
                  <a:srgbClr val="FFFFFF"/>
                </a:solidFill>
              </a:rPr>
              <a:t>IPC BMV — BOLSA MEXICANA DE VALORES</a:t>
            </a:r>
            <a:endParaRPr lang="en-US" sz="850" dirty="0"/>
          </a:p>
        </p:txBody>
      </p:sp>
      <p:sp>
        <p:nvSpPr>
          <p:cNvPr id="10" name="Text 8"/>
          <p:cNvSpPr/>
          <p:nvPr/>
        </p:nvSpPr>
        <p:spPr>
          <a:xfrm>
            <a:off x="347472" y="1170432"/>
            <a:ext cx="3200400" cy="594360"/>
          </a:xfrm>
          <a:prstGeom prst="rect">
            <a:avLst/>
          </a:prstGeom>
          <a:noFill/>
          <a:ln/>
        </p:spPr>
        <p:txBody>
          <a:bodyPr wrap="square" rtlCol="0" anchor="ctr"/>
          <a:lstStyle/>
          <a:p>
            <a:pPr indent="0" marL="0">
              <a:buNone/>
            </a:pPr>
            <a:r>
              <a:rPr lang="en-US" sz="4000" b="1" dirty="0">
                <a:solidFill>
                  <a:srgbClr val="1C1810"/>
                </a:solidFill>
              </a:rPr>
              <a:t>64,301</a:t>
            </a:r>
            <a:endParaRPr lang="en-US" sz="4000" dirty="0"/>
          </a:p>
        </p:txBody>
      </p:sp>
      <p:sp>
        <p:nvSpPr>
          <p:cNvPr id="11" name="Text 9"/>
          <p:cNvSpPr/>
          <p:nvPr/>
        </p:nvSpPr>
        <p:spPr>
          <a:xfrm>
            <a:off x="3383280" y="1463040"/>
            <a:ext cx="640080" cy="320040"/>
          </a:xfrm>
          <a:prstGeom prst="rect">
            <a:avLst/>
          </a:prstGeom>
          <a:noFill/>
          <a:ln/>
        </p:spPr>
        <p:txBody>
          <a:bodyPr wrap="square" rtlCol="0" anchor="ctr"/>
          <a:lstStyle/>
          <a:p>
            <a:pPr indent="0" marL="0">
              <a:buNone/>
            </a:pPr>
            <a:r>
              <a:rPr lang="en-US" sz="1200" dirty="0">
                <a:solidFill>
                  <a:srgbClr val="7A6040"/>
                </a:solidFill>
              </a:rPr>
              <a:t>pts</a:t>
            </a:r>
            <a:endParaRPr lang="en-US" sz="1200" dirty="0"/>
          </a:p>
        </p:txBody>
      </p:sp>
      <p:sp>
        <p:nvSpPr>
          <p:cNvPr id="12" name="Shape 10"/>
          <p:cNvSpPr/>
          <p:nvPr/>
        </p:nvSpPr>
        <p:spPr>
          <a:xfrm>
            <a:off x="347472" y="1801368"/>
            <a:ext cx="1463040" cy="201168"/>
          </a:xfrm>
          <a:prstGeom prst="rect">
            <a:avLst/>
          </a:prstGeom>
          <a:solidFill>
            <a:srgbClr val="E0F4E8"/>
          </a:solidFill>
          <a:ln/>
        </p:spPr>
      </p:sp>
      <p:sp>
        <p:nvSpPr>
          <p:cNvPr id="13" name="Text 11"/>
          <p:cNvSpPr/>
          <p:nvPr/>
        </p:nvSpPr>
        <p:spPr>
          <a:xfrm>
            <a:off x="347472" y="1801368"/>
            <a:ext cx="1463040" cy="201168"/>
          </a:xfrm>
          <a:prstGeom prst="rect">
            <a:avLst/>
          </a:prstGeom>
          <a:noFill/>
          <a:ln/>
        </p:spPr>
        <p:txBody>
          <a:bodyPr wrap="square" rtlCol="0" anchor="ctr"/>
          <a:lstStyle/>
          <a:p>
            <a:pPr algn="ctr" indent="0" marL="0">
              <a:buNone/>
            </a:pPr>
            <a:r>
              <a:rPr lang="en-US" sz="800" b="1" dirty="0">
                <a:solidFill>
                  <a:srgbClr val="2A9050"/>
                </a:solidFill>
              </a:rPr>
              <a:t>▲ +0.07%</a:t>
            </a:r>
            <a:endParaRPr lang="en-US" sz="800" dirty="0"/>
          </a:p>
        </p:txBody>
      </p:sp>
      <p:sp>
        <p:nvSpPr>
          <p:cNvPr id="14" name="Text 12"/>
          <p:cNvSpPr/>
          <p:nvPr/>
        </p:nvSpPr>
        <p:spPr>
          <a:xfrm>
            <a:off x="1920240" y="1801368"/>
            <a:ext cx="3200400" cy="201168"/>
          </a:xfrm>
          <a:prstGeom prst="rect">
            <a:avLst/>
          </a:prstGeom>
          <a:noFill/>
          <a:ln/>
        </p:spPr>
        <p:txBody>
          <a:bodyPr wrap="square" rtlCol="0" anchor="ctr"/>
          <a:lstStyle/>
          <a:p>
            <a:pPr indent="0" marL="0">
              <a:buNone/>
            </a:pPr>
            <a:r>
              <a:rPr lang="en-US" sz="750" dirty="0">
                <a:solidFill>
                  <a:srgbClr val="7A6040"/>
                </a:solidFill>
              </a:rPr>
              <a:t>Resistente · Positivo post-minutas</a:t>
            </a:r>
            <a:endParaRPr lang="en-US" sz="750" dirty="0"/>
          </a:p>
        </p:txBody>
      </p:sp>
      <p:sp>
        <p:nvSpPr>
          <p:cNvPr id="15" name="Shape 13"/>
          <p:cNvSpPr/>
          <p:nvPr/>
        </p:nvSpPr>
        <p:spPr>
          <a:xfrm>
            <a:off x="347472" y="2057400"/>
            <a:ext cx="4974336" cy="18288"/>
          </a:xfrm>
          <a:prstGeom prst="rect">
            <a:avLst/>
          </a:prstGeom>
          <a:solidFill>
            <a:srgbClr val="D8C8A0"/>
          </a:solidFill>
          <a:ln/>
        </p:spPr>
      </p:sp>
      <p:sp>
        <p:nvSpPr>
          <p:cNvPr id="16" name="Text 14"/>
          <p:cNvSpPr/>
          <p:nvPr/>
        </p:nvSpPr>
        <p:spPr>
          <a:xfrm>
            <a:off x="347472" y="2103120"/>
            <a:ext cx="4974336" cy="201168"/>
          </a:xfrm>
          <a:prstGeom prst="rect">
            <a:avLst/>
          </a:prstGeom>
          <a:noFill/>
          <a:ln/>
        </p:spPr>
        <p:txBody>
          <a:bodyPr wrap="square" rtlCol="0" anchor="ctr"/>
          <a:lstStyle/>
          <a:p>
            <a:pPr indent="0" marL="0">
              <a:buNone/>
            </a:pPr>
            <a:r>
              <a:rPr lang="en-US" sz="750" b="1" dirty="0">
                <a:solidFill>
                  <a:srgbClr val="7A6040"/>
                </a:solidFill>
              </a:rPr>
              <a:t>CONTEXTO SEMANAL BMV</a:t>
            </a:r>
            <a:endParaRPr lang="en-US" sz="750" dirty="0"/>
          </a:p>
        </p:txBody>
      </p:sp>
      <p:sp>
        <p:nvSpPr>
          <p:cNvPr id="17" name="Text 15"/>
          <p:cNvSpPr/>
          <p:nvPr/>
        </p:nvSpPr>
        <p:spPr>
          <a:xfrm>
            <a:off x="347472" y="2322576"/>
            <a:ext cx="1170432" cy="164592"/>
          </a:xfrm>
          <a:prstGeom prst="rect">
            <a:avLst/>
          </a:prstGeom>
          <a:noFill/>
          <a:ln/>
        </p:spPr>
        <p:txBody>
          <a:bodyPr wrap="square" rtlCol="0" anchor="ctr"/>
          <a:lstStyle/>
          <a:p>
            <a:pPr algn="ctr" indent="0" marL="0">
              <a:buNone/>
            </a:pPr>
            <a:r>
              <a:rPr lang="en-US" sz="680" dirty="0">
                <a:solidFill>
                  <a:srgbClr val="7A6040"/>
                </a:solidFill>
              </a:rPr>
              <a:t>Lun 11</a:t>
            </a:r>
            <a:endParaRPr lang="en-US" sz="680" dirty="0"/>
          </a:p>
        </p:txBody>
      </p:sp>
      <p:sp>
        <p:nvSpPr>
          <p:cNvPr id="18" name="Text 16"/>
          <p:cNvSpPr/>
          <p:nvPr/>
        </p:nvSpPr>
        <p:spPr>
          <a:xfrm>
            <a:off x="347472" y="2487168"/>
            <a:ext cx="1170432" cy="182880"/>
          </a:xfrm>
          <a:prstGeom prst="rect">
            <a:avLst/>
          </a:prstGeom>
          <a:noFill/>
          <a:ln/>
        </p:spPr>
        <p:txBody>
          <a:bodyPr wrap="square" rtlCol="0" anchor="ctr"/>
          <a:lstStyle/>
          <a:p>
            <a:pPr algn="ctr" indent="0" marL="0">
              <a:buNone/>
            </a:pPr>
            <a:r>
              <a:rPr lang="en-US" sz="780" b="1" dirty="0">
                <a:solidFill>
                  <a:srgbClr val="2A9050"/>
                </a:solidFill>
              </a:rPr>
              <a:t>+0.66%</a:t>
            </a:r>
            <a:endParaRPr lang="en-US" sz="780" dirty="0"/>
          </a:p>
        </p:txBody>
      </p:sp>
      <p:sp>
        <p:nvSpPr>
          <p:cNvPr id="19" name="Text 17"/>
          <p:cNvSpPr/>
          <p:nvPr/>
        </p:nvSpPr>
        <p:spPr>
          <a:xfrm>
            <a:off x="1581912" y="2322576"/>
            <a:ext cx="1170432" cy="164592"/>
          </a:xfrm>
          <a:prstGeom prst="rect">
            <a:avLst/>
          </a:prstGeom>
          <a:noFill/>
          <a:ln/>
        </p:spPr>
        <p:txBody>
          <a:bodyPr wrap="square" rtlCol="0" anchor="ctr"/>
          <a:lstStyle/>
          <a:p>
            <a:pPr algn="ctr" indent="0" marL="0">
              <a:buNone/>
            </a:pPr>
            <a:r>
              <a:rPr lang="en-US" sz="680" dirty="0">
                <a:solidFill>
                  <a:srgbClr val="7A6040"/>
                </a:solidFill>
              </a:rPr>
              <a:t>Mar 12</a:t>
            </a:r>
            <a:endParaRPr lang="en-US" sz="680" dirty="0"/>
          </a:p>
        </p:txBody>
      </p:sp>
      <p:sp>
        <p:nvSpPr>
          <p:cNvPr id="20" name="Text 18"/>
          <p:cNvSpPr/>
          <p:nvPr/>
        </p:nvSpPr>
        <p:spPr>
          <a:xfrm>
            <a:off x="1581912" y="2487168"/>
            <a:ext cx="1170432" cy="182880"/>
          </a:xfrm>
          <a:prstGeom prst="rect">
            <a:avLst/>
          </a:prstGeom>
          <a:noFill/>
          <a:ln/>
        </p:spPr>
        <p:txBody>
          <a:bodyPr wrap="square" rtlCol="0" anchor="ctr"/>
          <a:lstStyle/>
          <a:p>
            <a:pPr algn="ctr" indent="0" marL="0">
              <a:buNone/>
            </a:pPr>
            <a:r>
              <a:rPr lang="en-US" sz="780" b="1" dirty="0">
                <a:solidFill>
                  <a:srgbClr val="B03028"/>
                </a:solidFill>
              </a:rPr>
              <a:t>−1.32%</a:t>
            </a:r>
            <a:endParaRPr lang="en-US" sz="780" dirty="0"/>
          </a:p>
        </p:txBody>
      </p:sp>
      <p:sp>
        <p:nvSpPr>
          <p:cNvPr id="21" name="Text 19"/>
          <p:cNvSpPr/>
          <p:nvPr/>
        </p:nvSpPr>
        <p:spPr>
          <a:xfrm>
            <a:off x="2816352" y="2322576"/>
            <a:ext cx="1170432" cy="164592"/>
          </a:xfrm>
          <a:prstGeom prst="rect">
            <a:avLst/>
          </a:prstGeom>
          <a:noFill/>
          <a:ln/>
        </p:spPr>
        <p:txBody>
          <a:bodyPr wrap="square" rtlCol="0" anchor="ctr"/>
          <a:lstStyle/>
          <a:p>
            <a:pPr algn="ctr" indent="0" marL="0">
              <a:buNone/>
            </a:pPr>
            <a:r>
              <a:rPr lang="en-US" sz="680" dirty="0">
                <a:solidFill>
                  <a:srgbClr val="7A6040"/>
                </a:solidFill>
              </a:rPr>
              <a:t>Mié 13</a:t>
            </a:r>
            <a:endParaRPr lang="en-US" sz="680" dirty="0"/>
          </a:p>
        </p:txBody>
      </p:sp>
      <p:sp>
        <p:nvSpPr>
          <p:cNvPr id="22" name="Text 20"/>
          <p:cNvSpPr/>
          <p:nvPr/>
        </p:nvSpPr>
        <p:spPr>
          <a:xfrm>
            <a:off x="2816352" y="2487168"/>
            <a:ext cx="1170432" cy="182880"/>
          </a:xfrm>
          <a:prstGeom prst="rect">
            <a:avLst/>
          </a:prstGeom>
          <a:noFill/>
          <a:ln/>
        </p:spPr>
        <p:txBody>
          <a:bodyPr wrap="square" rtlCol="0" anchor="ctr"/>
          <a:lstStyle/>
          <a:p>
            <a:pPr algn="ctr" indent="0" marL="0">
              <a:buNone/>
            </a:pPr>
            <a:r>
              <a:rPr lang="en-US" sz="780" b="1" dirty="0">
                <a:solidFill>
                  <a:srgbClr val="2A9050"/>
                </a:solidFill>
              </a:rPr>
              <a:t>+0.45%</a:t>
            </a:r>
            <a:endParaRPr lang="en-US" sz="780" dirty="0"/>
          </a:p>
        </p:txBody>
      </p:sp>
      <p:sp>
        <p:nvSpPr>
          <p:cNvPr id="23" name="Text 21"/>
          <p:cNvSpPr/>
          <p:nvPr/>
        </p:nvSpPr>
        <p:spPr>
          <a:xfrm>
            <a:off x="4050792" y="2322576"/>
            <a:ext cx="1170432" cy="164592"/>
          </a:xfrm>
          <a:prstGeom prst="rect">
            <a:avLst/>
          </a:prstGeom>
          <a:noFill/>
          <a:ln/>
        </p:spPr>
        <p:txBody>
          <a:bodyPr wrap="square" rtlCol="0" anchor="ctr"/>
          <a:lstStyle/>
          <a:p>
            <a:pPr algn="ctr" indent="0" marL="0">
              <a:buNone/>
            </a:pPr>
            <a:r>
              <a:rPr lang="en-US" sz="680" dirty="0">
                <a:solidFill>
                  <a:srgbClr val="7A6040"/>
                </a:solidFill>
              </a:rPr>
              <a:t>Vie 14</a:t>
            </a:r>
            <a:endParaRPr lang="en-US" sz="680" dirty="0"/>
          </a:p>
        </p:txBody>
      </p:sp>
      <p:sp>
        <p:nvSpPr>
          <p:cNvPr id="24" name="Text 22"/>
          <p:cNvSpPr/>
          <p:nvPr/>
        </p:nvSpPr>
        <p:spPr>
          <a:xfrm>
            <a:off x="4050792" y="2487168"/>
            <a:ext cx="1170432" cy="182880"/>
          </a:xfrm>
          <a:prstGeom prst="rect">
            <a:avLst/>
          </a:prstGeom>
          <a:noFill/>
          <a:ln/>
        </p:spPr>
        <p:txBody>
          <a:bodyPr wrap="square" rtlCol="0" anchor="ctr"/>
          <a:lstStyle/>
          <a:p>
            <a:pPr algn="ctr" indent="0" marL="0">
              <a:buNone/>
            </a:pPr>
            <a:r>
              <a:rPr lang="en-US" sz="780" b="1" dirty="0">
                <a:solidFill>
                  <a:srgbClr val="B03028"/>
                </a:solidFill>
              </a:rPr>
              <a:t>−0.26%</a:t>
            </a:r>
            <a:endParaRPr lang="en-US" sz="780" dirty="0"/>
          </a:p>
        </p:txBody>
      </p:sp>
      <p:sp>
        <p:nvSpPr>
          <p:cNvPr id="25" name="Text 23"/>
          <p:cNvSpPr/>
          <p:nvPr/>
        </p:nvSpPr>
        <p:spPr>
          <a:xfrm>
            <a:off x="347472" y="2542032"/>
            <a:ext cx="1170432" cy="164592"/>
          </a:xfrm>
          <a:prstGeom prst="rect">
            <a:avLst/>
          </a:prstGeom>
          <a:noFill/>
          <a:ln/>
        </p:spPr>
        <p:txBody>
          <a:bodyPr wrap="square" rtlCol="0" anchor="ctr"/>
          <a:lstStyle/>
          <a:p>
            <a:pPr algn="ctr" indent="0" marL="0">
              <a:buNone/>
            </a:pPr>
            <a:r>
              <a:rPr lang="en-US" sz="680" dirty="0">
                <a:solidFill>
                  <a:srgbClr val="7A6040"/>
                </a:solidFill>
              </a:rPr>
              <a:t>Lun 17</a:t>
            </a:r>
            <a:endParaRPr lang="en-US" sz="680" dirty="0"/>
          </a:p>
        </p:txBody>
      </p:sp>
      <p:sp>
        <p:nvSpPr>
          <p:cNvPr id="26" name="Text 24"/>
          <p:cNvSpPr/>
          <p:nvPr/>
        </p:nvSpPr>
        <p:spPr>
          <a:xfrm>
            <a:off x="347472" y="2706624"/>
            <a:ext cx="1170432" cy="182880"/>
          </a:xfrm>
          <a:prstGeom prst="rect">
            <a:avLst/>
          </a:prstGeom>
          <a:noFill/>
          <a:ln/>
        </p:spPr>
        <p:txBody>
          <a:bodyPr wrap="square" rtlCol="0" anchor="ctr"/>
          <a:lstStyle/>
          <a:p>
            <a:pPr algn="ctr" indent="0" marL="0">
              <a:buNone/>
            </a:pPr>
            <a:r>
              <a:rPr lang="en-US" sz="780" b="1" dirty="0">
                <a:solidFill>
                  <a:srgbClr val="7A6040"/>
                </a:solidFill>
              </a:rPr>
              <a:t>~0%</a:t>
            </a:r>
            <a:endParaRPr lang="en-US" sz="780" dirty="0"/>
          </a:p>
        </p:txBody>
      </p:sp>
      <p:sp>
        <p:nvSpPr>
          <p:cNvPr id="27" name="Text 25"/>
          <p:cNvSpPr/>
          <p:nvPr/>
        </p:nvSpPr>
        <p:spPr>
          <a:xfrm>
            <a:off x="1581912" y="2542032"/>
            <a:ext cx="1170432" cy="164592"/>
          </a:xfrm>
          <a:prstGeom prst="rect">
            <a:avLst/>
          </a:prstGeom>
          <a:noFill/>
          <a:ln/>
        </p:spPr>
        <p:txBody>
          <a:bodyPr wrap="square" rtlCol="0" anchor="ctr"/>
          <a:lstStyle/>
          <a:p>
            <a:pPr algn="ctr" indent="0" marL="0">
              <a:buNone/>
            </a:pPr>
            <a:r>
              <a:rPr lang="en-US" sz="680" dirty="0">
                <a:solidFill>
                  <a:srgbClr val="7A6040"/>
                </a:solidFill>
              </a:rPr>
              <a:t>Mar 18</a:t>
            </a:r>
            <a:endParaRPr lang="en-US" sz="680" dirty="0"/>
          </a:p>
        </p:txBody>
      </p:sp>
      <p:sp>
        <p:nvSpPr>
          <p:cNvPr id="28" name="Text 26"/>
          <p:cNvSpPr/>
          <p:nvPr/>
        </p:nvSpPr>
        <p:spPr>
          <a:xfrm>
            <a:off x="1581912" y="2706624"/>
            <a:ext cx="1170432" cy="182880"/>
          </a:xfrm>
          <a:prstGeom prst="rect">
            <a:avLst/>
          </a:prstGeom>
          <a:noFill/>
          <a:ln/>
        </p:spPr>
        <p:txBody>
          <a:bodyPr wrap="square" rtlCol="0" anchor="ctr"/>
          <a:lstStyle/>
          <a:p>
            <a:pPr algn="ctr" indent="0" marL="0">
              <a:buNone/>
            </a:pPr>
            <a:r>
              <a:rPr lang="en-US" sz="780" b="1" dirty="0">
                <a:solidFill>
                  <a:srgbClr val="B03028"/>
                </a:solidFill>
              </a:rPr>
              <a:t>−0.38%</a:t>
            </a:r>
            <a:endParaRPr lang="en-US" sz="780" dirty="0"/>
          </a:p>
        </p:txBody>
      </p:sp>
      <p:sp>
        <p:nvSpPr>
          <p:cNvPr id="29" name="Text 27"/>
          <p:cNvSpPr/>
          <p:nvPr/>
        </p:nvSpPr>
        <p:spPr>
          <a:xfrm>
            <a:off x="2816352" y="2542032"/>
            <a:ext cx="1170432" cy="164592"/>
          </a:xfrm>
          <a:prstGeom prst="rect">
            <a:avLst/>
          </a:prstGeom>
          <a:noFill/>
          <a:ln/>
        </p:spPr>
        <p:txBody>
          <a:bodyPr wrap="square" rtlCol="0" anchor="ctr"/>
          <a:lstStyle/>
          <a:p>
            <a:pPr algn="ctr" indent="0" marL="0">
              <a:buNone/>
            </a:pPr>
            <a:r>
              <a:rPr lang="en-US" sz="680" dirty="0">
                <a:solidFill>
                  <a:srgbClr val="7A6040"/>
                </a:solidFill>
              </a:rPr>
              <a:t>Mié 19</a:t>
            </a:r>
            <a:endParaRPr lang="en-US" sz="680" dirty="0"/>
          </a:p>
        </p:txBody>
      </p:sp>
      <p:sp>
        <p:nvSpPr>
          <p:cNvPr id="30" name="Text 28"/>
          <p:cNvSpPr/>
          <p:nvPr/>
        </p:nvSpPr>
        <p:spPr>
          <a:xfrm>
            <a:off x="2816352" y="2706624"/>
            <a:ext cx="1170432" cy="182880"/>
          </a:xfrm>
          <a:prstGeom prst="rect">
            <a:avLst/>
          </a:prstGeom>
          <a:noFill/>
          <a:ln/>
        </p:spPr>
        <p:txBody>
          <a:bodyPr wrap="square" rtlCol="0" anchor="ctr"/>
          <a:lstStyle/>
          <a:p>
            <a:pPr algn="ctr" indent="0" marL="0">
              <a:buNone/>
            </a:pPr>
            <a:r>
              <a:rPr lang="en-US" sz="780" b="1" dirty="0">
                <a:solidFill>
                  <a:srgbClr val="2A9050"/>
                </a:solidFill>
              </a:rPr>
              <a:t>+0.07%</a:t>
            </a:r>
            <a:endParaRPr lang="en-US" sz="780" dirty="0"/>
          </a:p>
        </p:txBody>
      </p:sp>
      <p:sp>
        <p:nvSpPr>
          <p:cNvPr id="31" name="Shape 29"/>
          <p:cNvSpPr/>
          <p:nvPr/>
        </p:nvSpPr>
        <p:spPr>
          <a:xfrm>
            <a:off x="5715000" y="822960"/>
            <a:ext cx="6217920" cy="2286000"/>
          </a:xfrm>
          <a:prstGeom prst="rect">
            <a:avLst/>
          </a:prstGeom>
          <a:solidFill>
            <a:srgbClr val="FFFEF8"/>
          </a:solidFill>
          <a:ln w="12700">
            <a:solidFill>
              <a:srgbClr val="D8C8A0"/>
            </a:solidFill>
            <a:prstDash val="solid"/>
          </a:ln>
        </p:spPr>
      </p:sp>
      <p:sp>
        <p:nvSpPr>
          <p:cNvPr id="32" name="Shape 30"/>
          <p:cNvSpPr/>
          <p:nvPr/>
        </p:nvSpPr>
        <p:spPr>
          <a:xfrm>
            <a:off x="5715000" y="822960"/>
            <a:ext cx="6217920" cy="274320"/>
          </a:xfrm>
          <a:prstGeom prst="rect">
            <a:avLst/>
          </a:prstGeom>
          <a:solidFill>
            <a:srgbClr val="1C1810"/>
          </a:solidFill>
          <a:ln/>
        </p:spPr>
      </p:sp>
      <p:sp>
        <p:nvSpPr>
          <p:cNvPr id="33" name="Text 31"/>
          <p:cNvSpPr/>
          <p:nvPr/>
        </p:nvSpPr>
        <p:spPr>
          <a:xfrm>
            <a:off x="5715000" y="822960"/>
            <a:ext cx="6217920" cy="274320"/>
          </a:xfrm>
          <a:prstGeom prst="rect">
            <a:avLst/>
          </a:prstGeom>
          <a:noFill/>
          <a:ln/>
        </p:spPr>
        <p:txBody>
          <a:bodyPr wrap="square" rtlCol="0" anchor="ctr"/>
          <a:lstStyle/>
          <a:p>
            <a:pPr algn="ctr" indent="0" marL="0">
              <a:buNone/>
            </a:pPr>
            <a:r>
              <a:rPr lang="en-US" sz="850" b="1" dirty="0">
                <a:solidFill>
                  <a:srgbClr val="FFFFFF"/>
                </a:solidFill>
              </a:rPr>
              <a:t>ÍNDICES GLOBALES</a:t>
            </a:r>
            <a:endParaRPr lang="en-US" sz="850" dirty="0"/>
          </a:p>
        </p:txBody>
      </p:sp>
      <p:sp>
        <p:nvSpPr>
          <p:cNvPr id="34" name="Text 32"/>
          <p:cNvSpPr/>
          <p:nvPr/>
        </p:nvSpPr>
        <p:spPr>
          <a:xfrm>
            <a:off x="5833872" y="1170432"/>
            <a:ext cx="2286000" cy="329184"/>
          </a:xfrm>
          <a:prstGeom prst="rect">
            <a:avLst/>
          </a:prstGeom>
          <a:noFill/>
          <a:ln/>
        </p:spPr>
        <p:txBody>
          <a:bodyPr wrap="square" rtlCol="0" anchor="ctr"/>
          <a:lstStyle/>
          <a:p>
            <a:pPr indent="0" marL="0">
              <a:buNone/>
            </a:pPr>
            <a:r>
              <a:rPr lang="en-US" sz="900" b="1" dirty="0">
                <a:solidFill>
                  <a:srgbClr val="1C1810"/>
                </a:solidFill>
              </a:rPr>
              <a:t>S&amp;P 500</a:t>
            </a:r>
            <a:endParaRPr lang="en-US" sz="900" dirty="0"/>
          </a:p>
        </p:txBody>
      </p:sp>
      <p:sp>
        <p:nvSpPr>
          <p:cNvPr id="35" name="Text 33"/>
          <p:cNvSpPr/>
          <p:nvPr/>
        </p:nvSpPr>
        <p:spPr>
          <a:xfrm>
            <a:off x="8138160" y="1170432"/>
            <a:ext cx="1920240" cy="329184"/>
          </a:xfrm>
          <a:prstGeom prst="rect">
            <a:avLst/>
          </a:prstGeom>
          <a:noFill/>
          <a:ln/>
        </p:spPr>
        <p:txBody>
          <a:bodyPr wrap="square" rtlCol="0" anchor="ctr"/>
          <a:lstStyle/>
          <a:p>
            <a:pPr algn="r" indent="0" marL="0">
              <a:buNone/>
            </a:pPr>
            <a:r>
              <a:rPr lang="en-US" sz="900" dirty="0">
                <a:solidFill>
                  <a:srgbClr val="1C1810"/>
                </a:solidFill>
              </a:rPr>
              <a:t>7,707.98</a:t>
            </a:r>
            <a:endParaRPr lang="en-US" sz="900" dirty="0"/>
          </a:p>
        </p:txBody>
      </p:sp>
      <p:sp>
        <p:nvSpPr>
          <p:cNvPr id="36" name="Text 34"/>
          <p:cNvSpPr/>
          <p:nvPr/>
        </p:nvSpPr>
        <p:spPr>
          <a:xfrm>
            <a:off x="10058400" y="1170432"/>
            <a:ext cx="914400" cy="329184"/>
          </a:xfrm>
          <a:prstGeom prst="rect">
            <a:avLst/>
          </a:prstGeom>
          <a:noFill/>
          <a:ln/>
        </p:spPr>
        <p:txBody>
          <a:bodyPr wrap="square" rtlCol="0" anchor="ctr"/>
          <a:lstStyle/>
          <a:p>
            <a:pPr algn="r" indent="0" marL="0">
              <a:buNone/>
            </a:pPr>
            <a:r>
              <a:rPr lang="en-US" sz="850" b="1" dirty="0">
                <a:solidFill>
                  <a:srgbClr val="2A9050"/>
                </a:solidFill>
              </a:rPr>
              <a:t>+0.21%</a:t>
            </a:r>
            <a:endParaRPr lang="en-US" sz="850" dirty="0"/>
          </a:p>
        </p:txBody>
      </p:sp>
      <p:sp>
        <p:nvSpPr>
          <p:cNvPr id="37" name="Text 35"/>
          <p:cNvSpPr/>
          <p:nvPr/>
        </p:nvSpPr>
        <p:spPr>
          <a:xfrm>
            <a:off x="5833872" y="1481328"/>
            <a:ext cx="5943600" cy="146304"/>
          </a:xfrm>
          <a:prstGeom prst="rect">
            <a:avLst/>
          </a:prstGeom>
          <a:noFill/>
          <a:ln/>
        </p:spPr>
        <p:txBody>
          <a:bodyPr wrap="square" rtlCol="0" anchor="ctr"/>
          <a:lstStyle/>
          <a:p>
            <a:pPr indent="0" marL="0">
              <a:buNone/>
            </a:pPr>
            <a:r>
              <a:rPr lang="en-US" sz="680" dirty="0">
                <a:solidFill>
                  <a:srgbClr val="7A6040"/>
                </a:solidFill>
              </a:rPr>
              <a:t>Rebote post-minutas; hawkish absorbido</a:t>
            </a:r>
            <a:endParaRPr lang="en-US" sz="680" dirty="0"/>
          </a:p>
        </p:txBody>
      </p:sp>
      <p:sp>
        <p:nvSpPr>
          <p:cNvPr id="38" name="Shape 36"/>
          <p:cNvSpPr/>
          <p:nvPr/>
        </p:nvSpPr>
        <p:spPr>
          <a:xfrm>
            <a:off x="5833872" y="1627632"/>
            <a:ext cx="5943600" cy="18288"/>
          </a:xfrm>
          <a:prstGeom prst="rect">
            <a:avLst/>
          </a:prstGeom>
          <a:solidFill>
            <a:srgbClr val="D8C8A0"/>
          </a:solidFill>
          <a:ln/>
        </p:spPr>
      </p:sp>
      <p:sp>
        <p:nvSpPr>
          <p:cNvPr id="39" name="Text 37"/>
          <p:cNvSpPr/>
          <p:nvPr/>
        </p:nvSpPr>
        <p:spPr>
          <a:xfrm>
            <a:off x="5833872" y="1645920"/>
            <a:ext cx="2286000" cy="329184"/>
          </a:xfrm>
          <a:prstGeom prst="rect">
            <a:avLst/>
          </a:prstGeom>
          <a:noFill/>
          <a:ln/>
        </p:spPr>
        <p:txBody>
          <a:bodyPr wrap="square" rtlCol="0" anchor="ctr"/>
          <a:lstStyle/>
          <a:p>
            <a:pPr indent="0" marL="0">
              <a:buNone/>
            </a:pPr>
            <a:r>
              <a:rPr lang="en-US" sz="900" b="1" dirty="0">
                <a:solidFill>
                  <a:srgbClr val="1C1810"/>
                </a:solidFill>
              </a:rPr>
              <a:t>Nasdaq</a:t>
            </a:r>
            <a:endParaRPr lang="en-US" sz="900" dirty="0"/>
          </a:p>
        </p:txBody>
      </p:sp>
      <p:sp>
        <p:nvSpPr>
          <p:cNvPr id="40" name="Text 38"/>
          <p:cNvSpPr/>
          <p:nvPr/>
        </p:nvSpPr>
        <p:spPr>
          <a:xfrm>
            <a:off x="8138160" y="1645920"/>
            <a:ext cx="1920240" cy="329184"/>
          </a:xfrm>
          <a:prstGeom prst="rect">
            <a:avLst/>
          </a:prstGeom>
          <a:noFill/>
          <a:ln/>
        </p:spPr>
        <p:txBody>
          <a:bodyPr wrap="square" rtlCol="0" anchor="ctr"/>
          <a:lstStyle/>
          <a:p>
            <a:pPr algn="r" indent="0" marL="0">
              <a:buNone/>
            </a:pPr>
            <a:r>
              <a:rPr lang="en-US" sz="900" dirty="0">
                <a:solidFill>
                  <a:srgbClr val="1C1810"/>
                </a:solidFill>
              </a:rPr>
              <a:t>26,331.09</a:t>
            </a:r>
            <a:endParaRPr lang="en-US" sz="900" dirty="0"/>
          </a:p>
        </p:txBody>
      </p:sp>
      <p:sp>
        <p:nvSpPr>
          <p:cNvPr id="41" name="Text 39"/>
          <p:cNvSpPr/>
          <p:nvPr/>
        </p:nvSpPr>
        <p:spPr>
          <a:xfrm>
            <a:off x="10058400" y="1645920"/>
            <a:ext cx="914400" cy="329184"/>
          </a:xfrm>
          <a:prstGeom prst="rect">
            <a:avLst/>
          </a:prstGeom>
          <a:noFill/>
          <a:ln/>
        </p:spPr>
        <p:txBody>
          <a:bodyPr wrap="square" rtlCol="0" anchor="ctr"/>
          <a:lstStyle/>
          <a:p>
            <a:pPr algn="r" indent="0" marL="0">
              <a:buNone/>
            </a:pPr>
            <a:r>
              <a:rPr lang="en-US" sz="850" b="1" dirty="0">
                <a:solidFill>
                  <a:srgbClr val="2A9050"/>
                </a:solidFill>
              </a:rPr>
              <a:t>+0.16%</a:t>
            </a:r>
            <a:endParaRPr lang="en-US" sz="850" dirty="0"/>
          </a:p>
        </p:txBody>
      </p:sp>
      <p:sp>
        <p:nvSpPr>
          <p:cNvPr id="42" name="Text 40"/>
          <p:cNvSpPr/>
          <p:nvPr/>
        </p:nvSpPr>
        <p:spPr>
          <a:xfrm>
            <a:off x="5833872" y="1956816"/>
            <a:ext cx="5943600" cy="146304"/>
          </a:xfrm>
          <a:prstGeom prst="rect">
            <a:avLst/>
          </a:prstGeom>
          <a:noFill/>
          <a:ln/>
        </p:spPr>
        <p:txBody>
          <a:bodyPr wrap="square" rtlCol="0" anchor="ctr"/>
          <a:lstStyle/>
          <a:p>
            <a:pPr indent="0" marL="0">
              <a:buNone/>
            </a:pPr>
            <a:r>
              <a:rPr lang="en-US" sz="680" dirty="0">
                <a:solidFill>
                  <a:srgbClr val="7A6040"/>
                </a:solidFill>
              </a:rPr>
              <a:t>Recupera parte de pérdidas del martes</a:t>
            </a:r>
            <a:endParaRPr lang="en-US" sz="680" dirty="0"/>
          </a:p>
        </p:txBody>
      </p:sp>
      <p:sp>
        <p:nvSpPr>
          <p:cNvPr id="43" name="Shape 41"/>
          <p:cNvSpPr/>
          <p:nvPr/>
        </p:nvSpPr>
        <p:spPr>
          <a:xfrm>
            <a:off x="5833872" y="2103120"/>
            <a:ext cx="5943600" cy="18288"/>
          </a:xfrm>
          <a:prstGeom prst="rect">
            <a:avLst/>
          </a:prstGeom>
          <a:solidFill>
            <a:srgbClr val="D8C8A0"/>
          </a:solidFill>
          <a:ln/>
        </p:spPr>
      </p:sp>
      <p:sp>
        <p:nvSpPr>
          <p:cNvPr id="44" name="Text 42"/>
          <p:cNvSpPr/>
          <p:nvPr/>
        </p:nvSpPr>
        <p:spPr>
          <a:xfrm>
            <a:off x="5833872" y="2121408"/>
            <a:ext cx="2286000" cy="329184"/>
          </a:xfrm>
          <a:prstGeom prst="rect">
            <a:avLst/>
          </a:prstGeom>
          <a:noFill/>
          <a:ln/>
        </p:spPr>
        <p:txBody>
          <a:bodyPr wrap="square" rtlCol="0" anchor="ctr"/>
          <a:lstStyle/>
          <a:p>
            <a:pPr indent="0" marL="0">
              <a:buNone/>
            </a:pPr>
            <a:r>
              <a:rPr lang="en-US" sz="900" b="1" dirty="0">
                <a:solidFill>
                  <a:srgbClr val="1C1810"/>
                </a:solidFill>
              </a:rPr>
              <a:t>Dow Jones</a:t>
            </a:r>
            <a:endParaRPr lang="en-US" sz="900" dirty="0"/>
          </a:p>
        </p:txBody>
      </p:sp>
      <p:sp>
        <p:nvSpPr>
          <p:cNvPr id="45" name="Text 43"/>
          <p:cNvSpPr/>
          <p:nvPr/>
        </p:nvSpPr>
        <p:spPr>
          <a:xfrm>
            <a:off x="8138160" y="2121408"/>
            <a:ext cx="1920240" cy="329184"/>
          </a:xfrm>
          <a:prstGeom prst="rect">
            <a:avLst/>
          </a:prstGeom>
          <a:noFill/>
          <a:ln/>
        </p:spPr>
        <p:txBody>
          <a:bodyPr wrap="square" rtlCol="0" anchor="ctr"/>
          <a:lstStyle/>
          <a:p>
            <a:pPr algn="r" indent="0" marL="0">
              <a:buNone/>
            </a:pPr>
            <a:r>
              <a:rPr lang="en-US" sz="900" dirty="0">
                <a:solidFill>
                  <a:srgbClr val="1C1810"/>
                </a:solidFill>
              </a:rPr>
              <a:t>53,463.05</a:t>
            </a:r>
            <a:endParaRPr lang="en-US" sz="900" dirty="0"/>
          </a:p>
        </p:txBody>
      </p:sp>
      <p:sp>
        <p:nvSpPr>
          <p:cNvPr id="46" name="Text 44"/>
          <p:cNvSpPr/>
          <p:nvPr/>
        </p:nvSpPr>
        <p:spPr>
          <a:xfrm>
            <a:off x="10058400" y="2121408"/>
            <a:ext cx="914400" cy="329184"/>
          </a:xfrm>
          <a:prstGeom prst="rect">
            <a:avLst/>
          </a:prstGeom>
          <a:noFill/>
          <a:ln/>
        </p:spPr>
        <p:txBody>
          <a:bodyPr wrap="square" rtlCol="0" anchor="ctr"/>
          <a:lstStyle/>
          <a:p>
            <a:pPr algn="r" indent="0" marL="0">
              <a:buNone/>
            </a:pPr>
            <a:r>
              <a:rPr lang="en-US" sz="850" b="1" dirty="0">
                <a:solidFill>
                  <a:srgbClr val="2A9050"/>
                </a:solidFill>
              </a:rPr>
              <a:t>+0.22%</a:t>
            </a:r>
            <a:endParaRPr lang="en-US" sz="850" dirty="0"/>
          </a:p>
        </p:txBody>
      </p:sp>
      <p:sp>
        <p:nvSpPr>
          <p:cNvPr id="47" name="Text 45"/>
          <p:cNvSpPr/>
          <p:nvPr/>
        </p:nvSpPr>
        <p:spPr>
          <a:xfrm>
            <a:off x="5833872" y="2432304"/>
            <a:ext cx="5943600" cy="146304"/>
          </a:xfrm>
          <a:prstGeom prst="rect">
            <a:avLst/>
          </a:prstGeom>
          <a:noFill/>
          <a:ln/>
        </p:spPr>
        <p:txBody>
          <a:bodyPr wrap="square" rtlCol="0" anchor="ctr"/>
          <a:lstStyle/>
          <a:p>
            <a:pPr indent="0" marL="0">
              <a:buNone/>
            </a:pPr>
            <a:r>
              <a:rPr lang="en-US" sz="680" dirty="0">
                <a:solidFill>
                  <a:srgbClr val="7A6040"/>
                </a:solidFill>
              </a:rPr>
              <a:t>Defensivo; sesión estable</a:t>
            </a:r>
            <a:endParaRPr lang="en-US" sz="680" dirty="0"/>
          </a:p>
        </p:txBody>
      </p:sp>
      <p:sp>
        <p:nvSpPr>
          <p:cNvPr id="48" name="Shape 46"/>
          <p:cNvSpPr/>
          <p:nvPr/>
        </p:nvSpPr>
        <p:spPr>
          <a:xfrm>
            <a:off x="5833872" y="2578608"/>
            <a:ext cx="5943600" cy="18288"/>
          </a:xfrm>
          <a:prstGeom prst="rect">
            <a:avLst/>
          </a:prstGeom>
          <a:solidFill>
            <a:srgbClr val="D8C8A0"/>
          </a:solidFill>
          <a:ln/>
        </p:spPr>
      </p:sp>
      <p:sp>
        <p:nvSpPr>
          <p:cNvPr id="49" name="Text 47"/>
          <p:cNvSpPr/>
          <p:nvPr/>
        </p:nvSpPr>
        <p:spPr>
          <a:xfrm>
            <a:off x="5833872" y="2596896"/>
            <a:ext cx="2286000" cy="329184"/>
          </a:xfrm>
          <a:prstGeom prst="rect">
            <a:avLst/>
          </a:prstGeom>
          <a:noFill/>
          <a:ln/>
        </p:spPr>
        <p:txBody>
          <a:bodyPr wrap="square" rtlCol="0" anchor="ctr"/>
          <a:lstStyle/>
          <a:p>
            <a:pPr indent="0" marL="0">
              <a:buNone/>
            </a:pPr>
            <a:r>
              <a:rPr lang="en-US" sz="900" b="1" dirty="0">
                <a:solidFill>
                  <a:srgbClr val="1C1810"/>
                </a:solidFill>
              </a:rPr>
              <a:t>DAX 40</a:t>
            </a:r>
            <a:endParaRPr lang="en-US" sz="900" dirty="0"/>
          </a:p>
        </p:txBody>
      </p:sp>
      <p:sp>
        <p:nvSpPr>
          <p:cNvPr id="50" name="Text 48"/>
          <p:cNvSpPr/>
          <p:nvPr/>
        </p:nvSpPr>
        <p:spPr>
          <a:xfrm>
            <a:off x="8138160" y="2596896"/>
            <a:ext cx="1920240" cy="329184"/>
          </a:xfrm>
          <a:prstGeom prst="rect">
            <a:avLst/>
          </a:prstGeom>
          <a:noFill/>
          <a:ln/>
        </p:spPr>
        <p:txBody>
          <a:bodyPr wrap="square" rtlCol="0" anchor="ctr"/>
          <a:lstStyle/>
          <a:p>
            <a:pPr algn="r" indent="0" marL="0">
              <a:buNone/>
            </a:pPr>
            <a:r>
              <a:rPr lang="en-US" sz="900" dirty="0">
                <a:solidFill>
                  <a:srgbClr val="1C1810"/>
                </a:solidFill>
              </a:rPr>
              <a:t>26,091</a:t>
            </a:r>
            <a:endParaRPr lang="en-US" sz="900" dirty="0"/>
          </a:p>
        </p:txBody>
      </p:sp>
      <p:sp>
        <p:nvSpPr>
          <p:cNvPr id="51" name="Text 49"/>
          <p:cNvSpPr/>
          <p:nvPr/>
        </p:nvSpPr>
        <p:spPr>
          <a:xfrm>
            <a:off x="10058400" y="2596896"/>
            <a:ext cx="914400" cy="329184"/>
          </a:xfrm>
          <a:prstGeom prst="rect">
            <a:avLst/>
          </a:prstGeom>
          <a:noFill/>
          <a:ln/>
        </p:spPr>
        <p:txBody>
          <a:bodyPr wrap="square" rtlCol="0" anchor="ctr"/>
          <a:lstStyle/>
          <a:p>
            <a:pPr algn="r" indent="0" marL="0">
              <a:buNone/>
            </a:pPr>
            <a:r>
              <a:rPr lang="en-US" sz="850" b="1" dirty="0">
                <a:solidFill>
                  <a:srgbClr val="B03028"/>
                </a:solidFill>
              </a:rPr>
              <a:t>−0.14%</a:t>
            </a:r>
            <a:endParaRPr lang="en-US" sz="850" dirty="0"/>
          </a:p>
        </p:txBody>
      </p:sp>
      <p:sp>
        <p:nvSpPr>
          <p:cNvPr id="52" name="Text 50"/>
          <p:cNvSpPr/>
          <p:nvPr/>
        </p:nvSpPr>
        <p:spPr>
          <a:xfrm>
            <a:off x="5833872" y="2907792"/>
            <a:ext cx="5943600" cy="146304"/>
          </a:xfrm>
          <a:prstGeom prst="rect">
            <a:avLst/>
          </a:prstGeom>
          <a:noFill/>
          <a:ln/>
        </p:spPr>
        <p:txBody>
          <a:bodyPr wrap="square" rtlCol="0" anchor="ctr"/>
          <a:lstStyle/>
          <a:p>
            <a:pPr indent="0" marL="0">
              <a:buNone/>
            </a:pPr>
            <a:r>
              <a:rPr lang="en-US" sz="680" dirty="0">
                <a:solidFill>
                  <a:srgbClr val="7A6040"/>
                </a:solidFill>
              </a:rPr>
              <a:t>Europa ya cerró antes de las minutas</a:t>
            </a:r>
            <a:endParaRPr lang="en-US" sz="680" dirty="0"/>
          </a:p>
        </p:txBody>
      </p:sp>
      <p:sp>
        <p:nvSpPr>
          <p:cNvPr id="53" name="Shape 51"/>
          <p:cNvSpPr/>
          <p:nvPr/>
        </p:nvSpPr>
        <p:spPr>
          <a:xfrm>
            <a:off x="228600" y="3182112"/>
            <a:ext cx="11704320" cy="18288"/>
          </a:xfrm>
          <a:prstGeom prst="rect">
            <a:avLst/>
          </a:prstGeom>
          <a:solidFill>
            <a:srgbClr val="D8C8A0"/>
          </a:solidFill>
          <a:ln/>
        </p:spPr>
      </p:sp>
      <p:sp>
        <p:nvSpPr>
          <p:cNvPr id="54" name="Shape 52"/>
          <p:cNvSpPr/>
          <p:nvPr/>
        </p:nvSpPr>
        <p:spPr>
          <a:xfrm>
            <a:off x="228600" y="3236976"/>
            <a:ext cx="5577840" cy="2487168"/>
          </a:xfrm>
          <a:prstGeom prst="rect">
            <a:avLst/>
          </a:prstGeom>
          <a:solidFill>
            <a:srgbClr val="FAF4D8"/>
          </a:solidFill>
          <a:ln w="12700">
            <a:solidFill>
              <a:srgbClr val="D8C8A0"/>
            </a:solidFill>
            <a:prstDash val="solid"/>
          </a:ln>
        </p:spPr>
      </p:sp>
      <p:sp>
        <p:nvSpPr>
          <p:cNvPr id="55" name="Shape 53"/>
          <p:cNvSpPr/>
          <p:nvPr/>
        </p:nvSpPr>
        <p:spPr>
          <a:xfrm>
            <a:off x="228600" y="3236976"/>
            <a:ext cx="5577840" cy="274320"/>
          </a:xfrm>
          <a:prstGeom prst="rect">
            <a:avLst/>
          </a:prstGeom>
          <a:solidFill>
            <a:srgbClr val="C89C10"/>
          </a:solidFill>
          <a:ln/>
        </p:spPr>
      </p:sp>
      <p:sp>
        <p:nvSpPr>
          <p:cNvPr id="56" name="Text 54"/>
          <p:cNvSpPr/>
          <p:nvPr/>
        </p:nvSpPr>
        <p:spPr>
          <a:xfrm>
            <a:off x="228600" y="3236976"/>
            <a:ext cx="5577840" cy="274320"/>
          </a:xfrm>
          <a:prstGeom prst="rect">
            <a:avLst/>
          </a:prstGeom>
          <a:noFill/>
          <a:ln/>
        </p:spPr>
        <p:txBody>
          <a:bodyPr wrap="square" rtlCol="0" anchor="ctr"/>
          <a:lstStyle/>
          <a:p>
            <a:pPr algn="ctr" indent="0" marL="0">
              <a:buNone/>
            </a:pPr>
            <a:r>
              <a:rPr lang="en-US" sz="900" b="1" dirty="0">
                <a:solidFill>
                  <a:srgbClr val="FFFFFF"/>
                </a:solidFill>
              </a:rPr>
              <a:t>🥇  ORO — RÉCORD HISTÓRICO 19 AGOSTO 2026</a:t>
            </a:r>
            <a:endParaRPr lang="en-US" sz="900" dirty="0"/>
          </a:p>
        </p:txBody>
      </p:sp>
      <p:sp>
        <p:nvSpPr>
          <p:cNvPr id="57" name="Text 55"/>
          <p:cNvSpPr/>
          <p:nvPr/>
        </p:nvSpPr>
        <p:spPr>
          <a:xfrm>
            <a:off x="347472" y="3584448"/>
            <a:ext cx="3657600" cy="658368"/>
          </a:xfrm>
          <a:prstGeom prst="rect">
            <a:avLst/>
          </a:prstGeom>
          <a:noFill/>
          <a:ln/>
        </p:spPr>
        <p:txBody>
          <a:bodyPr wrap="square" rtlCol="0" anchor="ctr"/>
          <a:lstStyle/>
          <a:p>
            <a:pPr indent="0" marL="0">
              <a:buNone/>
            </a:pPr>
            <a:r>
              <a:rPr lang="en-US" sz="4200" b="1" dirty="0">
                <a:solidFill>
                  <a:srgbClr val="C89C10"/>
                </a:solidFill>
              </a:rPr>
              <a:t>$4,493.39</a:t>
            </a:r>
            <a:endParaRPr lang="en-US" sz="4200" dirty="0"/>
          </a:p>
        </p:txBody>
      </p:sp>
      <p:sp>
        <p:nvSpPr>
          <p:cNvPr id="58" name="Text 56"/>
          <p:cNvSpPr/>
          <p:nvPr/>
        </p:nvSpPr>
        <p:spPr>
          <a:xfrm>
            <a:off x="3840480" y="4023360"/>
            <a:ext cx="731520" cy="274320"/>
          </a:xfrm>
          <a:prstGeom prst="rect">
            <a:avLst/>
          </a:prstGeom>
          <a:noFill/>
          <a:ln/>
        </p:spPr>
        <p:txBody>
          <a:bodyPr wrap="square" rtlCol="0" anchor="ctr"/>
          <a:lstStyle/>
          <a:p>
            <a:pPr indent="0" marL="0">
              <a:buNone/>
            </a:pPr>
            <a:r>
              <a:rPr lang="en-US" sz="1400" dirty="0">
                <a:solidFill>
                  <a:srgbClr val="7A6040"/>
                </a:solidFill>
              </a:rPr>
              <a:t>/oz</a:t>
            </a:r>
            <a:endParaRPr lang="en-US" sz="1400" dirty="0"/>
          </a:p>
        </p:txBody>
      </p:sp>
      <p:sp>
        <p:nvSpPr>
          <p:cNvPr id="59" name="Shape 57"/>
          <p:cNvSpPr/>
          <p:nvPr/>
        </p:nvSpPr>
        <p:spPr>
          <a:xfrm>
            <a:off x="347472" y="4279392"/>
            <a:ext cx="1828800" cy="201168"/>
          </a:xfrm>
          <a:prstGeom prst="rect">
            <a:avLst/>
          </a:prstGeom>
          <a:solidFill>
            <a:srgbClr val="E0F4E8"/>
          </a:solidFill>
          <a:ln/>
        </p:spPr>
      </p:sp>
      <p:sp>
        <p:nvSpPr>
          <p:cNvPr id="60" name="Text 58"/>
          <p:cNvSpPr/>
          <p:nvPr/>
        </p:nvSpPr>
        <p:spPr>
          <a:xfrm>
            <a:off x="347472" y="4279392"/>
            <a:ext cx="1828800" cy="201168"/>
          </a:xfrm>
          <a:prstGeom prst="rect">
            <a:avLst/>
          </a:prstGeom>
          <a:noFill/>
          <a:ln/>
        </p:spPr>
        <p:txBody>
          <a:bodyPr wrap="square" rtlCol="0" anchor="ctr"/>
          <a:lstStyle/>
          <a:p>
            <a:pPr algn="ctr" indent="0" marL="0">
              <a:buNone/>
            </a:pPr>
            <a:r>
              <a:rPr lang="en-US" sz="800" b="1" dirty="0">
                <a:solidFill>
                  <a:srgbClr val="2A9050"/>
                </a:solidFill>
              </a:rPr>
              <a:t>▲ +3.66% (+$158.14)</a:t>
            </a:r>
            <a:endParaRPr lang="en-US" sz="800" dirty="0"/>
          </a:p>
        </p:txBody>
      </p:sp>
      <p:sp>
        <p:nvSpPr>
          <p:cNvPr id="61" name="Shape 59"/>
          <p:cNvSpPr/>
          <p:nvPr/>
        </p:nvSpPr>
        <p:spPr>
          <a:xfrm>
            <a:off x="347472" y="4535424"/>
            <a:ext cx="5248656" cy="18288"/>
          </a:xfrm>
          <a:prstGeom prst="rect">
            <a:avLst/>
          </a:prstGeom>
          <a:solidFill>
            <a:srgbClr val="D8C8A0"/>
          </a:solidFill>
          <a:ln/>
        </p:spPr>
      </p:sp>
      <p:sp>
        <p:nvSpPr>
          <p:cNvPr id="62" name="Text 60"/>
          <p:cNvSpPr/>
          <p:nvPr/>
        </p:nvSpPr>
        <p:spPr>
          <a:xfrm>
            <a:off x="347472" y="4572000"/>
            <a:ext cx="5248656" cy="237744"/>
          </a:xfrm>
          <a:prstGeom prst="rect">
            <a:avLst/>
          </a:prstGeom>
          <a:noFill/>
          <a:ln/>
        </p:spPr>
        <p:txBody>
          <a:bodyPr wrap="square" rtlCol="0" anchor="ctr"/>
          <a:lstStyle/>
          <a:p>
            <a:pPr indent="0" marL="0">
              <a:buNone/>
            </a:pPr>
            <a:r>
              <a:rPr lang="en-US" sz="780" dirty="0">
                <a:solidFill>
                  <a:srgbClr val="1C1810"/>
                </a:solidFill>
              </a:rPr>
              <a:t>🛡️   Ormuz escala: drones + misiles + carguero atacado → demanda de refugio máxima</a:t>
            </a:r>
            <a:endParaRPr lang="en-US" sz="780" dirty="0"/>
          </a:p>
        </p:txBody>
      </p:sp>
      <p:sp>
        <p:nvSpPr>
          <p:cNvPr id="63" name="Text 61"/>
          <p:cNvSpPr/>
          <p:nvPr/>
        </p:nvSpPr>
        <p:spPr>
          <a:xfrm>
            <a:off x="347472" y="4846320"/>
            <a:ext cx="5248656" cy="237744"/>
          </a:xfrm>
          <a:prstGeom prst="rect">
            <a:avLst/>
          </a:prstGeom>
          <a:noFill/>
          <a:ln/>
        </p:spPr>
        <p:txBody>
          <a:bodyPr wrap="square" rtlCol="0" anchor="ctr"/>
          <a:lstStyle/>
          <a:p>
            <a:pPr indent="0" marL="0">
              <a:buNone/>
            </a:pPr>
            <a:r>
              <a:rPr lang="en-US" sz="780" dirty="0">
                <a:solidFill>
                  <a:srgbClr val="1C1810"/>
                </a:solidFill>
              </a:rPr>
              <a:t>📈  Minutas hawkish → yields bajan desde 5.33% → alivia presión sobre el oro</a:t>
            </a:r>
            <a:endParaRPr lang="en-US" sz="780" dirty="0"/>
          </a:p>
        </p:txBody>
      </p:sp>
      <p:sp>
        <p:nvSpPr>
          <p:cNvPr id="64" name="Text 62"/>
          <p:cNvSpPr/>
          <p:nvPr/>
        </p:nvSpPr>
        <p:spPr>
          <a:xfrm>
            <a:off x="347472" y="5120640"/>
            <a:ext cx="5248656" cy="237744"/>
          </a:xfrm>
          <a:prstGeom prst="rect">
            <a:avLst/>
          </a:prstGeom>
          <a:noFill/>
          <a:ln/>
        </p:spPr>
        <p:txBody>
          <a:bodyPr wrap="square" rtlCol="0" anchor="ctr"/>
          <a:lstStyle/>
          <a:p>
            <a:pPr indent="0" marL="0">
              <a:buNone/>
            </a:pPr>
            <a:r>
              <a:rPr lang="en-US" sz="780" dirty="0">
                <a:solidFill>
                  <a:srgbClr val="1C1810"/>
                </a:solidFill>
              </a:rPr>
              <a:t>💱  Dólar se debilita tras minutas → mayor atractivo del oro en divisas no-USD</a:t>
            </a:r>
            <a:endParaRPr lang="en-US" sz="780" dirty="0"/>
          </a:p>
        </p:txBody>
      </p:sp>
      <p:sp>
        <p:nvSpPr>
          <p:cNvPr id="65" name="Text 63"/>
          <p:cNvSpPr/>
          <p:nvPr/>
        </p:nvSpPr>
        <p:spPr>
          <a:xfrm>
            <a:off x="347472" y="5394960"/>
            <a:ext cx="5248656" cy="237744"/>
          </a:xfrm>
          <a:prstGeom prst="rect">
            <a:avLst/>
          </a:prstGeom>
          <a:noFill/>
          <a:ln/>
        </p:spPr>
        <p:txBody>
          <a:bodyPr wrap="square" rtlCol="0" anchor="ctr"/>
          <a:lstStyle/>
          <a:p>
            <a:pPr indent="0" marL="0">
              <a:buNone/>
            </a:pPr>
            <a:r>
              <a:rPr lang="en-US" sz="780" dirty="0">
                <a:solidFill>
                  <a:srgbClr val="1C1810"/>
                </a:solidFill>
              </a:rPr>
              <a:t>🏆  Acumula +35% en 2026 — activo más rentable del año entre los tradicionales</a:t>
            </a:r>
            <a:endParaRPr lang="en-US" sz="780" dirty="0"/>
          </a:p>
        </p:txBody>
      </p:sp>
      <p:sp>
        <p:nvSpPr>
          <p:cNvPr id="66" name="Shape 64"/>
          <p:cNvSpPr/>
          <p:nvPr/>
        </p:nvSpPr>
        <p:spPr>
          <a:xfrm>
            <a:off x="5989320" y="3236976"/>
            <a:ext cx="5943600" cy="2487168"/>
          </a:xfrm>
          <a:prstGeom prst="rect">
            <a:avLst/>
          </a:prstGeom>
          <a:solidFill>
            <a:srgbClr val="FFFEF8"/>
          </a:solidFill>
          <a:ln w="12700">
            <a:solidFill>
              <a:srgbClr val="D8C8A0"/>
            </a:solidFill>
            <a:prstDash val="solid"/>
          </a:ln>
        </p:spPr>
      </p:sp>
      <p:sp>
        <p:nvSpPr>
          <p:cNvPr id="67" name="Shape 65"/>
          <p:cNvSpPr/>
          <p:nvPr/>
        </p:nvSpPr>
        <p:spPr>
          <a:xfrm>
            <a:off x="5989320" y="3236976"/>
            <a:ext cx="5943600" cy="274320"/>
          </a:xfrm>
          <a:prstGeom prst="rect">
            <a:avLst/>
          </a:prstGeom>
          <a:solidFill>
            <a:srgbClr val="1C1810"/>
          </a:solidFill>
          <a:ln/>
        </p:spPr>
      </p:sp>
      <p:sp>
        <p:nvSpPr>
          <p:cNvPr id="68" name="Text 66"/>
          <p:cNvSpPr/>
          <p:nvPr/>
        </p:nvSpPr>
        <p:spPr>
          <a:xfrm>
            <a:off x="5989320" y="3236976"/>
            <a:ext cx="5943600" cy="274320"/>
          </a:xfrm>
          <a:prstGeom prst="rect">
            <a:avLst/>
          </a:prstGeom>
          <a:noFill/>
          <a:ln/>
        </p:spPr>
        <p:txBody>
          <a:bodyPr wrap="square" rtlCol="0" anchor="ctr"/>
          <a:lstStyle/>
          <a:p>
            <a:pPr algn="ctr" indent="0" marL="0">
              <a:buNone/>
            </a:pPr>
            <a:r>
              <a:rPr lang="en-US" sz="850" b="1" dirty="0">
                <a:solidFill>
                  <a:srgbClr val="FFFFFF"/>
                </a:solidFill>
              </a:rPr>
              <a:t>OTROS ACTIVOS — CIERRE 19 AGO</a:t>
            </a:r>
            <a:endParaRPr lang="en-US" sz="850" dirty="0"/>
          </a:p>
        </p:txBody>
      </p:sp>
      <p:sp>
        <p:nvSpPr>
          <p:cNvPr id="69" name="Text 67"/>
          <p:cNvSpPr/>
          <p:nvPr/>
        </p:nvSpPr>
        <p:spPr>
          <a:xfrm>
            <a:off x="6126480" y="3584448"/>
            <a:ext cx="2011680" cy="329184"/>
          </a:xfrm>
          <a:prstGeom prst="rect">
            <a:avLst/>
          </a:prstGeom>
          <a:noFill/>
          <a:ln/>
        </p:spPr>
        <p:txBody>
          <a:bodyPr wrap="square" rtlCol="0" anchor="ctr"/>
          <a:lstStyle/>
          <a:p>
            <a:pPr indent="0" marL="0">
              <a:buNone/>
            </a:pPr>
            <a:r>
              <a:rPr lang="en-US" sz="850" b="1" dirty="0">
                <a:solidFill>
                  <a:srgbClr val="1C1810"/>
                </a:solidFill>
              </a:rPr>
              <a:t>🥈  Plata</a:t>
            </a:r>
            <a:endParaRPr lang="en-US" sz="850" dirty="0"/>
          </a:p>
        </p:txBody>
      </p:sp>
      <p:sp>
        <p:nvSpPr>
          <p:cNvPr id="70" name="Text 68"/>
          <p:cNvSpPr/>
          <p:nvPr/>
        </p:nvSpPr>
        <p:spPr>
          <a:xfrm>
            <a:off x="8138160" y="3584448"/>
            <a:ext cx="2011680" cy="329184"/>
          </a:xfrm>
          <a:prstGeom prst="rect">
            <a:avLst/>
          </a:prstGeom>
          <a:noFill/>
          <a:ln/>
        </p:spPr>
        <p:txBody>
          <a:bodyPr wrap="square" rtlCol="0" anchor="ctr"/>
          <a:lstStyle/>
          <a:p>
            <a:pPr algn="r" indent="0" marL="0">
              <a:buNone/>
            </a:pPr>
            <a:r>
              <a:rPr lang="en-US" sz="900" dirty="0">
                <a:solidFill>
                  <a:srgbClr val="1C1810"/>
                </a:solidFill>
              </a:rPr>
              <a:t>$65.50/oz</a:t>
            </a:r>
            <a:endParaRPr lang="en-US" sz="900" dirty="0"/>
          </a:p>
        </p:txBody>
      </p:sp>
      <p:sp>
        <p:nvSpPr>
          <p:cNvPr id="71" name="Text 69"/>
          <p:cNvSpPr/>
          <p:nvPr/>
        </p:nvSpPr>
        <p:spPr>
          <a:xfrm>
            <a:off x="10149840" y="3584448"/>
            <a:ext cx="1645920" cy="329184"/>
          </a:xfrm>
          <a:prstGeom prst="rect">
            <a:avLst/>
          </a:prstGeom>
          <a:noFill/>
          <a:ln/>
        </p:spPr>
        <p:txBody>
          <a:bodyPr wrap="square" rtlCol="0" anchor="ctr"/>
          <a:lstStyle/>
          <a:p>
            <a:pPr algn="r" indent="0" marL="0">
              <a:buNone/>
            </a:pPr>
            <a:r>
              <a:rPr lang="en-US" sz="800" b="1" dirty="0">
                <a:solidFill>
                  <a:srgbClr val="2A9050"/>
                </a:solidFill>
              </a:rPr>
              <a:t>Alza · máx 2 meses</a:t>
            </a:r>
            <a:endParaRPr lang="en-US" sz="800" dirty="0"/>
          </a:p>
        </p:txBody>
      </p:sp>
      <p:sp>
        <p:nvSpPr>
          <p:cNvPr id="72" name="Shape 70"/>
          <p:cNvSpPr/>
          <p:nvPr/>
        </p:nvSpPr>
        <p:spPr>
          <a:xfrm>
            <a:off x="6126480" y="3986784"/>
            <a:ext cx="5577840" cy="18288"/>
          </a:xfrm>
          <a:prstGeom prst="rect">
            <a:avLst/>
          </a:prstGeom>
          <a:solidFill>
            <a:srgbClr val="D8C8A0"/>
          </a:solidFill>
          <a:ln/>
        </p:spPr>
      </p:sp>
      <p:sp>
        <p:nvSpPr>
          <p:cNvPr id="73" name="Text 71"/>
          <p:cNvSpPr/>
          <p:nvPr/>
        </p:nvSpPr>
        <p:spPr>
          <a:xfrm>
            <a:off x="6126480" y="4023360"/>
            <a:ext cx="2011680" cy="329184"/>
          </a:xfrm>
          <a:prstGeom prst="rect">
            <a:avLst/>
          </a:prstGeom>
          <a:noFill/>
          <a:ln/>
        </p:spPr>
        <p:txBody>
          <a:bodyPr wrap="square" rtlCol="0" anchor="ctr"/>
          <a:lstStyle/>
          <a:p>
            <a:pPr indent="0" marL="0">
              <a:buNone/>
            </a:pPr>
            <a:r>
              <a:rPr lang="en-US" sz="850" b="1" dirty="0">
                <a:solidFill>
                  <a:srgbClr val="1C1810"/>
                </a:solidFill>
              </a:rPr>
              <a:t>🛢  Brent</a:t>
            </a:r>
            <a:endParaRPr lang="en-US" sz="850" dirty="0"/>
          </a:p>
        </p:txBody>
      </p:sp>
      <p:sp>
        <p:nvSpPr>
          <p:cNvPr id="74" name="Text 72"/>
          <p:cNvSpPr/>
          <p:nvPr/>
        </p:nvSpPr>
        <p:spPr>
          <a:xfrm>
            <a:off x="8138160" y="4023360"/>
            <a:ext cx="2011680" cy="329184"/>
          </a:xfrm>
          <a:prstGeom prst="rect">
            <a:avLst/>
          </a:prstGeom>
          <a:noFill/>
          <a:ln/>
        </p:spPr>
        <p:txBody>
          <a:bodyPr wrap="square" rtlCol="0" anchor="ctr"/>
          <a:lstStyle/>
          <a:p>
            <a:pPr algn="r" indent="0" marL="0">
              <a:buNone/>
            </a:pPr>
            <a:r>
              <a:rPr lang="en-US" sz="900" dirty="0">
                <a:solidFill>
                  <a:srgbClr val="1C1810"/>
                </a:solidFill>
              </a:rPr>
              <a:t>$91.86/bbl</a:t>
            </a:r>
            <a:endParaRPr lang="en-US" sz="900" dirty="0"/>
          </a:p>
        </p:txBody>
      </p:sp>
      <p:sp>
        <p:nvSpPr>
          <p:cNvPr id="75" name="Text 73"/>
          <p:cNvSpPr/>
          <p:nvPr/>
        </p:nvSpPr>
        <p:spPr>
          <a:xfrm>
            <a:off x="10149840" y="4023360"/>
            <a:ext cx="1645920" cy="329184"/>
          </a:xfrm>
          <a:prstGeom prst="rect">
            <a:avLst/>
          </a:prstGeom>
          <a:noFill/>
          <a:ln/>
        </p:spPr>
        <p:txBody>
          <a:bodyPr wrap="square" rtlCol="0" anchor="ctr"/>
          <a:lstStyle/>
          <a:p>
            <a:pPr algn="r" indent="0" marL="0">
              <a:buNone/>
            </a:pPr>
            <a:r>
              <a:rPr lang="en-US" sz="800" b="1" dirty="0">
                <a:solidFill>
                  <a:srgbClr val="B03028"/>
                </a:solidFill>
              </a:rPr>
              <a:t>+0.92% · Ormuz prima</a:t>
            </a:r>
            <a:endParaRPr lang="en-US" sz="800" dirty="0"/>
          </a:p>
        </p:txBody>
      </p:sp>
      <p:sp>
        <p:nvSpPr>
          <p:cNvPr id="76" name="Shape 74"/>
          <p:cNvSpPr/>
          <p:nvPr/>
        </p:nvSpPr>
        <p:spPr>
          <a:xfrm>
            <a:off x="6126480" y="4425696"/>
            <a:ext cx="5577840" cy="18288"/>
          </a:xfrm>
          <a:prstGeom prst="rect">
            <a:avLst/>
          </a:prstGeom>
          <a:solidFill>
            <a:srgbClr val="D8C8A0"/>
          </a:solidFill>
          <a:ln/>
        </p:spPr>
      </p:sp>
      <p:sp>
        <p:nvSpPr>
          <p:cNvPr id="77" name="Text 75"/>
          <p:cNvSpPr/>
          <p:nvPr/>
        </p:nvSpPr>
        <p:spPr>
          <a:xfrm>
            <a:off x="6126480" y="4462272"/>
            <a:ext cx="2011680" cy="329184"/>
          </a:xfrm>
          <a:prstGeom prst="rect">
            <a:avLst/>
          </a:prstGeom>
          <a:noFill/>
          <a:ln/>
        </p:spPr>
        <p:txBody>
          <a:bodyPr wrap="square" rtlCol="0" anchor="ctr"/>
          <a:lstStyle/>
          <a:p>
            <a:pPr indent="0" marL="0">
              <a:buNone/>
            </a:pPr>
            <a:r>
              <a:rPr lang="en-US" sz="850" b="1" dirty="0">
                <a:solidFill>
                  <a:srgbClr val="1C1810"/>
                </a:solidFill>
              </a:rPr>
              <a:t>🛢  WTI</a:t>
            </a:r>
            <a:endParaRPr lang="en-US" sz="850" dirty="0"/>
          </a:p>
        </p:txBody>
      </p:sp>
      <p:sp>
        <p:nvSpPr>
          <p:cNvPr id="78" name="Text 76"/>
          <p:cNvSpPr/>
          <p:nvPr/>
        </p:nvSpPr>
        <p:spPr>
          <a:xfrm>
            <a:off x="8138160" y="4462272"/>
            <a:ext cx="2011680" cy="329184"/>
          </a:xfrm>
          <a:prstGeom prst="rect">
            <a:avLst/>
          </a:prstGeom>
          <a:noFill/>
          <a:ln/>
        </p:spPr>
        <p:txBody>
          <a:bodyPr wrap="square" rtlCol="0" anchor="ctr"/>
          <a:lstStyle/>
          <a:p>
            <a:pPr algn="r" indent="0" marL="0">
              <a:buNone/>
            </a:pPr>
            <a:r>
              <a:rPr lang="en-US" sz="900" dirty="0">
                <a:solidFill>
                  <a:srgbClr val="1C1810"/>
                </a:solidFill>
              </a:rPr>
              <a:t>$86.15/bbl</a:t>
            </a:r>
            <a:endParaRPr lang="en-US" sz="900" dirty="0"/>
          </a:p>
        </p:txBody>
      </p:sp>
      <p:sp>
        <p:nvSpPr>
          <p:cNvPr id="79" name="Text 77"/>
          <p:cNvSpPr/>
          <p:nvPr/>
        </p:nvSpPr>
        <p:spPr>
          <a:xfrm>
            <a:off x="10149840" y="4462272"/>
            <a:ext cx="1645920" cy="329184"/>
          </a:xfrm>
          <a:prstGeom prst="rect">
            <a:avLst/>
          </a:prstGeom>
          <a:noFill/>
          <a:ln/>
        </p:spPr>
        <p:txBody>
          <a:bodyPr wrap="square" rtlCol="0" anchor="ctr"/>
          <a:lstStyle/>
          <a:p>
            <a:pPr algn="r" indent="0" marL="0">
              <a:buNone/>
            </a:pPr>
            <a:r>
              <a:rPr lang="en-US" sz="800" b="1" dirty="0">
                <a:solidFill>
                  <a:srgbClr val="B03028"/>
                </a:solidFill>
              </a:rPr>
              <a:t>+1.42%</a:t>
            </a:r>
            <a:endParaRPr lang="en-US" sz="800" dirty="0"/>
          </a:p>
        </p:txBody>
      </p:sp>
      <p:sp>
        <p:nvSpPr>
          <p:cNvPr id="80" name="Shape 78"/>
          <p:cNvSpPr/>
          <p:nvPr/>
        </p:nvSpPr>
        <p:spPr>
          <a:xfrm>
            <a:off x="6126480" y="4864608"/>
            <a:ext cx="5577840" cy="18288"/>
          </a:xfrm>
          <a:prstGeom prst="rect">
            <a:avLst/>
          </a:prstGeom>
          <a:solidFill>
            <a:srgbClr val="D8C8A0"/>
          </a:solidFill>
          <a:ln/>
        </p:spPr>
      </p:sp>
      <p:sp>
        <p:nvSpPr>
          <p:cNvPr id="81" name="Text 79"/>
          <p:cNvSpPr/>
          <p:nvPr/>
        </p:nvSpPr>
        <p:spPr>
          <a:xfrm>
            <a:off x="6126480" y="4901184"/>
            <a:ext cx="2011680" cy="329184"/>
          </a:xfrm>
          <a:prstGeom prst="rect">
            <a:avLst/>
          </a:prstGeom>
          <a:noFill/>
          <a:ln/>
        </p:spPr>
        <p:txBody>
          <a:bodyPr wrap="square" rtlCol="0" anchor="ctr"/>
          <a:lstStyle/>
          <a:p>
            <a:pPr indent="0" marL="0">
              <a:buNone/>
            </a:pPr>
            <a:r>
              <a:rPr lang="en-US" sz="850" b="1" dirty="0">
                <a:solidFill>
                  <a:srgbClr val="1C1810"/>
                </a:solidFill>
              </a:rPr>
              <a:t>🔵  Cobre</a:t>
            </a:r>
            <a:endParaRPr lang="en-US" sz="850" dirty="0"/>
          </a:p>
        </p:txBody>
      </p:sp>
      <p:sp>
        <p:nvSpPr>
          <p:cNvPr id="82" name="Text 80"/>
          <p:cNvSpPr/>
          <p:nvPr/>
        </p:nvSpPr>
        <p:spPr>
          <a:xfrm>
            <a:off x="8138160" y="4901184"/>
            <a:ext cx="2011680" cy="329184"/>
          </a:xfrm>
          <a:prstGeom prst="rect">
            <a:avLst/>
          </a:prstGeom>
          <a:noFill/>
          <a:ln/>
        </p:spPr>
        <p:txBody>
          <a:bodyPr wrap="square" rtlCol="0" anchor="ctr"/>
          <a:lstStyle/>
          <a:p>
            <a:pPr algn="r" indent="0" marL="0">
              <a:buNone/>
            </a:pPr>
            <a:r>
              <a:rPr lang="en-US" sz="900" dirty="0">
                <a:solidFill>
                  <a:srgbClr val="1C1810"/>
                </a:solidFill>
              </a:rPr>
              <a:t>$6.49/lb</a:t>
            </a:r>
            <a:endParaRPr lang="en-US" sz="900" dirty="0"/>
          </a:p>
        </p:txBody>
      </p:sp>
      <p:sp>
        <p:nvSpPr>
          <p:cNvPr id="83" name="Text 81"/>
          <p:cNvSpPr/>
          <p:nvPr/>
        </p:nvSpPr>
        <p:spPr>
          <a:xfrm>
            <a:off x="10149840" y="4901184"/>
            <a:ext cx="1645920" cy="329184"/>
          </a:xfrm>
          <a:prstGeom prst="rect">
            <a:avLst/>
          </a:prstGeom>
          <a:noFill/>
          <a:ln/>
        </p:spPr>
        <p:txBody>
          <a:bodyPr wrap="square" rtlCol="0" anchor="ctr"/>
          <a:lstStyle/>
          <a:p>
            <a:pPr algn="r" indent="0" marL="0">
              <a:buNone/>
            </a:pPr>
            <a:r>
              <a:rPr lang="en-US" sz="800" b="1" dirty="0">
                <a:solidFill>
                  <a:srgbClr val="2A9050"/>
                </a:solidFill>
              </a:rPr>
              <a:t>+0.06%</a:t>
            </a:r>
            <a:endParaRPr lang="en-US" sz="800" dirty="0"/>
          </a:p>
        </p:txBody>
      </p:sp>
      <p:sp>
        <p:nvSpPr>
          <p:cNvPr id="84" name="Shape 82"/>
          <p:cNvSpPr/>
          <p:nvPr/>
        </p:nvSpPr>
        <p:spPr>
          <a:xfrm>
            <a:off x="6126480" y="5303520"/>
            <a:ext cx="5577840" cy="18288"/>
          </a:xfrm>
          <a:prstGeom prst="rect">
            <a:avLst/>
          </a:prstGeom>
          <a:solidFill>
            <a:srgbClr val="D8C8A0"/>
          </a:solidFill>
          <a:ln/>
        </p:spPr>
      </p:sp>
      <p:sp>
        <p:nvSpPr>
          <p:cNvPr id="85" name="Text 83"/>
          <p:cNvSpPr/>
          <p:nvPr/>
        </p:nvSpPr>
        <p:spPr>
          <a:xfrm>
            <a:off x="6126480" y="5340096"/>
            <a:ext cx="2011680" cy="329184"/>
          </a:xfrm>
          <a:prstGeom prst="rect">
            <a:avLst/>
          </a:prstGeom>
          <a:noFill/>
          <a:ln/>
        </p:spPr>
        <p:txBody>
          <a:bodyPr wrap="square" rtlCol="0" anchor="ctr"/>
          <a:lstStyle/>
          <a:p>
            <a:pPr indent="0" marL="0">
              <a:buNone/>
            </a:pPr>
            <a:r>
              <a:rPr lang="en-US" sz="850" b="1" dirty="0">
                <a:solidFill>
                  <a:srgbClr val="1C1810"/>
                </a:solidFill>
              </a:rPr>
              <a:t>🔥  Gas Natural</a:t>
            </a:r>
            <a:endParaRPr lang="en-US" sz="850" dirty="0"/>
          </a:p>
        </p:txBody>
      </p:sp>
      <p:sp>
        <p:nvSpPr>
          <p:cNvPr id="86" name="Text 84"/>
          <p:cNvSpPr/>
          <p:nvPr/>
        </p:nvSpPr>
        <p:spPr>
          <a:xfrm>
            <a:off x="8138160" y="5340096"/>
            <a:ext cx="2011680" cy="329184"/>
          </a:xfrm>
          <a:prstGeom prst="rect">
            <a:avLst/>
          </a:prstGeom>
          <a:noFill/>
          <a:ln/>
        </p:spPr>
        <p:txBody>
          <a:bodyPr wrap="square" rtlCol="0" anchor="ctr"/>
          <a:lstStyle/>
          <a:p>
            <a:pPr algn="r" indent="0" marL="0">
              <a:buNone/>
            </a:pPr>
            <a:r>
              <a:rPr lang="en-US" sz="900" dirty="0">
                <a:solidFill>
                  <a:srgbClr val="1C1810"/>
                </a:solidFill>
              </a:rPr>
              <a:t>~+1%</a:t>
            </a:r>
            <a:endParaRPr lang="en-US" sz="900" dirty="0"/>
          </a:p>
        </p:txBody>
      </p:sp>
      <p:sp>
        <p:nvSpPr>
          <p:cNvPr id="87" name="Text 85"/>
          <p:cNvSpPr/>
          <p:nvPr/>
        </p:nvSpPr>
        <p:spPr>
          <a:xfrm>
            <a:off x="10149840" y="5340096"/>
            <a:ext cx="1645920" cy="329184"/>
          </a:xfrm>
          <a:prstGeom prst="rect">
            <a:avLst/>
          </a:prstGeom>
          <a:noFill/>
          <a:ln/>
        </p:spPr>
        <p:txBody>
          <a:bodyPr wrap="square" rtlCol="0" anchor="ctr"/>
          <a:lstStyle/>
          <a:p>
            <a:pPr algn="r" indent="0" marL="0">
              <a:buNone/>
            </a:pPr>
            <a:r>
              <a:rPr lang="en-US" sz="800" b="1" dirty="0">
                <a:solidFill>
                  <a:srgbClr val="B87820"/>
                </a:solidFill>
              </a:rPr>
              <a:t>Sin confirmar</a:t>
            </a:r>
            <a:endParaRPr lang="en-US" sz="800" dirty="0"/>
          </a:p>
        </p:txBody>
      </p:sp>
      <p:sp>
        <p:nvSpPr>
          <p:cNvPr id="88" name="Shape 86"/>
          <p:cNvSpPr/>
          <p:nvPr/>
        </p:nvSpPr>
        <p:spPr>
          <a:xfrm>
            <a:off x="0" y="6510528"/>
            <a:ext cx="12161520" cy="347472"/>
          </a:xfrm>
          <a:prstGeom prst="rect">
            <a:avLst/>
          </a:prstGeom>
          <a:solidFill>
            <a:srgbClr val="1C1810"/>
          </a:solidFill>
          <a:ln/>
        </p:spPr>
      </p:sp>
      <p:sp>
        <p:nvSpPr>
          <p:cNvPr id="89" name="Text 87"/>
          <p:cNvSpPr/>
          <p:nvPr/>
        </p:nvSpPr>
        <p:spPr>
          <a:xfrm>
            <a:off x="164592" y="6510528"/>
            <a:ext cx="11795760" cy="347472"/>
          </a:xfrm>
          <a:prstGeom prst="rect">
            <a:avLst/>
          </a:prstGeom>
          <a:noFill/>
          <a:ln/>
        </p:spPr>
        <p:txBody>
          <a:bodyPr wrap="square" rtlCol="0" anchor="ctr"/>
          <a:lstStyle/>
          <a:p>
            <a:pPr indent="0" marL="0">
              <a:buNone/>
            </a:pPr>
            <a:r>
              <a:rPr lang="en-US" sz="680" dirty="0">
                <a:solidFill>
                  <a:srgbClr val="B09868"/>
                </a:solidFill>
              </a:rPr>
              <a:t>Fuentes: ABC News · Yahoo Finance · Forbes Advisor · Trading Economics · CNBC · Rio Times  |  Análisis informativo — No constituye asesoría financiera.  3 / 5</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AF8F2"/>
          </a:solidFill>
          <a:ln/>
        </p:spPr>
      </p:sp>
      <p:sp>
        <p:nvSpPr>
          <p:cNvPr id="3" name="Shape 1"/>
          <p:cNvSpPr/>
          <p:nvPr/>
        </p:nvSpPr>
        <p:spPr>
          <a:xfrm>
            <a:off x="0" y="0"/>
            <a:ext cx="12161520" cy="347472"/>
          </a:xfrm>
          <a:prstGeom prst="rect">
            <a:avLst/>
          </a:prstGeom>
          <a:solidFill>
            <a:srgbClr val="1C1810"/>
          </a:solidFill>
          <a:ln/>
        </p:spPr>
      </p:sp>
      <p:sp>
        <p:nvSpPr>
          <p:cNvPr id="4" name="Text 2"/>
          <p:cNvSpPr/>
          <p:nvPr/>
        </p:nvSpPr>
        <p:spPr>
          <a:xfrm>
            <a:off x="164592" y="0"/>
            <a:ext cx="8229600" cy="347472"/>
          </a:xfrm>
          <a:prstGeom prst="rect">
            <a:avLst/>
          </a:prstGeom>
          <a:noFill/>
          <a:ln/>
        </p:spPr>
        <p:txBody>
          <a:bodyPr wrap="square" rtlCol="0" anchor="ctr"/>
          <a:lstStyle/>
          <a:p>
            <a:pPr indent="0" marL="0">
              <a:buNone/>
            </a:pPr>
            <a:r>
              <a:rPr lang="en-US" sz="850" dirty="0">
                <a:solidFill>
                  <a:srgbClr val="B09868"/>
                </a:solidFill>
              </a:rPr>
              <a:t>Divisas &amp; Commodities — 19 agosto 2026</a:t>
            </a:r>
            <a:endParaRPr lang="en-US" sz="850" dirty="0"/>
          </a:p>
        </p:txBody>
      </p:sp>
      <p:sp>
        <p:nvSpPr>
          <p:cNvPr id="5" name="Text 3"/>
          <p:cNvSpPr/>
          <p:nvPr/>
        </p:nvSpPr>
        <p:spPr>
          <a:xfrm>
            <a:off x="8503920" y="0"/>
            <a:ext cx="3474720" cy="347472"/>
          </a:xfrm>
          <a:prstGeom prst="rect">
            <a:avLst/>
          </a:prstGeom>
          <a:noFill/>
          <a:ln/>
        </p:spPr>
        <p:txBody>
          <a:bodyPr wrap="square" rtlCol="0" anchor="ctr"/>
          <a:lstStyle/>
          <a:p>
            <a:pPr algn="r" indent="0" marL="0">
              <a:buNone/>
            </a:pPr>
            <a:r>
              <a:rPr lang="en-US" sz="850" dirty="0">
                <a:solidFill>
                  <a:srgbClr val="B09868"/>
                </a:solidFill>
              </a:rPr>
              <a:t>Miércoles 19 agosto 2026</a:t>
            </a:r>
            <a:endParaRPr lang="en-US" sz="850" dirty="0"/>
          </a:p>
        </p:txBody>
      </p:sp>
      <p:sp>
        <p:nvSpPr>
          <p:cNvPr id="6" name="Text 4"/>
          <p:cNvSpPr/>
          <p:nvPr/>
        </p:nvSpPr>
        <p:spPr>
          <a:xfrm>
            <a:off x="228600" y="411480"/>
            <a:ext cx="11704320" cy="347472"/>
          </a:xfrm>
          <a:prstGeom prst="rect">
            <a:avLst/>
          </a:prstGeom>
          <a:noFill/>
          <a:ln/>
        </p:spPr>
        <p:txBody>
          <a:bodyPr wrap="square" rtlCol="0" anchor="ctr"/>
          <a:lstStyle/>
          <a:p>
            <a:pPr indent="0" marL="0">
              <a:buNone/>
            </a:pPr>
            <a:r>
              <a:rPr lang="en-US" sz="1400" b="1" dirty="0">
                <a:solidFill>
                  <a:srgbClr val="1C1810"/>
                </a:solidFill>
              </a:rPr>
              <a:t>Divisas &amp; Commodities — 19 agosto 2026</a:t>
            </a:r>
            <a:endParaRPr lang="en-US" sz="1400" dirty="0"/>
          </a:p>
        </p:txBody>
      </p:sp>
      <p:sp>
        <p:nvSpPr>
          <p:cNvPr id="7" name="Shape 5"/>
          <p:cNvSpPr/>
          <p:nvPr/>
        </p:nvSpPr>
        <p:spPr>
          <a:xfrm>
            <a:off x="228600" y="822960"/>
            <a:ext cx="3749040" cy="3520440"/>
          </a:xfrm>
          <a:prstGeom prst="rect">
            <a:avLst/>
          </a:prstGeom>
          <a:solidFill>
            <a:srgbClr val="FFFEF8"/>
          </a:solidFill>
          <a:ln w="12700">
            <a:solidFill>
              <a:srgbClr val="D8C8A0"/>
            </a:solidFill>
            <a:prstDash val="solid"/>
          </a:ln>
        </p:spPr>
      </p:sp>
      <p:sp>
        <p:nvSpPr>
          <p:cNvPr id="8" name="Shape 6"/>
          <p:cNvSpPr/>
          <p:nvPr/>
        </p:nvSpPr>
        <p:spPr>
          <a:xfrm>
            <a:off x="228600" y="822960"/>
            <a:ext cx="3749040" cy="256032"/>
          </a:xfrm>
          <a:prstGeom prst="rect">
            <a:avLst/>
          </a:prstGeom>
          <a:solidFill>
            <a:srgbClr val="1C1810"/>
          </a:solidFill>
          <a:ln/>
        </p:spPr>
      </p:sp>
      <p:sp>
        <p:nvSpPr>
          <p:cNvPr id="9" name="Text 7"/>
          <p:cNvSpPr/>
          <p:nvPr/>
        </p:nvSpPr>
        <p:spPr>
          <a:xfrm>
            <a:off x="228600" y="822960"/>
            <a:ext cx="3749040" cy="256032"/>
          </a:xfrm>
          <a:prstGeom prst="rect">
            <a:avLst/>
          </a:prstGeom>
          <a:noFill/>
          <a:ln/>
        </p:spPr>
        <p:txBody>
          <a:bodyPr wrap="square" rtlCol="0" anchor="ctr"/>
          <a:lstStyle/>
          <a:p>
            <a:pPr algn="ctr" indent="0" marL="0">
              <a:buNone/>
            </a:pPr>
            <a:r>
              <a:rPr lang="en-US" sz="850" b="1" dirty="0">
                <a:solidFill>
                  <a:srgbClr val="FFFFFF"/>
                </a:solidFill>
              </a:rPr>
              <a:t>TIPO DE CAMBIO</a:t>
            </a:r>
            <a:endParaRPr lang="en-US" sz="850" dirty="0"/>
          </a:p>
        </p:txBody>
      </p:sp>
      <p:sp>
        <p:nvSpPr>
          <p:cNvPr id="10" name="Text 8"/>
          <p:cNvSpPr/>
          <p:nvPr/>
        </p:nvSpPr>
        <p:spPr>
          <a:xfrm>
            <a:off x="347472" y="1115568"/>
            <a:ext cx="3383280" cy="219456"/>
          </a:xfrm>
          <a:prstGeom prst="rect">
            <a:avLst/>
          </a:prstGeom>
          <a:noFill/>
          <a:ln/>
        </p:spPr>
        <p:txBody>
          <a:bodyPr wrap="square" rtlCol="0" anchor="ctr"/>
          <a:lstStyle/>
          <a:p>
            <a:pPr indent="0" marL="0">
              <a:buNone/>
            </a:pPr>
            <a:r>
              <a:rPr lang="en-US" sz="800" b="1" dirty="0">
                <a:solidFill>
                  <a:srgbClr val="7A6040"/>
                </a:solidFill>
              </a:rPr>
              <a:t>USD / MXN</a:t>
            </a:r>
            <a:endParaRPr lang="en-US" sz="800" dirty="0"/>
          </a:p>
        </p:txBody>
      </p:sp>
      <p:sp>
        <p:nvSpPr>
          <p:cNvPr id="11" name="Text 9"/>
          <p:cNvSpPr/>
          <p:nvPr/>
        </p:nvSpPr>
        <p:spPr>
          <a:xfrm>
            <a:off x="347472" y="1335024"/>
            <a:ext cx="3383280" cy="457200"/>
          </a:xfrm>
          <a:prstGeom prst="rect">
            <a:avLst/>
          </a:prstGeom>
          <a:noFill/>
          <a:ln/>
        </p:spPr>
        <p:txBody>
          <a:bodyPr wrap="square" rtlCol="0" anchor="ctr"/>
          <a:lstStyle/>
          <a:p>
            <a:pPr indent="0" marL="0">
              <a:buNone/>
            </a:pPr>
            <a:r>
              <a:rPr lang="en-US" sz="2400" b="1" dirty="0">
                <a:solidFill>
                  <a:srgbClr val="2A9050"/>
                </a:solidFill>
              </a:rPr>
              <a:t>$17.03</a:t>
            </a:r>
            <a:endParaRPr lang="en-US" sz="2400" dirty="0"/>
          </a:p>
        </p:txBody>
      </p:sp>
      <p:sp>
        <p:nvSpPr>
          <p:cNvPr id="12" name="Shape 10"/>
          <p:cNvSpPr/>
          <p:nvPr/>
        </p:nvSpPr>
        <p:spPr>
          <a:xfrm>
            <a:off x="347472" y="1810512"/>
            <a:ext cx="2011680" cy="201168"/>
          </a:xfrm>
          <a:prstGeom prst="rect">
            <a:avLst/>
          </a:prstGeom>
          <a:solidFill>
            <a:srgbClr val="E0F4E8"/>
          </a:solidFill>
          <a:ln/>
        </p:spPr>
      </p:sp>
      <p:sp>
        <p:nvSpPr>
          <p:cNvPr id="13" name="Text 11"/>
          <p:cNvSpPr/>
          <p:nvPr/>
        </p:nvSpPr>
        <p:spPr>
          <a:xfrm>
            <a:off x="347472" y="1810512"/>
            <a:ext cx="2011680" cy="201168"/>
          </a:xfrm>
          <a:prstGeom prst="rect">
            <a:avLst/>
          </a:prstGeom>
          <a:noFill/>
          <a:ln/>
        </p:spPr>
        <p:txBody>
          <a:bodyPr wrap="square" rtlCol="0" anchor="ctr"/>
          <a:lstStyle/>
          <a:p>
            <a:pPr algn="ctr" indent="0" marL="0">
              <a:buNone/>
            </a:pPr>
            <a:r>
              <a:rPr lang="en-US" sz="800" b="1" dirty="0">
                <a:solidFill>
                  <a:srgbClr val="2A9050"/>
                </a:solidFill>
              </a:rPr>
              <a:t>▲ −0.23% (peso aprecia)</a:t>
            </a:r>
            <a:endParaRPr lang="en-US" sz="800" dirty="0"/>
          </a:p>
        </p:txBody>
      </p:sp>
      <p:sp>
        <p:nvSpPr>
          <p:cNvPr id="14" name="Text 12"/>
          <p:cNvSpPr/>
          <p:nvPr/>
        </p:nvSpPr>
        <p:spPr>
          <a:xfrm>
            <a:off x="347472" y="2029968"/>
            <a:ext cx="3383280" cy="164592"/>
          </a:xfrm>
          <a:prstGeom prst="rect">
            <a:avLst/>
          </a:prstGeom>
          <a:noFill/>
          <a:ln/>
        </p:spPr>
        <p:txBody>
          <a:bodyPr wrap="square" rtlCol="0" anchor="ctr"/>
          <a:lstStyle/>
          <a:p>
            <a:pPr indent="0" marL="0">
              <a:buNone/>
            </a:pPr>
            <a:r>
              <a:rPr lang="en-US" sz="700" dirty="0">
                <a:solidFill>
                  <a:srgbClr val="7A6040"/>
                </a:solidFill>
              </a:rPr>
              <a:t>Cierre NY · FIX Banxico ~$17.03</a:t>
            </a:r>
            <a:endParaRPr lang="en-US" sz="700" dirty="0"/>
          </a:p>
        </p:txBody>
      </p:sp>
      <p:sp>
        <p:nvSpPr>
          <p:cNvPr id="15" name="Shape 13"/>
          <p:cNvSpPr/>
          <p:nvPr/>
        </p:nvSpPr>
        <p:spPr>
          <a:xfrm>
            <a:off x="347472" y="2157984"/>
            <a:ext cx="3383280" cy="18288"/>
          </a:xfrm>
          <a:prstGeom prst="rect">
            <a:avLst/>
          </a:prstGeom>
          <a:solidFill>
            <a:srgbClr val="D8C8A0"/>
          </a:solidFill>
          <a:ln/>
        </p:spPr>
      </p:sp>
      <p:sp>
        <p:nvSpPr>
          <p:cNvPr id="16" name="Text 14"/>
          <p:cNvSpPr/>
          <p:nvPr/>
        </p:nvSpPr>
        <p:spPr>
          <a:xfrm>
            <a:off x="347472" y="2194560"/>
            <a:ext cx="3383280" cy="219456"/>
          </a:xfrm>
          <a:prstGeom prst="rect">
            <a:avLst/>
          </a:prstGeom>
          <a:noFill/>
          <a:ln/>
        </p:spPr>
        <p:txBody>
          <a:bodyPr wrap="square" rtlCol="0" anchor="ctr"/>
          <a:lstStyle/>
          <a:p>
            <a:pPr indent="0" marL="0">
              <a:buNone/>
            </a:pPr>
            <a:r>
              <a:rPr lang="en-US" sz="800" b="1" dirty="0">
                <a:solidFill>
                  <a:srgbClr val="7A6040"/>
                </a:solidFill>
              </a:rPr>
              <a:t>EUR / USD</a:t>
            </a:r>
            <a:endParaRPr lang="en-US" sz="800" dirty="0"/>
          </a:p>
        </p:txBody>
      </p:sp>
      <p:sp>
        <p:nvSpPr>
          <p:cNvPr id="17" name="Text 15"/>
          <p:cNvSpPr/>
          <p:nvPr/>
        </p:nvSpPr>
        <p:spPr>
          <a:xfrm>
            <a:off x="347472" y="2414016"/>
            <a:ext cx="3383280" cy="457200"/>
          </a:xfrm>
          <a:prstGeom prst="rect">
            <a:avLst/>
          </a:prstGeom>
          <a:noFill/>
          <a:ln/>
        </p:spPr>
        <p:txBody>
          <a:bodyPr wrap="square" rtlCol="0" anchor="ctr"/>
          <a:lstStyle/>
          <a:p>
            <a:pPr indent="0" marL="0">
              <a:buNone/>
            </a:pPr>
            <a:r>
              <a:rPr lang="en-US" sz="2400" b="1" dirty="0">
                <a:solidFill>
                  <a:srgbClr val="2A9050"/>
                </a:solidFill>
              </a:rPr>
              <a:t>1.1607</a:t>
            </a:r>
            <a:endParaRPr lang="en-US" sz="2400" dirty="0"/>
          </a:p>
        </p:txBody>
      </p:sp>
      <p:sp>
        <p:nvSpPr>
          <p:cNvPr id="18" name="Shape 16"/>
          <p:cNvSpPr/>
          <p:nvPr/>
        </p:nvSpPr>
        <p:spPr>
          <a:xfrm>
            <a:off x="347472" y="2889504"/>
            <a:ext cx="2011680" cy="201168"/>
          </a:xfrm>
          <a:prstGeom prst="rect">
            <a:avLst/>
          </a:prstGeom>
          <a:solidFill>
            <a:srgbClr val="E0F4E8"/>
          </a:solidFill>
          <a:ln/>
        </p:spPr>
      </p:sp>
      <p:sp>
        <p:nvSpPr>
          <p:cNvPr id="19" name="Text 17"/>
          <p:cNvSpPr/>
          <p:nvPr/>
        </p:nvSpPr>
        <p:spPr>
          <a:xfrm>
            <a:off x="347472" y="2889504"/>
            <a:ext cx="2011680" cy="201168"/>
          </a:xfrm>
          <a:prstGeom prst="rect">
            <a:avLst/>
          </a:prstGeom>
          <a:noFill/>
          <a:ln/>
        </p:spPr>
        <p:txBody>
          <a:bodyPr wrap="square" rtlCol="0" anchor="ctr"/>
          <a:lstStyle/>
          <a:p>
            <a:pPr algn="ctr" indent="0" marL="0">
              <a:buNone/>
            </a:pPr>
            <a:r>
              <a:rPr lang="en-US" sz="800" b="1" dirty="0">
                <a:solidFill>
                  <a:srgbClr val="2A9050"/>
                </a:solidFill>
              </a:rPr>
              <a:t>▲ +0.27%</a:t>
            </a:r>
            <a:endParaRPr lang="en-US" sz="800" dirty="0"/>
          </a:p>
        </p:txBody>
      </p:sp>
      <p:sp>
        <p:nvSpPr>
          <p:cNvPr id="20" name="Text 18"/>
          <p:cNvSpPr/>
          <p:nvPr/>
        </p:nvSpPr>
        <p:spPr>
          <a:xfrm>
            <a:off x="347472" y="3108960"/>
            <a:ext cx="3383280" cy="164592"/>
          </a:xfrm>
          <a:prstGeom prst="rect">
            <a:avLst/>
          </a:prstGeom>
          <a:noFill/>
          <a:ln/>
        </p:spPr>
        <p:txBody>
          <a:bodyPr wrap="square" rtlCol="0" anchor="ctr"/>
          <a:lstStyle/>
          <a:p>
            <a:pPr indent="0" marL="0">
              <a:buNone/>
            </a:pPr>
            <a:r>
              <a:rPr lang="en-US" sz="700" dirty="0">
                <a:solidFill>
                  <a:srgbClr val="7A6040"/>
                </a:solidFill>
              </a:rPr>
              <a:t>+0.27% · Dólar se debilita post-minutas</a:t>
            </a:r>
            <a:endParaRPr lang="en-US" sz="700" dirty="0"/>
          </a:p>
        </p:txBody>
      </p:sp>
      <p:sp>
        <p:nvSpPr>
          <p:cNvPr id="21" name="Shape 19"/>
          <p:cNvSpPr/>
          <p:nvPr/>
        </p:nvSpPr>
        <p:spPr>
          <a:xfrm>
            <a:off x="347472" y="3236976"/>
            <a:ext cx="3383280" cy="18288"/>
          </a:xfrm>
          <a:prstGeom prst="rect">
            <a:avLst/>
          </a:prstGeom>
          <a:solidFill>
            <a:srgbClr val="D8C8A0"/>
          </a:solidFill>
          <a:ln/>
        </p:spPr>
      </p:sp>
      <p:sp>
        <p:nvSpPr>
          <p:cNvPr id="22" name="Text 20"/>
          <p:cNvSpPr/>
          <p:nvPr/>
        </p:nvSpPr>
        <p:spPr>
          <a:xfrm>
            <a:off x="347472" y="3273552"/>
            <a:ext cx="3383280" cy="219456"/>
          </a:xfrm>
          <a:prstGeom prst="rect">
            <a:avLst/>
          </a:prstGeom>
          <a:noFill/>
          <a:ln/>
        </p:spPr>
        <p:txBody>
          <a:bodyPr wrap="square" rtlCol="0" anchor="ctr"/>
          <a:lstStyle/>
          <a:p>
            <a:pPr indent="0" marL="0">
              <a:buNone/>
            </a:pPr>
            <a:r>
              <a:rPr lang="en-US" sz="800" b="1" dirty="0">
                <a:solidFill>
                  <a:srgbClr val="7A6040"/>
                </a:solidFill>
              </a:rPr>
              <a:t>EUR / MXN</a:t>
            </a:r>
            <a:endParaRPr lang="en-US" sz="800" dirty="0"/>
          </a:p>
        </p:txBody>
      </p:sp>
      <p:sp>
        <p:nvSpPr>
          <p:cNvPr id="23" name="Text 21"/>
          <p:cNvSpPr/>
          <p:nvPr/>
        </p:nvSpPr>
        <p:spPr>
          <a:xfrm>
            <a:off x="347472" y="3493008"/>
            <a:ext cx="3383280" cy="457200"/>
          </a:xfrm>
          <a:prstGeom prst="rect">
            <a:avLst/>
          </a:prstGeom>
          <a:noFill/>
          <a:ln/>
        </p:spPr>
        <p:txBody>
          <a:bodyPr wrap="square" rtlCol="0" anchor="ctr"/>
          <a:lstStyle/>
          <a:p>
            <a:pPr indent="0" marL="0">
              <a:buNone/>
            </a:pPr>
            <a:r>
              <a:rPr lang="en-US" sz="2400" b="1" dirty="0">
                <a:solidFill>
                  <a:srgbClr val="1C1810"/>
                </a:solidFill>
              </a:rPr>
              <a:t>~$19.77</a:t>
            </a:r>
            <a:endParaRPr lang="en-US" sz="2400" dirty="0"/>
          </a:p>
        </p:txBody>
      </p:sp>
      <p:sp>
        <p:nvSpPr>
          <p:cNvPr id="24" name="Text 22"/>
          <p:cNvSpPr/>
          <p:nvPr/>
        </p:nvSpPr>
        <p:spPr>
          <a:xfrm>
            <a:off x="347472" y="3968496"/>
            <a:ext cx="3200400" cy="201168"/>
          </a:xfrm>
          <a:prstGeom prst="rect">
            <a:avLst/>
          </a:prstGeom>
          <a:noFill/>
          <a:ln/>
        </p:spPr>
        <p:txBody>
          <a:bodyPr wrap="square" rtlCol="0" anchor="ctr"/>
          <a:lstStyle/>
          <a:p>
            <a:pPr indent="0" marL="0">
              <a:buNone/>
            </a:pPr>
            <a:r>
              <a:rPr lang="en-US" sz="750" dirty="0">
                <a:solidFill>
                  <a:srgbClr val="7A6040"/>
                </a:solidFill>
              </a:rPr>
              <a:t>≈ sin cambio</a:t>
            </a:r>
            <a:endParaRPr lang="en-US" sz="750" dirty="0"/>
          </a:p>
        </p:txBody>
      </p:sp>
      <p:sp>
        <p:nvSpPr>
          <p:cNvPr id="25" name="Text 23"/>
          <p:cNvSpPr/>
          <p:nvPr/>
        </p:nvSpPr>
        <p:spPr>
          <a:xfrm>
            <a:off x="347472" y="4187952"/>
            <a:ext cx="3383280" cy="164592"/>
          </a:xfrm>
          <a:prstGeom prst="rect">
            <a:avLst/>
          </a:prstGeom>
          <a:noFill/>
          <a:ln/>
        </p:spPr>
        <p:txBody>
          <a:bodyPr wrap="square" rtlCol="0" anchor="ctr"/>
          <a:lstStyle/>
          <a:p>
            <a:pPr indent="0" marL="0">
              <a:buNone/>
            </a:pPr>
            <a:r>
              <a:rPr lang="en-US" sz="700" dirty="0">
                <a:solidFill>
                  <a:srgbClr val="7A6040"/>
                </a:solidFill>
              </a:rPr>
              <a:t>Calculado: 1.1607 × 17.03</a:t>
            </a:r>
            <a:endParaRPr lang="en-US" sz="700" dirty="0"/>
          </a:p>
        </p:txBody>
      </p:sp>
      <p:sp>
        <p:nvSpPr>
          <p:cNvPr id="26" name="Shape 24"/>
          <p:cNvSpPr/>
          <p:nvPr/>
        </p:nvSpPr>
        <p:spPr>
          <a:xfrm>
            <a:off x="347472" y="4325112"/>
            <a:ext cx="3383280" cy="18288"/>
          </a:xfrm>
          <a:prstGeom prst="rect">
            <a:avLst/>
          </a:prstGeom>
          <a:solidFill>
            <a:srgbClr val="D8C8A0"/>
          </a:solidFill>
          <a:ln/>
        </p:spPr>
      </p:sp>
      <p:sp>
        <p:nvSpPr>
          <p:cNvPr id="27" name="Text 25"/>
          <p:cNvSpPr/>
          <p:nvPr/>
        </p:nvSpPr>
        <p:spPr>
          <a:xfrm>
            <a:off x="347472" y="4361688"/>
            <a:ext cx="3383280" cy="384048"/>
          </a:xfrm>
          <a:prstGeom prst="rect">
            <a:avLst/>
          </a:prstGeom>
          <a:noFill/>
          <a:ln/>
        </p:spPr>
        <p:txBody>
          <a:bodyPr wrap="square" rtlCol="0" anchor="ctr"/>
          <a:lstStyle/>
          <a:p>
            <a:pPr indent="0" marL="0">
              <a:buNone/>
            </a:pPr>
            <a:r>
              <a:rPr lang="en-US" sz="720" i="1" dirty="0">
                <a:solidFill>
                  <a:srgbClr val="7A6040"/>
                </a:solidFill>
              </a:rPr>
              <a:t>Superpeso vuelve a máximos de 24 meses a pesar de minutas hawkish. Carry trade MXN: 83,700 contratos netos en CME = récord institucional.</a:t>
            </a:r>
            <a:endParaRPr lang="en-US" sz="720" dirty="0"/>
          </a:p>
        </p:txBody>
      </p:sp>
      <p:sp>
        <p:nvSpPr>
          <p:cNvPr id="28" name="Shape 26"/>
          <p:cNvSpPr/>
          <p:nvPr/>
        </p:nvSpPr>
        <p:spPr>
          <a:xfrm>
            <a:off x="4160520" y="822960"/>
            <a:ext cx="7772400" cy="3520440"/>
          </a:xfrm>
          <a:prstGeom prst="rect">
            <a:avLst/>
          </a:prstGeom>
          <a:solidFill>
            <a:srgbClr val="FFFEF8"/>
          </a:solidFill>
          <a:ln w="12700">
            <a:solidFill>
              <a:srgbClr val="D8C8A0"/>
            </a:solidFill>
            <a:prstDash val="solid"/>
          </a:ln>
        </p:spPr>
      </p:sp>
      <p:sp>
        <p:nvSpPr>
          <p:cNvPr id="29" name="Shape 27"/>
          <p:cNvSpPr/>
          <p:nvPr/>
        </p:nvSpPr>
        <p:spPr>
          <a:xfrm>
            <a:off x="4160520" y="822960"/>
            <a:ext cx="7772400" cy="256032"/>
          </a:xfrm>
          <a:prstGeom prst="rect">
            <a:avLst/>
          </a:prstGeom>
          <a:solidFill>
            <a:srgbClr val="1C1810"/>
          </a:solidFill>
          <a:ln/>
        </p:spPr>
      </p:sp>
      <p:sp>
        <p:nvSpPr>
          <p:cNvPr id="30" name="Text 28"/>
          <p:cNvSpPr/>
          <p:nvPr/>
        </p:nvSpPr>
        <p:spPr>
          <a:xfrm>
            <a:off x="4160520" y="822960"/>
            <a:ext cx="7772400" cy="256032"/>
          </a:xfrm>
          <a:prstGeom prst="rect">
            <a:avLst/>
          </a:prstGeom>
          <a:noFill/>
          <a:ln/>
        </p:spPr>
        <p:txBody>
          <a:bodyPr wrap="square" rtlCol="0" anchor="ctr"/>
          <a:lstStyle/>
          <a:p>
            <a:pPr algn="ctr" indent="0" marL="0">
              <a:buNone/>
            </a:pPr>
            <a:r>
              <a:rPr lang="en-US" sz="850" b="1" dirty="0">
                <a:solidFill>
                  <a:srgbClr val="FFFFFF"/>
                </a:solidFill>
              </a:rPr>
              <a:t>COMMODITIES — CIERRE 19 AGOSTO · ORO LIDERÓ TODA LA SESIÓN</a:t>
            </a:r>
            <a:endParaRPr lang="en-US" sz="850" dirty="0"/>
          </a:p>
        </p:txBody>
      </p:sp>
      <p:sp>
        <p:nvSpPr>
          <p:cNvPr id="31" name="Shape 29"/>
          <p:cNvSpPr/>
          <p:nvPr/>
        </p:nvSpPr>
        <p:spPr>
          <a:xfrm>
            <a:off x="4251960" y="1097280"/>
            <a:ext cx="3657600" cy="1024128"/>
          </a:xfrm>
          <a:prstGeom prst="rect">
            <a:avLst/>
          </a:prstGeom>
          <a:solidFill>
            <a:srgbClr val="FAF4D8"/>
          </a:solidFill>
          <a:ln w="12700">
            <a:solidFill>
              <a:srgbClr val="C89C10"/>
            </a:solidFill>
            <a:prstDash val="solid"/>
          </a:ln>
        </p:spPr>
      </p:sp>
      <p:sp>
        <p:nvSpPr>
          <p:cNvPr id="32" name="Text 30"/>
          <p:cNvSpPr/>
          <p:nvPr/>
        </p:nvSpPr>
        <p:spPr>
          <a:xfrm>
            <a:off x="4297680" y="1133856"/>
            <a:ext cx="3474720" cy="237744"/>
          </a:xfrm>
          <a:prstGeom prst="rect">
            <a:avLst/>
          </a:prstGeom>
          <a:noFill/>
          <a:ln/>
        </p:spPr>
        <p:txBody>
          <a:bodyPr wrap="square" rtlCol="0" anchor="ctr"/>
          <a:lstStyle/>
          <a:p>
            <a:pPr indent="0" marL="0">
              <a:buNone/>
            </a:pPr>
            <a:r>
              <a:rPr lang="en-US" sz="900" b="1" dirty="0">
                <a:solidFill>
                  <a:srgbClr val="1C1810"/>
                </a:solidFill>
              </a:rPr>
              <a:t>🥇  Oro</a:t>
            </a:r>
            <a:endParaRPr lang="en-US" sz="900" dirty="0"/>
          </a:p>
        </p:txBody>
      </p:sp>
      <p:sp>
        <p:nvSpPr>
          <p:cNvPr id="33" name="Text 31"/>
          <p:cNvSpPr/>
          <p:nvPr/>
        </p:nvSpPr>
        <p:spPr>
          <a:xfrm>
            <a:off x="4297680" y="1389888"/>
            <a:ext cx="2377440" cy="347472"/>
          </a:xfrm>
          <a:prstGeom prst="rect">
            <a:avLst/>
          </a:prstGeom>
          <a:noFill/>
          <a:ln/>
        </p:spPr>
        <p:txBody>
          <a:bodyPr wrap="square" rtlCol="0" anchor="ctr"/>
          <a:lstStyle/>
          <a:p>
            <a:pPr indent="0" marL="0">
              <a:buNone/>
            </a:pPr>
            <a:r>
              <a:rPr lang="en-US" sz="1300" b="1" dirty="0">
                <a:solidFill>
                  <a:srgbClr val="1C1810"/>
                </a:solidFill>
              </a:rPr>
              <a:t>$4,493.39/oz</a:t>
            </a:r>
            <a:endParaRPr lang="en-US" sz="1300" dirty="0"/>
          </a:p>
        </p:txBody>
      </p:sp>
      <p:sp>
        <p:nvSpPr>
          <p:cNvPr id="34" name="Text 32"/>
          <p:cNvSpPr/>
          <p:nvPr/>
        </p:nvSpPr>
        <p:spPr>
          <a:xfrm>
            <a:off x="6583680" y="1389888"/>
            <a:ext cx="1280160" cy="347472"/>
          </a:xfrm>
          <a:prstGeom prst="rect">
            <a:avLst/>
          </a:prstGeom>
          <a:noFill/>
          <a:ln/>
        </p:spPr>
        <p:txBody>
          <a:bodyPr wrap="square" rtlCol="0" anchor="ctr"/>
          <a:lstStyle/>
          <a:p>
            <a:pPr algn="r" indent="0" marL="0">
              <a:buNone/>
            </a:pPr>
            <a:r>
              <a:rPr lang="en-US" sz="1100" b="1" dirty="0">
                <a:solidFill>
                  <a:srgbClr val="2A9050"/>
                </a:solidFill>
              </a:rPr>
              <a:t>+3.66%</a:t>
            </a:r>
            <a:endParaRPr lang="en-US" sz="1100" dirty="0"/>
          </a:p>
        </p:txBody>
      </p:sp>
      <p:sp>
        <p:nvSpPr>
          <p:cNvPr id="35" name="Text 33"/>
          <p:cNvSpPr/>
          <p:nvPr/>
        </p:nvSpPr>
        <p:spPr>
          <a:xfrm>
            <a:off x="4297680" y="1755648"/>
            <a:ext cx="3474720" cy="182880"/>
          </a:xfrm>
          <a:prstGeom prst="rect">
            <a:avLst/>
          </a:prstGeom>
          <a:noFill/>
          <a:ln/>
        </p:spPr>
        <p:txBody>
          <a:bodyPr wrap="square" rtlCol="0" anchor="ctr"/>
          <a:lstStyle/>
          <a:p>
            <a:pPr indent="0" marL="0">
              <a:buNone/>
            </a:pPr>
            <a:r>
              <a:rPr lang="en-US" sz="700" dirty="0">
                <a:solidFill>
                  <a:srgbClr val="7A6040"/>
                </a:solidFill>
              </a:rPr>
              <a:t>Récord histórico · Refugio máximo</a:t>
            </a:r>
            <a:endParaRPr lang="en-US" sz="700" dirty="0"/>
          </a:p>
        </p:txBody>
      </p:sp>
      <p:sp>
        <p:nvSpPr>
          <p:cNvPr id="36" name="Shape 34"/>
          <p:cNvSpPr/>
          <p:nvPr/>
        </p:nvSpPr>
        <p:spPr>
          <a:xfrm>
            <a:off x="4297680" y="2157984"/>
            <a:ext cx="3474720" cy="18288"/>
          </a:xfrm>
          <a:prstGeom prst="rect">
            <a:avLst/>
          </a:prstGeom>
          <a:solidFill>
            <a:srgbClr val="D8C8A0"/>
          </a:solidFill>
          <a:ln/>
        </p:spPr>
      </p:sp>
      <p:sp>
        <p:nvSpPr>
          <p:cNvPr id="37" name="Text 35"/>
          <p:cNvSpPr/>
          <p:nvPr/>
        </p:nvSpPr>
        <p:spPr>
          <a:xfrm>
            <a:off x="4297680" y="2212848"/>
            <a:ext cx="3474720" cy="237744"/>
          </a:xfrm>
          <a:prstGeom prst="rect">
            <a:avLst/>
          </a:prstGeom>
          <a:noFill/>
          <a:ln/>
        </p:spPr>
        <p:txBody>
          <a:bodyPr wrap="square" rtlCol="0" anchor="ctr"/>
          <a:lstStyle/>
          <a:p>
            <a:pPr indent="0" marL="0">
              <a:buNone/>
            </a:pPr>
            <a:r>
              <a:rPr lang="en-US" sz="900" b="1" dirty="0">
                <a:solidFill>
                  <a:srgbClr val="1C1810"/>
                </a:solidFill>
              </a:rPr>
              <a:t>🥈  Plata</a:t>
            </a:r>
            <a:endParaRPr lang="en-US" sz="900" dirty="0"/>
          </a:p>
        </p:txBody>
      </p:sp>
      <p:sp>
        <p:nvSpPr>
          <p:cNvPr id="38" name="Text 36"/>
          <p:cNvSpPr/>
          <p:nvPr/>
        </p:nvSpPr>
        <p:spPr>
          <a:xfrm>
            <a:off x="4297680" y="2468880"/>
            <a:ext cx="2377440" cy="347472"/>
          </a:xfrm>
          <a:prstGeom prst="rect">
            <a:avLst/>
          </a:prstGeom>
          <a:noFill/>
          <a:ln/>
        </p:spPr>
        <p:txBody>
          <a:bodyPr wrap="square" rtlCol="0" anchor="ctr"/>
          <a:lstStyle/>
          <a:p>
            <a:pPr indent="0" marL="0">
              <a:buNone/>
            </a:pPr>
            <a:r>
              <a:rPr lang="en-US" sz="1300" b="1" dirty="0">
                <a:solidFill>
                  <a:srgbClr val="1C1810"/>
                </a:solidFill>
              </a:rPr>
              <a:t>$65.50/oz</a:t>
            </a:r>
            <a:endParaRPr lang="en-US" sz="1300" dirty="0"/>
          </a:p>
        </p:txBody>
      </p:sp>
      <p:sp>
        <p:nvSpPr>
          <p:cNvPr id="39" name="Text 37"/>
          <p:cNvSpPr/>
          <p:nvPr/>
        </p:nvSpPr>
        <p:spPr>
          <a:xfrm>
            <a:off x="6583680" y="2468880"/>
            <a:ext cx="1280160" cy="347472"/>
          </a:xfrm>
          <a:prstGeom prst="rect">
            <a:avLst/>
          </a:prstGeom>
          <a:noFill/>
          <a:ln/>
        </p:spPr>
        <p:txBody>
          <a:bodyPr wrap="square" rtlCol="0" anchor="ctr"/>
          <a:lstStyle/>
          <a:p>
            <a:pPr algn="r" indent="0" marL="0">
              <a:buNone/>
            </a:pPr>
            <a:r>
              <a:rPr lang="en-US" sz="1100" b="1" dirty="0">
                <a:solidFill>
                  <a:srgbClr val="2A9050"/>
                </a:solidFill>
              </a:rPr>
              <a:t>Alza</a:t>
            </a:r>
            <a:endParaRPr lang="en-US" sz="1100" dirty="0"/>
          </a:p>
        </p:txBody>
      </p:sp>
      <p:sp>
        <p:nvSpPr>
          <p:cNvPr id="40" name="Text 38"/>
          <p:cNvSpPr/>
          <p:nvPr/>
        </p:nvSpPr>
        <p:spPr>
          <a:xfrm>
            <a:off x="4297680" y="2834640"/>
            <a:ext cx="3474720" cy="182880"/>
          </a:xfrm>
          <a:prstGeom prst="rect">
            <a:avLst/>
          </a:prstGeom>
          <a:noFill/>
          <a:ln/>
        </p:spPr>
        <p:txBody>
          <a:bodyPr wrap="square" rtlCol="0" anchor="ctr"/>
          <a:lstStyle/>
          <a:p>
            <a:pPr indent="0" marL="0">
              <a:buNone/>
            </a:pPr>
            <a:r>
              <a:rPr lang="en-US" sz="700" dirty="0">
                <a:solidFill>
                  <a:srgbClr val="7A6040"/>
                </a:solidFill>
              </a:rPr>
              <a:t>Máx. 2 meses · Acompaña al oro</a:t>
            </a:r>
            <a:endParaRPr lang="en-US" sz="700" dirty="0"/>
          </a:p>
        </p:txBody>
      </p:sp>
      <p:sp>
        <p:nvSpPr>
          <p:cNvPr id="41" name="Shape 39"/>
          <p:cNvSpPr/>
          <p:nvPr/>
        </p:nvSpPr>
        <p:spPr>
          <a:xfrm>
            <a:off x="4297680" y="3236976"/>
            <a:ext cx="3474720" cy="18288"/>
          </a:xfrm>
          <a:prstGeom prst="rect">
            <a:avLst/>
          </a:prstGeom>
          <a:solidFill>
            <a:srgbClr val="D8C8A0"/>
          </a:solidFill>
          <a:ln/>
        </p:spPr>
      </p:sp>
      <p:sp>
        <p:nvSpPr>
          <p:cNvPr id="42" name="Text 40"/>
          <p:cNvSpPr/>
          <p:nvPr/>
        </p:nvSpPr>
        <p:spPr>
          <a:xfrm>
            <a:off x="4297680" y="3291840"/>
            <a:ext cx="3474720" cy="237744"/>
          </a:xfrm>
          <a:prstGeom prst="rect">
            <a:avLst/>
          </a:prstGeom>
          <a:noFill/>
          <a:ln/>
        </p:spPr>
        <p:txBody>
          <a:bodyPr wrap="square" rtlCol="0" anchor="ctr"/>
          <a:lstStyle/>
          <a:p>
            <a:pPr indent="0" marL="0">
              <a:buNone/>
            </a:pPr>
            <a:r>
              <a:rPr lang="en-US" sz="900" b="1" dirty="0">
                <a:solidFill>
                  <a:srgbClr val="1C1810"/>
                </a:solidFill>
              </a:rPr>
              <a:t>🛢  Brent</a:t>
            </a:r>
            <a:endParaRPr lang="en-US" sz="900" dirty="0"/>
          </a:p>
        </p:txBody>
      </p:sp>
      <p:sp>
        <p:nvSpPr>
          <p:cNvPr id="43" name="Text 41"/>
          <p:cNvSpPr/>
          <p:nvPr/>
        </p:nvSpPr>
        <p:spPr>
          <a:xfrm>
            <a:off x="4297680" y="3547872"/>
            <a:ext cx="2377440" cy="347472"/>
          </a:xfrm>
          <a:prstGeom prst="rect">
            <a:avLst/>
          </a:prstGeom>
          <a:noFill/>
          <a:ln/>
        </p:spPr>
        <p:txBody>
          <a:bodyPr wrap="square" rtlCol="0" anchor="ctr"/>
          <a:lstStyle/>
          <a:p>
            <a:pPr indent="0" marL="0">
              <a:buNone/>
            </a:pPr>
            <a:r>
              <a:rPr lang="en-US" sz="1300" b="1" dirty="0">
                <a:solidFill>
                  <a:srgbClr val="1C1810"/>
                </a:solidFill>
              </a:rPr>
              <a:t>$91.86/bbl</a:t>
            </a:r>
            <a:endParaRPr lang="en-US" sz="1300" dirty="0"/>
          </a:p>
        </p:txBody>
      </p:sp>
      <p:sp>
        <p:nvSpPr>
          <p:cNvPr id="44" name="Text 42"/>
          <p:cNvSpPr/>
          <p:nvPr/>
        </p:nvSpPr>
        <p:spPr>
          <a:xfrm>
            <a:off x="6583680" y="3547872"/>
            <a:ext cx="1280160" cy="347472"/>
          </a:xfrm>
          <a:prstGeom prst="rect">
            <a:avLst/>
          </a:prstGeom>
          <a:noFill/>
          <a:ln/>
        </p:spPr>
        <p:txBody>
          <a:bodyPr wrap="square" rtlCol="0" anchor="ctr"/>
          <a:lstStyle/>
          <a:p>
            <a:pPr algn="r" indent="0" marL="0">
              <a:buNone/>
            </a:pPr>
            <a:r>
              <a:rPr lang="en-US" sz="1100" b="1" dirty="0">
                <a:solidFill>
                  <a:srgbClr val="2A9050"/>
                </a:solidFill>
              </a:rPr>
              <a:t>+0.92%</a:t>
            </a:r>
            <a:endParaRPr lang="en-US" sz="1100" dirty="0"/>
          </a:p>
        </p:txBody>
      </p:sp>
      <p:sp>
        <p:nvSpPr>
          <p:cNvPr id="45" name="Text 43"/>
          <p:cNvSpPr/>
          <p:nvPr/>
        </p:nvSpPr>
        <p:spPr>
          <a:xfrm>
            <a:off x="4297680" y="3913632"/>
            <a:ext cx="3474720" cy="182880"/>
          </a:xfrm>
          <a:prstGeom prst="rect">
            <a:avLst/>
          </a:prstGeom>
          <a:noFill/>
          <a:ln/>
        </p:spPr>
        <p:txBody>
          <a:bodyPr wrap="square" rtlCol="0" anchor="ctr"/>
          <a:lstStyle/>
          <a:p>
            <a:pPr indent="0" marL="0">
              <a:buNone/>
            </a:pPr>
            <a:r>
              <a:rPr lang="en-US" sz="700" dirty="0">
                <a:solidFill>
                  <a:srgbClr val="7A6040"/>
                </a:solidFill>
              </a:rPr>
              <a:t>Ormuz prima · 2º día sobre $90</a:t>
            </a:r>
            <a:endParaRPr lang="en-US" sz="700" dirty="0"/>
          </a:p>
        </p:txBody>
      </p:sp>
      <p:sp>
        <p:nvSpPr>
          <p:cNvPr id="46" name="Text 44"/>
          <p:cNvSpPr/>
          <p:nvPr/>
        </p:nvSpPr>
        <p:spPr>
          <a:xfrm>
            <a:off x="8138160" y="1133856"/>
            <a:ext cx="3474720" cy="237744"/>
          </a:xfrm>
          <a:prstGeom prst="rect">
            <a:avLst/>
          </a:prstGeom>
          <a:noFill/>
          <a:ln/>
        </p:spPr>
        <p:txBody>
          <a:bodyPr wrap="square" rtlCol="0" anchor="ctr"/>
          <a:lstStyle/>
          <a:p>
            <a:pPr indent="0" marL="0">
              <a:buNone/>
            </a:pPr>
            <a:r>
              <a:rPr lang="en-US" sz="900" b="1" dirty="0">
                <a:solidFill>
                  <a:srgbClr val="1C1810"/>
                </a:solidFill>
              </a:rPr>
              <a:t>🛢  WTI</a:t>
            </a:r>
            <a:endParaRPr lang="en-US" sz="900" dirty="0"/>
          </a:p>
        </p:txBody>
      </p:sp>
      <p:sp>
        <p:nvSpPr>
          <p:cNvPr id="47" name="Text 45"/>
          <p:cNvSpPr/>
          <p:nvPr/>
        </p:nvSpPr>
        <p:spPr>
          <a:xfrm>
            <a:off x="8138160" y="1389888"/>
            <a:ext cx="2377440" cy="347472"/>
          </a:xfrm>
          <a:prstGeom prst="rect">
            <a:avLst/>
          </a:prstGeom>
          <a:noFill/>
          <a:ln/>
        </p:spPr>
        <p:txBody>
          <a:bodyPr wrap="square" rtlCol="0" anchor="ctr"/>
          <a:lstStyle/>
          <a:p>
            <a:pPr indent="0" marL="0">
              <a:buNone/>
            </a:pPr>
            <a:r>
              <a:rPr lang="en-US" sz="1300" b="1" dirty="0">
                <a:solidFill>
                  <a:srgbClr val="1C1810"/>
                </a:solidFill>
              </a:rPr>
              <a:t>$86.15/bbl</a:t>
            </a:r>
            <a:endParaRPr lang="en-US" sz="1300" dirty="0"/>
          </a:p>
        </p:txBody>
      </p:sp>
      <p:sp>
        <p:nvSpPr>
          <p:cNvPr id="48" name="Text 46"/>
          <p:cNvSpPr/>
          <p:nvPr/>
        </p:nvSpPr>
        <p:spPr>
          <a:xfrm>
            <a:off x="10424160" y="1389888"/>
            <a:ext cx="1280160" cy="347472"/>
          </a:xfrm>
          <a:prstGeom prst="rect">
            <a:avLst/>
          </a:prstGeom>
          <a:noFill/>
          <a:ln/>
        </p:spPr>
        <p:txBody>
          <a:bodyPr wrap="square" rtlCol="0" anchor="ctr"/>
          <a:lstStyle/>
          <a:p>
            <a:pPr algn="r" indent="0" marL="0">
              <a:buNone/>
            </a:pPr>
            <a:r>
              <a:rPr lang="en-US" sz="1100" b="1" dirty="0">
                <a:solidFill>
                  <a:srgbClr val="2A9050"/>
                </a:solidFill>
              </a:rPr>
              <a:t>+1.42%</a:t>
            </a:r>
            <a:endParaRPr lang="en-US" sz="1100" dirty="0"/>
          </a:p>
        </p:txBody>
      </p:sp>
      <p:sp>
        <p:nvSpPr>
          <p:cNvPr id="49" name="Text 47"/>
          <p:cNvSpPr/>
          <p:nvPr/>
        </p:nvSpPr>
        <p:spPr>
          <a:xfrm>
            <a:off x="8138160" y="1755648"/>
            <a:ext cx="3474720" cy="182880"/>
          </a:xfrm>
          <a:prstGeom prst="rect">
            <a:avLst/>
          </a:prstGeom>
          <a:noFill/>
          <a:ln/>
        </p:spPr>
        <p:txBody>
          <a:bodyPr wrap="square" rtlCol="0" anchor="ctr"/>
          <a:lstStyle/>
          <a:p>
            <a:pPr indent="0" marL="0">
              <a:buNone/>
            </a:pPr>
            <a:r>
              <a:rPr lang="en-US" sz="700" dirty="0">
                <a:solidFill>
                  <a:srgbClr val="7A6040"/>
                </a:solidFill>
              </a:rPr>
              <a:t>Impulso Ormuz + demanda estival</a:t>
            </a:r>
            <a:endParaRPr lang="en-US" sz="700" dirty="0"/>
          </a:p>
        </p:txBody>
      </p:sp>
      <p:sp>
        <p:nvSpPr>
          <p:cNvPr id="50" name="Shape 48"/>
          <p:cNvSpPr/>
          <p:nvPr/>
        </p:nvSpPr>
        <p:spPr>
          <a:xfrm>
            <a:off x="8138160" y="2157984"/>
            <a:ext cx="3474720" cy="18288"/>
          </a:xfrm>
          <a:prstGeom prst="rect">
            <a:avLst/>
          </a:prstGeom>
          <a:solidFill>
            <a:srgbClr val="D8C8A0"/>
          </a:solidFill>
          <a:ln/>
        </p:spPr>
      </p:sp>
      <p:sp>
        <p:nvSpPr>
          <p:cNvPr id="51" name="Text 49"/>
          <p:cNvSpPr/>
          <p:nvPr/>
        </p:nvSpPr>
        <p:spPr>
          <a:xfrm>
            <a:off x="8138160" y="2212848"/>
            <a:ext cx="3474720" cy="237744"/>
          </a:xfrm>
          <a:prstGeom prst="rect">
            <a:avLst/>
          </a:prstGeom>
          <a:noFill/>
          <a:ln/>
        </p:spPr>
        <p:txBody>
          <a:bodyPr wrap="square" rtlCol="0" anchor="ctr"/>
          <a:lstStyle/>
          <a:p>
            <a:pPr indent="0" marL="0">
              <a:buNone/>
            </a:pPr>
            <a:r>
              <a:rPr lang="en-US" sz="900" b="1" dirty="0">
                <a:solidFill>
                  <a:srgbClr val="1C1810"/>
                </a:solidFill>
              </a:rPr>
              <a:t>🔵  Cobre</a:t>
            </a:r>
            <a:endParaRPr lang="en-US" sz="900" dirty="0"/>
          </a:p>
        </p:txBody>
      </p:sp>
      <p:sp>
        <p:nvSpPr>
          <p:cNvPr id="52" name="Text 50"/>
          <p:cNvSpPr/>
          <p:nvPr/>
        </p:nvSpPr>
        <p:spPr>
          <a:xfrm>
            <a:off x="8138160" y="2468880"/>
            <a:ext cx="2377440" cy="347472"/>
          </a:xfrm>
          <a:prstGeom prst="rect">
            <a:avLst/>
          </a:prstGeom>
          <a:noFill/>
          <a:ln/>
        </p:spPr>
        <p:txBody>
          <a:bodyPr wrap="square" rtlCol="0" anchor="ctr"/>
          <a:lstStyle/>
          <a:p>
            <a:pPr indent="0" marL="0">
              <a:buNone/>
            </a:pPr>
            <a:r>
              <a:rPr lang="en-US" sz="1300" b="1" dirty="0">
                <a:solidFill>
                  <a:srgbClr val="1C1810"/>
                </a:solidFill>
              </a:rPr>
              <a:t>$6.49/lb</a:t>
            </a:r>
            <a:endParaRPr lang="en-US" sz="1300" dirty="0"/>
          </a:p>
        </p:txBody>
      </p:sp>
      <p:sp>
        <p:nvSpPr>
          <p:cNvPr id="53" name="Text 51"/>
          <p:cNvSpPr/>
          <p:nvPr/>
        </p:nvSpPr>
        <p:spPr>
          <a:xfrm>
            <a:off x="10424160" y="2468880"/>
            <a:ext cx="1280160" cy="347472"/>
          </a:xfrm>
          <a:prstGeom prst="rect">
            <a:avLst/>
          </a:prstGeom>
          <a:noFill/>
          <a:ln/>
        </p:spPr>
        <p:txBody>
          <a:bodyPr wrap="square" rtlCol="0" anchor="ctr"/>
          <a:lstStyle/>
          <a:p>
            <a:pPr algn="r" indent="0" marL="0">
              <a:buNone/>
            </a:pPr>
            <a:r>
              <a:rPr lang="en-US" sz="1100" b="1" dirty="0">
                <a:solidFill>
                  <a:srgbClr val="2A9050"/>
                </a:solidFill>
              </a:rPr>
              <a:t>+0.06%</a:t>
            </a:r>
            <a:endParaRPr lang="en-US" sz="1100" dirty="0"/>
          </a:p>
        </p:txBody>
      </p:sp>
      <p:sp>
        <p:nvSpPr>
          <p:cNvPr id="54" name="Text 52"/>
          <p:cNvSpPr/>
          <p:nvPr/>
        </p:nvSpPr>
        <p:spPr>
          <a:xfrm>
            <a:off x="8138160" y="2834640"/>
            <a:ext cx="3474720" cy="182880"/>
          </a:xfrm>
          <a:prstGeom prst="rect">
            <a:avLst/>
          </a:prstGeom>
          <a:noFill/>
          <a:ln/>
        </p:spPr>
        <p:txBody>
          <a:bodyPr wrap="square" rtlCol="0" anchor="ctr"/>
          <a:lstStyle/>
          <a:p>
            <a:pPr indent="0" marL="0">
              <a:buNone/>
            </a:pPr>
            <a:r>
              <a:rPr lang="en-US" sz="700" dirty="0">
                <a:solidFill>
                  <a:srgbClr val="7A6040"/>
                </a:solidFill>
              </a:rPr>
              <a:t>Estable · +47.9% anual</a:t>
            </a:r>
            <a:endParaRPr lang="en-US" sz="700" dirty="0"/>
          </a:p>
        </p:txBody>
      </p:sp>
      <p:sp>
        <p:nvSpPr>
          <p:cNvPr id="55" name="Shape 53"/>
          <p:cNvSpPr/>
          <p:nvPr/>
        </p:nvSpPr>
        <p:spPr>
          <a:xfrm>
            <a:off x="8138160" y="3236976"/>
            <a:ext cx="3474720" cy="18288"/>
          </a:xfrm>
          <a:prstGeom prst="rect">
            <a:avLst/>
          </a:prstGeom>
          <a:solidFill>
            <a:srgbClr val="D8C8A0"/>
          </a:solidFill>
          <a:ln/>
        </p:spPr>
      </p:sp>
      <p:sp>
        <p:nvSpPr>
          <p:cNvPr id="56" name="Text 54"/>
          <p:cNvSpPr/>
          <p:nvPr/>
        </p:nvSpPr>
        <p:spPr>
          <a:xfrm>
            <a:off x="8138160" y="3291840"/>
            <a:ext cx="3474720" cy="237744"/>
          </a:xfrm>
          <a:prstGeom prst="rect">
            <a:avLst/>
          </a:prstGeom>
          <a:noFill/>
          <a:ln/>
        </p:spPr>
        <p:txBody>
          <a:bodyPr wrap="square" rtlCol="0" anchor="ctr"/>
          <a:lstStyle/>
          <a:p>
            <a:pPr indent="0" marL="0">
              <a:buNone/>
            </a:pPr>
            <a:r>
              <a:rPr lang="en-US" sz="900" b="1" dirty="0">
                <a:solidFill>
                  <a:srgbClr val="1C1810"/>
                </a:solidFill>
              </a:rPr>
              <a:t>🔥  Gas Natural</a:t>
            </a:r>
            <a:endParaRPr lang="en-US" sz="900" dirty="0"/>
          </a:p>
        </p:txBody>
      </p:sp>
      <p:sp>
        <p:nvSpPr>
          <p:cNvPr id="57" name="Text 55"/>
          <p:cNvSpPr/>
          <p:nvPr/>
        </p:nvSpPr>
        <p:spPr>
          <a:xfrm>
            <a:off x="8138160" y="3547872"/>
            <a:ext cx="2377440" cy="347472"/>
          </a:xfrm>
          <a:prstGeom prst="rect">
            <a:avLst/>
          </a:prstGeom>
          <a:noFill/>
          <a:ln/>
        </p:spPr>
        <p:txBody>
          <a:bodyPr wrap="square" rtlCol="0" anchor="ctr"/>
          <a:lstStyle/>
          <a:p>
            <a:pPr indent="0" marL="0">
              <a:buNone/>
            </a:pPr>
            <a:r>
              <a:rPr lang="en-US" sz="1300" b="1" dirty="0">
                <a:solidFill>
                  <a:srgbClr val="1C1810"/>
                </a:solidFill>
              </a:rPr>
              <a:t>~+1% est.</a:t>
            </a:r>
            <a:endParaRPr lang="en-US" sz="1300" dirty="0"/>
          </a:p>
        </p:txBody>
      </p:sp>
      <p:sp>
        <p:nvSpPr>
          <p:cNvPr id="58" name="Text 56"/>
          <p:cNvSpPr/>
          <p:nvPr/>
        </p:nvSpPr>
        <p:spPr>
          <a:xfrm>
            <a:off x="10424160" y="3547872"/>
            <a:ext cx="1280160" cy="347472"/>
          </a:xfrm>
          <a:prstGeom prst="rect">
            <a:avLst/>
          </a:prstGeom>
          <a:noFill/>
          <a:ln/>
        </p:spPr>
        <p:txBody>
          <a:bodyPr wrap="square" rtlCol="0" anchor="ctr"/>
          <a:lstStyle/>
          <a:p>
            <a:pPr algn="r" indent="0" marL="0">
              <a:buNone/>
            </a:pPr>
            <a:r>
              <a:rPr lang="en-US" sz="1100" b="1" dirty="0">
                <a:solidFill>
                  <a:srgbClr val="2A9050"/>
                </a:solidFill>
              </a:rPr>
              <a:t>N/D</a:t>
            </a:r>
            <a:endParaRPr lang="en-US" sz="1100" dirty="0"/>
          </a:p>
        </p:txBody>
      </p:sp>
      <p:sp>
        <p:nvSpPr>
          <p:cNvPr id="59" name="Text 57"/>
          <p:cNvSpPr/>
          <p:nvPr/>
        </p:nvSpPr>
        <p:spPr>
          <a:xfrm>
            <a:off x="8138160" y="3913632"/>
            <a:ext cx="3474720" cy="182880"/>
          </a:xfrm>
          <a:prstGeom prst="rect">
            <a:avLst/>
          </a:prstGeom>
          <a:noFill/>
          <a:ln/>
        </p:spPr>
        <p:txBody>
          <a:bodyPr wrap="square" rtlCol="0" anchor="ctr"/>
          <a:lstStyle/>
          <a:p>
            <a:pPr indent="0" marL="0">
              <a:buNone/>
            </a:pPr>
            <a:r>
              <a:rPr lang="en-US" sz="700" dirty="0">
                <a:solidFill>
                  <a:srgbClr val="7A6040"/>
                </a:solidFill>
              </a:rPr>
              <a:t>Sin cotización confirmada</a:t>
            </a:r>
            <a:endParaRPr lang="en-US" sz="700" dirty="0"/>
          </a:p>
        </p:txBody>
      </p:sp>
      <p:sp>
        <p:nvSpPr>
          <p:cNvPr id="60" name="Shape 58"/>
          <p:cNvSpPr/>
          <p:nvPr/>
        </p:nvSpPr>
        <p:spPr>
          <a:xfrm>
            <a:off x="7955280" y="1097280"/>
            <a:ext cx="18288" cy="3291840"/>
          </a:xfrm>
          <a:prstGeom prst="rect">
            <a:avLst/>
          </a:prstGeom>
          <a:solidFill>
            <a:srgbClr val="D8C8A0"/>
          </a:solidFill>
          <a:ln/>
        </p:spPr>
      </p:sp>
      <p:sp>
        <p:nvSpPr>
          <p:cNvPr id="61" name="Shape 59"/>
          <p:cNvSpPr/>
          <p:nvPr/>
        </p:nvSpPr>
        <p:spPr>
          <a:xfrm>
            <a:off x="228600" y="4434840"/>
            <a:ext cx="11704320" cy="27432"/>
          </a:xfrm>
          <a:prstGeom prst="rect">
            <a:avLst/>
          </a:prstGeom>
          <a:solidFill>
            <a:srgbClr val="981828"/>
          </a:solidFill>
          <a:ln/>
        </p:spPr>
      </p:sp>
      <p:sp>
        <p:nvSpPr>
          <p:cNvPr id="62" name="Shape 60"/>
          <p:cNvSpPr/>
          <p:nvPr/>
        </p:nvSpPr>
        <p:spPr>
          <a:xfrm>
            <a:off x="228600" y="4462272"/>
            <a:ext cx="11704320" cy="1691640"/>
          </a:xfrm>
          <a:prstGeom prst="rect">
            <a:avLst/>
          </a:prstGeom>
          <a:solidFill>
            <a:srgbClr val="FFF3F3"/>
          </a:solidFill>
          <a:ln w="12700">
            <a:solidFill>
              <a:srgbClr val="D8C8A0"/>
            </a:solidFill>
            <a:prstDash val="solid"/>
          </a:ln>
        </p:spPr>
      </p:sp>
      <p:sp>
        <p:nvSpPr>
          <p:cNvPr id="63" name="Text 61"/>
          <p:cNvSpPr/>
          <p:nvPr/>
        </p:nvSpPr>
        <p:spPr>
          <a:xfrm>
            <a:off x="347472" y="4517136"/>
            <a:ext cx="11430000" cy="256032"/>
          </a:xfrm>
          <a:prstGeom prst="rect">
            <a:avLst/>
          </a:prstGeom>
          <a:noFill/>
          <a:ln/>
        </p:spPr>
        <p:txBody>
          <a:bodyPr wrap="square" rtlCol="0" anchor="ctr"/>
          <a:lstStyle/>
          <a:p>
            <a:pPr indent="0" marL="0">
              <a:buNone/>
            </a:pPr>
            <a:r>
              <a:rPr lang="en-US" sz="900" b="1" dirty="0">
                <a:solidFill>
                  <a:srgbClr val="981828"/>
                </a:solidFill>
              </a:rPr>
              <a:t>⚠️  ORMUZ — ESCALAMIENTO CRÍTICO · RIESGO SISTÉMICO ACTIVO</a:t>
            </a:r>
            <a:endParaRPr lang="en-US" sz="900" dirty="0"/>
          </a:p>
        </p:txBody>
      </p:sp>
      <p:sp>
        <p:nvSpPr>
          <p:cNvPr id="64" name="Text 62"/>
          <p:cNvSpPr/>
          <p:nvPr/>
        </p:nvSpPr>
        <p:spPr>
          <a:xfrm>
            <a:off x="347472" y="4809744"/>
            <a:ext cx="11430000" cy="283464"/>
          </a:xfrm>
          <a:prstGeom prst="rect">
            <a:avLst/>
          </a:prstGeom>
          <a:noFill/>
          <a:ln/>
        </p:spPr>
        <p:txBody>
          <a:bodyPr wrap="square" rtlCol="0" anchor="ctr"/>
          <a:lstStyle/>
          <a:p>
            <a:pPr indent="0" marL="0">
              <a:buNone/>
            </a:pPr>
            <a:r>
              <a:rPr lang="en-US" sz="780" dirty="0">
                <a:solidFill>
                  <a:srgbClr val="1C1810"/>
                </a:solidFill>
              </a:rPr>
              <a:t>🚀  Irán: 2 misiles balísticos hacia el Estrecho el mar-mié; activación de defensas en EAU; carguero alcanzado — 1 muerto confirmado</a:t>
            </a:r>
            <a:endParaRPr lang="en-US" sz="780" dirty="0"/>
          </a:p>
        </p:txBody>
      </p:sp>
      <p:sp>
        <p:nvSpPr>
          <p:cNvPr id="65" name="Text 63"/>
          <p:cNvSpPr/>
          <p:nvPr/>
        </p:nvSpPr>
        <p:spPr>
          <a:xfrm>
            <a:off x="347472" y="5129784"/>
            <a:ext cx="11430000" cy="283464"/>
          </a:xfrm>
          <a:prstGeom prst="rect">
            <a:avLst/>
          </a:prstGeom>
          <a:noFill/>
          <a:ln/>
        </p:spPr>
        <p:txBody>
          <a:bodyPr wrap="square" rtlCol="0" anchor="ctr"/>
          <a:lstStyle/>
          <a:p>
            <a:pPr indent="0" marL="0">
              <a:buNone/>
            </a:pPr>
            <a:r>
              <a:rPr lang="en-US" sz="780" dirty="0">
                <a:solidFill>
                  <a:srgbClr val="1C1810"/>
                </a:solidFill>
              </a:rPr>
              <a:t>🇺🇸  Trump amenazó con bombardear puertos de Omán si no facilitan tráfico; sin acuerdo EE.UU.–Irán; cese al fuego no renovado</a:t>
            </a:r>
            <a:endParaRPr lang="en-US" sz="780" dirty="0"/>
          </a:p>
        </p:txBody>
      </p:sp>
      <p:sp>
        <p:nvSpPr>
          <p:cNvPr id="66" name="Text 64"/>
          <p:cNvSpPr/>
          <p:nvPr/>
        </p:nvSpPr>
        <p:spPr>
          <a:xfrm>
            <a:off x="347472" y="5449824"/>
            <a:ext cx="11430000" cy="283464"/>
          </a:xfrm>
          <a:prstGeom prst="rect">
            <a:avLst/>
          </a:prstGeom>
          <a:noFill/>
          <a:ln/>
        </p:spPr>
        <p:txBody>
          <a:bodyPr wrap="square" rtlCol="0" anchor="ctr"/>
          <a:lstStyle/>
          <a:p>
            <a:pPr indent="0" marL="0">
              <a:buNone/>
            </a:pPr>
            <a:r>
              <a:rPr lang="en-US" sz="780" dirty="0">
                <a:solidFill>
                  <a:srgbClr val="1C1810"/>
                </a:solidFill>
              </a:rPr>
              <a:t>⚓  80% del tráfico navega hoy por ruta omaní bajo protección naval EE.UU. (vs. 100% por Ormuz en condiciones normales)</a:t>
            </a:r>
            <a:endParaRPr lang="en-US" sz="780" dirty="0"/>
          </a:p>
        </p:txBody>
      </p:sp>
      <p:sp>
        <p:nvSpPr>
          <p:cNvPr id="67" name="Text 65"/>
          <p:cNvSpPr/>
          <p:nvPr/>
        </p:nvSpPr>
        <p:spPr>
          <a:xfrm>
            <a:off x="347472" y="5769864"/>
            <a:ext cx="11430000" cy="283464"/>
          </a:xfrm>
          <a:prstGeom prst="rect">
            <a:avLst/>
          </a:prstGeom>
          <a:noFill/>
          <a:ln/>
        </p:spPr>
        <p:txBody>
          <a:bodyPr wrap="square" rtlCol="0" anchor="ctr"/>
          <a:lstStyle/>
          <a:p>
            <a:pPr indent="0" marL="0">
              <a:buNone/>
            </a:pPr>
            <a:r>
              <a:rPr lang="en-US" sz="780" dirty="0">
                <a:solidFill>
                  <a:srgbClr val="1C1810"/>
                </a:solidFill>
              </a:rPr>
              <a:t>🛢  Prima Brent por Ormuz: estimada en $8–$12/bbl vs. precio sin conflicto · Escenario $95-$100 si situación empeora</a:t>
            </a:r>
            <a:endParaRPr lang="en-US" sz="780" dirty="0"/>
          </a:p>
        </p:txBody>
      </p:sp>
      <p:sp>
        <p:nvSpPr>
          <p:cNvPr id="68" name="Shape 66"/>
          <p:cNvSpPr/>
          <p:nvPr/>
        </p:nvSpPr>
        <p:spPr>
          <a:xfrm>
            <a:off x="0" y="6510528"/>
            <a:ext cx="12161520" cy="347472"/>
          </a:xfrm>
          <a:prstGeom prst="rect">
            <a:avLst/>
          </a:prstGeom>
          <a:solidFill>
            <a:srgbClr val="1C1810"/>
          </a:solidFill>
          <a:ln/>
        </p:spPr>
      </p:sp>
      <p:sp>
        <p:nvSpPr>
          <p:cNvPr id="69" name="Text 67"/>
          <p:cNvSpPr/>
          <p:nvPr/>
        </p:nvSpPr>
        <p:spPr>
          <a:xfrm>
            <a:off x="164592" y="6510528"/>
            <a:ext cx="11795760" cy="347472"/>
          </a:xfrm>
          <a:prstGeom prst="rect">
            <a:avLst/>
          </a:prstGeom>
          <a:noFill/>
          <a:ln/>
        </p:spPr>
        <p:txBody>
          <a:bodyPr wrap="square" rtlCol="0" anchor="ctr"/>
          <a:lstStyle/>
          <a:p>
            <a:pPr indent="0" marL="0">
              <a:buNone/>
            </a:pPr>
            <a:r>
              <a:rPr lang="en-US" sz="680" dirty="0">
                <a:solidFill>
                  <a:srgbClr val="B09868"/>
                </a:solidFill>
              </a:rPr>
              <a:t>Fuentes: Forbes Advisor · Trading Economics · TradingKey · FXStreet · CNN · Wikipedia Ormuz · Eastern Herald  |  Análisis informativo — No constituye asesoría financiera.  4 / 5</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AF8F2"/>
          </a:solidFill>
          <a:ln/>
        </p:spPr>
      </p:sp>
      <p:sp>
        <p:nvSpPr>
          <p:cNvPr id="3" name="Shape 1"/>
          <p:cNvSpPr/>
          <p:nvPr/>
        </p:nvSpPr>
        <p:spPr>
          <a:xfrm>
            <a:off x="0" y="0"/>
            <a:ext cx="12161520" cy="347472"/>
          </a:xfrm>
          <a:prstGeom prst="rect">
            <a:avLst/>
          </a:prstGeom>
          <a:solidFill>
            <a:srgbClr val="1C1810"/>
          </a:solidFill>
          <a:ln/>
        </p:spPr>
      </p:sp>
      <p:sp>
        <p:nvSpPr>
          <p:cNvPr id="4" name="Text 2"/>
          <p:cNvSpPr/>
          <p:nvPr/>
        </p:nvSpPr>
        <p:spPr>
          <a:xfrm>
            <a:off x="164592" y="0"/>
            <a:ext cx="8229600" cy="347472"/>
          </a:xfrm>
          <a:prstGeom prst="rect">
            <a:avLst/>
          </a:prstGeom>
          <a:noFill/>
          <a:ln/>
        </p:spPr>
        <p:txBody>
          <a:bodyPr wrap="square" rtlCol="0" anchor="ctr"/>
          <a:lstStyle/>
          <a:p>
            <a:pPr indent="0" marL="0">
              <a:buNone/>
            </a:pPr>
            <a:r>
              <a:rPr lang="en-US" sz="850" dirty="0">
                <a:solidFill>
                  <a:srgbClr val="B09868"/>
                </a:solidFill>
              </a:rPr>
              <a:t>México — Noticias &amp; Agenda</a:t>
            </a:r>
            <a:endParaRPr lang="en-US" sz="850" dirty="0"/>
          </a:p>
        </p:txBody>
      </p:sp>
      <p:sp>
        <p:nvSpPr>
          <p:cNvPr id="5" name="Text 3"/>
          <p:cNvSpPr/>
          <p:nvPr/>
        </p:nvSpPr>
        <p:spPr>
          <a:xfrm>
            <a:off x="8503920" y="0"/>
            <a:ext cx="3474720" cy="347472"/>
          </a:xfrm>
          <a:prstGeom prst="rect">
            <a:avLst/>
          </a:prstGeom>
          <a:noFill/>
          <a:ln/>
        </p:spPr>
        <p:txBody>
          <a:bodyPr wrap="square" rtlCol="0" anchor="ctr"/>
          <a:lstStyle/>
          <a:p>
            <a:pPr algn="r" indent="0" marL="0">
              <a:buNone/>
            </a:pPr>
            <a:r>
              <a:rPr lang="en-US" sz="850" dirty="0">
                <a:solidFill>
                  <a:srgbClr val="B09868"/>
                </a:solidFill>
              </a:rPr>
              <a:t>Miércoles 19 agosto 2026</a:t>
            </a:r>
            <a:endParaRPr lang="en-US" sz="850" dirty="0"/>
          </a:p>
        </p:txBody>
      </p:sp>
      <p:sp>
        <p:nvSpPr>
          <p:cNvPr id="6" name="Text 4"/>
          <p:cNvSpPr/>
          <p:nvPr/>
        </p:nvSpPr>
        <p:spPr>
          <a:xfrm>
            <a:off x="228600" y="411480"/>
            <a:ext cx="11704320" cy="347472"/>
          </a:xfrm>
          <a:prstGeom prst="rect">
            <a:avLst/>
          </a:prstGeom>
          <a:noFill/>
          <a:ln/>
        </p:spPr>
        <p:txBody>
          <a:bodyPr wrap="square" rtlCol="0" anchor="ctr"/>
          <a:lstStyle/>
          <a:p>
            <a:pPr indent="0" marL="0">
              <a:buNone/>
            </a:pPr>
            <a:r>
              <a:rPr lang="en-US" sz="1400" b="1" dirty="0">
                <a:solidFill>
                  <a:srgbClr val="1C1810"/>
                </a:solidFill>
              </a:rPr>
              <a:t>México — Noticias &amp; Agenda</a:t>
            </a:r>
            <a:endParaRPr lang="en-US" sz="1400" dirty="0"/>
          </a:p>
        </p:txBody>
      </p:sp>
      <p:sp>
        <p:nvSpPr>
          <p:cNvPr id="7" name="Shape 5"/>
          <p:cNvSpPr/>
          <p:nvPr/>
        </p:nvSpPr>
        <p:spPr>
          <a:xfrm>
            <a:off x="228600" y="822960"/>
            <a:ext cx="6583680" cy="1755648"/>
          </a:xfrm>
          <a:prstGeom prst="rect">
            <a:avLst/>
          </a:prstGeom>
          <a:solidFill>
            <a:srgbClr val="FFFEF8"/>
          </a:solidFill>
          <a:ln w="12700">
            <a:solidFill>
              <a:srgbClr val="D8C8A0"/>
            </a:solidFill>
            <a:prstDash val="solid"/>
          </a:ln>
        </p:spPr>
      </p:sp>
      <p:sp>
        <p:nvSpPr>
          <p:cNvPr id="8" name="Shape 6"/>
          <p:cNvSpPr/>
          <p:nvPr/>
        </p:nvSpPr>
        <p:spPr>
          <a:xfrm>
            <a:off x="228600" y="822960"/>
            <a:ext cx="6583680" cy="237744"/>
          </a:xfrm>
          <a:prstGeom prst="rect">
            <a:avLst/>
          </a:prstGeom>
          <a:solidFill>
            <a:srgbClr val="2A9050"/>
          </a:solidFill>
          <a:ln/>
        </p:spPr>
      </p:sp>
      <p:sp>
        <p:nvSpPr>
          <p:cNvPr id="9" name="Text 7"/>
          <p:cNvSpPr/>
          <p:nvPr/>
        </p:nvSpPr>
        <p:spPr>
          <a:xfrm>
            <a:off x="228600" y="822960"/>
            <a:ext cx="6583680" cy="237744"/>
          </a:xfrm>
          <a:prstGeom prst="rect">
            <a:avLst/>
          </a:prstGeom>
          <a:noFill/>
          <a:ln/>
        </p:spPr>
        <p:txBody>
          <a:bodyPr wrap="square" rtlCol="0" anchor="ctr"/>
          <a:lstStyle/>
          <a:p>
            <a:pPr algn="ctr" indent="0" marL="0">
              <a:buNone/>
            </a:pPr>
            <a:r>
              <a:rPr lang="en-US" sz="750" b="1" dirty="0">
                <a:solidFill>
                  <a:srgbClr val="FFFFFF"/>
                </a:solidFill>
              </a:rPr>
              <a:t>PESO MXN · SUPERPESO REGRESA</a:t>
            </a:r>
            <a:endParaRPr lang="en-US" sz="750" dirty="0"/>
          </a:p>
        </p:txBody>
      </p:sp>
      <p:sp>
        <p:nvSpPr>
          <p:cNvPr id="10" name="Text 8"/>
          <p:cNvSpPr/>
          <p:nvPr/>
        </p:nvSpPr>
        <p:spPr>
          <a:xfrm>
            <a:off x="347472" y="1097280"/>
            <a:ext cx="6355080" cy="292608"/>
          </a:xfrm>
          <a:prstGeom prst="rect">
            <a:avLst/>
          </a:prstGeom>
          <a:noFill/>
          <a:ln/>
        </p:spPr>
        <p:txBody>
          <a:bodyPr wrap="square" rtlCol="0" anchor="ctr"/>
          <a:lstStyle/>
          <a:p>
            <a:pPr indent="0" marL="0">
              <a:buNone/>
            </a:pPr>
            <a:r>
              <a:rPr lang="en-US" sz="950" b="1" dirty="0">
                <a:solidFill>
                  <a:srgbClr val="1C1810"/>
                </a:solidFill>
              </a:rPr>
              <a:t>Peso en Máximos de 24 Meses — $17.01–$17.03</a:t>
            </a:r>
            <a:endParaRPr lang="en-US" sz="950" dirty="0"/>
          </a:p>
        </p:txBody>
      </p:sp>
      <p:sp>
        <p:nvSpPr>
          <p:cNvPr id="11" name="Text 9"/>
          <p:cNvSpPr/>
          <p:nvPr/>
        </p:nvSpPr>
        <p:spPr>
          <a:xfrm>
            <a:off x="347472" y="1408176"/>
            <a:ext cx="6355080" cy="1097280"/>
          </a:xfrm>
          <a:prstGeom prst="rect">
            <a:avLst/>
          </a:prstGeom>
          <a:noFill/>
          <a:ln/>
        </p:spPr>
        <p:txBody>
          <a:bodyPr wrap="square" rtlCol="0" anchor="ctr"/>
          <a:lstStyle/>
          <a:p>
            <a:pPr indent="0" marL="0">
              <a:buNone/>
            </a:pPr>
            <a:r>
              <a:rPr lang="en-US" sz="780" dirty="0">
                <a:solidFill>
                  <a:srgbClr val="1C1810"/>
                </a:solidFill>
              </a:rPr>
              <a:t>El peso mexicano cerró en $17.03 (−0.23%) a pesar de las minutas hawkish de la Fed. La sorpresa positiva refleja la solidez del carry trade: posiciones largas en MXN alcanzan récord de 83,700 contratos netos en CME. El diferencial de tasas Banxico-Fed (~275-300 pb) sigue atrayendo capital. Riesgo: si la Fed sube en septiembre o diciembre, la reversión podría ser abrupta (Citi proyecta $17.90 a fin de 2026).</a:t>
            </a:r>
            <a:endParaRPr lang="en-US" sz="780" dirty="0"/>
          </a:p>
        </p:txBody>
      </p:sp>
      <p:sp>
        <p:nvSpPr>
          <p:cNvPr id="12" name="Shape 10"/>
          <p:cNvSpPr/>
          <p:nvPr/>
        </p:nvSpPr>
        <p:spPr>
          <a:xfrm>
            <a:off x="228600" y="2651760"/>
            <a:ext cx="6583680" cy="1755648"/>
          </a:xfrm>
          <a:prstGeom prst="rect">
            <a:avLst/>
          </a:prstGeom>
          <a:solidFill>
            <a:srgbClr val="FFFEF8"/>
          </a:solidFill>
          <a:ln w="12700">
            <a:solidFill>
              <a:srgbClr val="D8C8A0"/>
            </a:solidFill>
            <a:prstDash val="solid"/>
          </a:ln>
        </p:spPr>
      </p:sp>
      <p:sp>
        <p:nvSpPr>
          <p:cNvPr id="13" name="Shape 11"/>
          <p:cNvSpPr/>
          <p:nvPr/>
        </p:nvSpPr>
        <p:spPr>
          <a:xfrm>
            <a:off x="228600" y="2651760"/>
            <a:ext cx="6583680" cy="237744"/>
          </a:xfrm>
          <a:prstGeom prst="rect">
            <a:avLst/>
          </a:prstGeom>
          <a:solidFill>
            <a:srgbClr val="2A8898"/>
          </a:solidFill>
          <a:ln/>
        </p:spPr>
      </p:sp>
      <p:sp>
        <p:nvSpPr>
          <p:cNvPr id="14" name="Text 12"/>
          <p:cNvSpPr/>
          <p:nvPr/>
        </p:nvSpPr>
        <p:spPr>
          <a:xfrm>
            <a:off x="228600" y="2651760"/>
            <a:ext cx="6583680" cy="237744"/>
          </a:xfrm>
          <a:prstGeom prst="rect">
            <a:avLst/>
          </a:prstGeom>
          <a:noFill/>
          <a:ln/>
        </p:spPr>
        <p:txBody>
          <a:bodyPr wrap="square" rtlCol="0" anchor="ctr"/>
          <a:lstStyle/>
          <a:p>
            <a:pPr algn="ctr" indent="0" marL="0">
              <a:buNone/>
            </a:pPr>
            <a:r>
              <a:rPr lang="en-US" sz="750" b="1" dirty="0">
                <a:solidFill>
                  <a:srgbClr val="FFFFFF"/>
                </a:solidFill>
              </a:rPr>
              <a:t>BANXICO · INFLACIÓN JULIO</a:t>
            </a:r>
            <a:endParaRPr lang="en-US" sz="750" dirty="0"/>
          </a:p>
        </p:txBody>
      </p:sp>
      <p:sp>
        <p:nvSpPr>
          <p:cNvPr id="15" name="Text 13"/>
          <p:cNvSpPr/>
          <p:nvPr/>
        </p:nvSpPr>
        <p:spPr>
          <a:xfrm>
            <a:off x="347472" y="2926080"/>
            <a:ext cx="6355080" cy="292608"/>
          </a:xfrm>
          <a:prstGeom prst="rect">
            <a:avLst/>
          </a:prstGeom>
          <a:noFill/>
          <a:ln/>
        </p:spPr>
        <p:txBody>
          <a:bodyPr wrap="square" rtlCol="0" anchor="ctr"/>
          <a:lstStyle/>
          <a:p>
            <a:pPr indent="0" marL="0">
              <a:buNone/>
            </a:pPr>
            <a:r>
              <a:rPr lang="en-US" sz="950" b="1" dirty="0">
                <a:solidFill>
                  <a:srgbClr val="1C1810"/>
                </a:solidFill>
              </a:rPr>
              <a:t>Banxico 6.50% · Inflación Julio 3.4% Anual</a:t>
            </a:r>
            <a:endParaRPr lang="en-US" sz="950" dirty="0"/>
          </a:p>
        </p:txBody>
      </p:sp>
      <p:sp>
        <p:nvSpPr>
          <p:cNvPr id="16" name="Text 14"/>
          <p:cNvSpPr/>
          <p:nvPr/>
        </p:nvSpPr>
        <p:spPr>
          <a:xfrm>
            <a:off x="347472" y="3236976"/>
            <a:ext cx="6355080" cy="1097280"/>
          </a:xfrm>
          <a:prstGeom prst="rect">
            <a:avLst/>
          </a:prstGeom>
          <a:noFill/>
          <a:ln/>
        </p:spPr>
        <p:txBody>
          <a:bodyPr wrap="square" rtlCol="0" anchor="ctr"/>
          <a:lstStyle/>
          <a:p>
            <a:pPr indent="0" marL="0">
              <a:buNone/>
            </a:pPr>
            <a:r>
              <a:rPr lang="en-US" sz="780" dirty="0">
                <a:solidFill>
                  <a:srgbClr val="1C1810"/>
                </a:solidFill>
              </a:rPr>
              <a:t>La tasa de Banxico se mantiene en 6.50%. La inflación de julio cerró en 3.4% anual — dentro del rango meta (3% ±1%), pero con presiones latentes hacia Q3-Q4 por el encarecimiento del Brent. La próxima decisión de Banxico es el 25 de septiembre. El tono de las minutas del FOMC publicadas hoy serán uno de los insumos para esa reunión.</a:t>
            </a:r>
            <a:endParaRPr lang="en-US" sz="780" dirty="0"/>
          </a:p>
        </p:txBody>
      </p:sp>
      <p:sp>
        <p:nvSpPr>
          <p:cNvPr id="17" name="Shape 15"/>
          <p:cNvSpPr/>
          <p:nvPr/>
        </p:nvSpPr>
        <p:spPr>
          <a:xfrm>
            <a:off x="228600" y="4480560"/>
            <a:ext cx="6583680" cy="1755648"/>
          </a:xfrm>
          <a:prstGeom prst="rect">
            <a:avLst/>
          </a:prstGeom>
          <a:solidFill>
            <a:srgbClr val="FFFEF8"/>
          </a:solidFill>
          <a:ln w="12700">
            <a:solidFill>
              <a:srgbClr val="D8C8A0"/>
            </a:solidFill>
            <a:prstDash val="solid"/>
          </a:ln>
        </p:spPr>
      </p:sp>
      <p:sp>
        <p:nvSpPr>
          <p:cNvPr id="18" name="Shape 16"/>
          <p:cNvSpPr/>
          <p:nvPr/>
        </p:nvSpPr>
        <p:spPr>
          <a:xfrm>
            <a:off x="228600" y="4480560"/>
            <a:ext cx="6583680" cy="237744"/>
          </a:xfrm>
          <a:prstGeom prst="rect">
            <a:avLst/>
          </a:prstGeom>
          <a:solidFill>
            <a:srgbClr val="B87820"/>
          </a:solidFill>
          <a:ln/>
        </p:spPr>
      </p:sp>
      <p:sp>
        <p:nvSpPr>
          <p:cNvPr id="19" name="Text 17"/>
          <p:cNvSpPr/>
          <p:nvPr/>
        </p:nvSpPr>
        <p:spPr>
          <a:xfrm>
            <a:off x="228600" y="4480560"/>
            <a:ext cx="6583680" cy="237744"/>
          </a:xfrm>
          <a:prstGeom prst="rect">
            <a:avLst/>
          </a:prstGeom>
          <a:noFill/>
          <a:ln/>
        </p:spPr>
        <p:txBody>
          <a:bodyPr wrap="square" rtlCol="0" anchor="ctr"/>
          <a:lstStyle/>
          <a:p>
            <a:pPr algn="ctr" indent="0" marL="0">
              <a:buNone/>
            </a:pPr>
            <a:r>
              <a:rPr lang="en-US" sz="750" b="1" dirty="0">
                <a:solidFill>
                  <a:srgbClr val="FFFFFF"/>
                </a:solidFill>
              </a:rPr>
              <a:t>ORO &amp; PEMEX · DOBLE IMPACTO</a:t>
            </a:r>
            <a:endParaRPr lang="en-US" sz="750" dirty="0"/>
          </a:p>
        </p:txBody>
      </p:sp>
      <p:sp>
        <p:nvSpPr>
          <p:cNvPr id="20" name="Text 18"/>
          <p:cNvSpPr/>
          <p:nvPr/>
        </p:nvSpPr>
        <p:spPr>
          <a:xfrm>
            <a:off x="347472" y="4754880"/>
            <a:ext cx="6355080" cy="292608"/>
          </a:xfrm>
          <a:prstGeom prst="rect">
            <a:avLst/>
          </a:prstGeom>
          <a:noFill/>
          <a:ln/>
        </p:spPr>
        <p:txBody>
          <a:bodyPr wrap="square" rtlCol="0" anchor="ctr"/>
          <a:lstStyle/>
          <a:p>
            <a:pPr indent="0" marL="0">
              <a:buNone/>
            </a:pPr>
            <a:r>
              <a:rPr lang="en-US" sz="950" b="1" dirty="0">
                <a:solidFill>
                  <a:srgbClr val="1C1810"/>
                </a:solidFill>
              </a:rPr>
              <a:t>Oro $4,493 + Brent $91.86 — Doble Filo para México</a:t>
            </a:r>
            <a:endParaRPr lang="en-US" sz="950" dirty="0"/>
          </a:p>
        </p:txBody>
      </p:sp>
      <p:sp>
        <p:nvSpPr>
          <p:cNvPr id="21" name="Text 19"/>
          <p:cNvSpPr/>
          <p:nvPr/>
        </p:nvSpPr>
        <p:spPr>
          <a:xfrm>
            <a:off x="347472" y="5065776"/>
            <a:ext cx="6355080" cy="1097280"/>
          </a:xfrm>
          <a:prstGeom prst="rect">
            <a:avLst/>
          </a:prstGeom>
          <a:noFill/>
          <a:ln/>
        </p:spPr>
        <p:txBody>
          <a:bodyPr wrap="square" rtlCol="0" anchor="ctr"/>
          <a:lstStyle/>
          <a:p>
            <a:pPr indent="0" marL="0">
              <a:buNone/>
            </a:pPr>
            <a:r>
              <a:rPr lang="en-US" sz="780" dirty="0">
                <a:solidFill>
                  <a:srgbClr val="1C1810"/>
                </a:solidFill>
              </a:rPr>
              <a:t>El oro en máximo histórico de $4,493/oz (+35% en 2026) beneficia a las reservas internacionales de México. El Brent en $91.86 mejora los ingresos de Pemex por exportaciones. Sin embargo, México importa ~60% de sus gasolinas: si el Brent supera $95, la inflación de combustibles presionará el índice general y podría llevar a Banxico a reconsiderar su pausa de recortes.</a:t>
            </a:r>
            <a:endParaRPr lang="en-US" sz="780" dirty="0"/>
          </a:p>
        </p:txBody>
      </p:sp>
      <p:sp>
        <p:nvSpPr>
          <p:cNvPr id="22" name="Shape 20"/>
          <p:cNvSpPr/>
          <p:nvPr/>
        </p:nvSpPr>
        <p:spPr>
          <a:xfrm>
            <a:off x="6995160" y="822960"/>
            <a:ext cx="4937760" cy="5486400"/>
          </a:xfrm>
          <a:prstGeom prst="rect">
            <a:avLst/>
          </a:prstGeom>
          <a:solidFill>
            <a:srgbClr val="FFFEF8"/>
          </a:solidFill>
          <a:ln w="12700">
            <a:solidFill>
              <a:srgbClr val="D8C8A0"/>
            </a:solidFill>
            <a:prstDash val="solid"/>
          </a:ln>
        </p:spPr>
      </p:sp>
      <p:sp>
        <p:nvSpPr>
          <p:cNvPr id="23" name="Shape 21"/>
          <p:cNvSpPr/>
          <p:nvPr/>
        </p:nvSpPr>
        <p:spPr>
          <a:xfrm>
            <a:off x="6995160" y="822960"/>
            <a:ext cx="4937760" cy="256032"/>
          </a:xfrm>
          <a:prstGeom prst="rect">
            <a:avLst/>
          </a:prstGeom>
          <a:solidFill>
            <a:srgbClr val="1C1810"/>
          </a:solidFill>
          <a:ln/>
        </p:spPr>
      </p:sp>
      <p:sp>
        <p:nvSpPr>
          <p:cNvPr id="24" name="Text 22"/>
          <p:cNvSpPr/>
          <p:nvPr/>
        </p:nvSpPr>
        <p:spPr>
          <a:xfrm>
            <a:off x="6995160" y="822960"/>
            <a:ext cx="4937760" cy="256032"/>
          </a:xfrm>
          <a:prstGeom prst="rect">
            <a:avLst/>
          </a:prstGeom>
          <a:noFill/>
          <a:ln/>
        </p:spPr>
        <p:txBody>
          <a:bodyPr wrap="square" rtlCol="0" anchor="ctr"/>
          <a:lstStyle/>
          <a:p>
            <a:pPr algn="ctr" indent="0" marL="0">
              <a:buNone/>
            </a:pPr>
            <a:r>
              <a:rPr lang="en-US" sz="850" b="1" dirty="0">
                <a:solidFill>
                  <a:srgbClr val="FFFFFF"/>
                </a:solidFill>
              </a:rPr>
              <a:t>AGENDA PRÓXIMOS DÍAS</a:t>
            </a:r>
            <a:endParaRPr lang="en-US" sz="850" dirty="0"/>
          </a:p>
        </p:txBody>
      </p:sp>
      <p:sp>
        <p:nvSpPr>
          <p:cNvPr id="25" name="Text 23"/>
          <p:cNvSpPr/>
          <p:nvPr/>
        </p:nvSpPr>
        <p:spPr>
          <a:xfrm>
            <a:off x="7114032" y="1152144"/>
            <a:ext cx="3200400" cy="201168"/>
          </a:xfrm>
          <a:prstGeom prst="rect">
            <a:avLst/>
          </a:prstGeom>
          <a:noFill/>
          <a:ln/>
        </p:spPr>
        <p:txBody>
          <a:bodyPr wrap="square" rtlCol="0" anchor="ctr"/>
          <a:lstStyle/>
          <a:p>
            <a:pPr indent="0" marL="0">
              <a:buNone/>
            </a:pPr>
            <a:r>
              <a:rPr lang="en-US" sz="750" b="1" dirty="0">
                <a:solidFill>
                  <a:srgbClr val="7A6040"/>
                </a:solidFill>
              </a:rPr>
              <a:t>Hoy · 19 ago</a:t>
            </a:r>
            <a:endParaRPr lang="en-US" sz="750" dirty="0"/>
          </a:p>
        </p:txBody>
      </p:sp>
      <p:sp>
        <p:nvSpPr>
          <p:cNvPr id="26" name="Shape 24"/>
          <p:cNvSpPr/>
          <p:nvPr/>
        </p:nvSpPr>
        <p:spPr>
          <a:xfrm>
            <a:off x="9509760" y="1152144"/>
            <a:ext cx="2286000" cy="201168"/>
          </a:xfrm>
          <a:prstGeom prst="rect">
            <a:avLst/>
          </a:prstGeom>
          <a:solidFill>
            <a:srgbClr val="FAF4D8"/>
          </a:solidFill>
          <a:ln/>
        </p:spPr>
      </p:sp>
      <p:sp>
        <p:nvSpPr>
          <p:cNvPr id="27" name="Text 25"/>
          <p:cNvSpPr/>
          <p:nvPr/>
        </p:nvSpPr>
        <p:spPr>
          <a:xfrm>
            <a:off x="9509760" y="1152144"/>
            <a:ext cx="2286000" cy="201168"/>
          </a:xfrm>
          <a:prstGeom prst="rect">
            <a:avLst/>
          </a:prstGeom>
          <a:noFill/>
          <a:ln/>
        </p:spPr>
        <p:txBody>
          <a:bodyPr wrap="square" rtlCol="0" anchor="ctr"/>
          <a:lstStyle/>
          <a:p>
            <a:pPr algn="ctr" indent="0" marL="0">
              <a:buNone/>
            </a:pPr>
            <a:r>
              <a:rPr lang="en-US" sz="700" b="1" dirty="0">
                <a:solidFill>
                  <a:srgbClr val="C89C10"/>
                </a:solidFill>
              </a:rPr>
              <a:t>COMPLETADO</a:t>
            </a:r>
            <a:endParaRPr lang="en-US" sz="700" dirty="0"/>
          </a:p>
        </p:txBody>
      </p:sp>
      <p:sp>
        <p:nvSpPr>
          <p:cNvPr id="28" name="Text 26"/>
          <p:cNvSpPr/>
          <p:nvPr/>
        </p:nvSpPr>
        <p:spPr>
          <a:xfrm>
            <a:off x="7114032" y="1371600"/>
            <a:ext cx="4663440" cy="228600"/>
          </a:xfrm>
          <a:prstGeom prst="rect">
            <a:avLst/>
          </a:prstGeom>
          <a:noFill/>
          <a:ln/>
        </p:spPr>
        <p:txBody>
          <a:bodyPr wrap="square" rtlCol="0" anchor="ctr"/>
          <a:lstStyle/>
          <a:p>
            <a:pPr indent="0" marL="0">
              <a:buNone/>
            </a:pPr>
            <a:r>
              <a:rPr lang="en-US" sz="750" dirty="0">
                <a:solidFill>
                  <a:srgbClr val="1C1810"/>
                </a:solidFill>
              </a:rPr>
              <a:t>• Minutas FOMC hawkish publicadas 14:00 ET</a:t>
            </a:r>
            <a:endParaRPr lang="en-US" sz="750" dirty="0"/>
          </a:p>
        </p:txBody>
      </p:sp>
      <p:sp>
        <p:nvSpPr>
          <p:cNvPr id="29" name="Text 27"/>
          <p:cNvSpPr/>
          <p:nvPr/>
        </p:nvSpPr>
        <p:spPr>
          <a:xfrm>
            <a:off x="7114032" y="1636776"/>
            <a:ext cx="4663440" cy="228600"/>
          </a:xfrm>
          <a:prstGeom prst="rect">
            <a:avLst/>
          </a:prstGeom>
          <a:noFill/>
          <a:ln/>
        </p:spPr>
        <p:txBody>
          <a:bodyPr wrap="square" rtlCol="0" anchor="ctr"/>
          <a:lstStyle/>
          <a:p>
            <a:pPr indent="0" marL="0">
              <a:buNone/>
            </a:pPr>
            <a:r>
              <a:rPr lang="en-US" sz="750" dirty="0">
                <a:solidFill>
                  <a:srgbClr val="1C1810"/>
                </a:solidFill>
              </a:rPr>
              <a:t>• IPC +0.07% · Oro récord $4,493 · Brent $91.86</a:t>
            </a:r>
            <a:endParaRPr lang="en-US" sz="750" dirty="0"/>
          </a:p>
        </p:txBody>
      </p:sp>
      <p:sp>
        <p:nvSpPr>
          <p:cNvPr id="30" name="Text 28"/>
          <p:cNvSpPr/>
          <p:nvPr/>
        </p:nvSpPr>
        <p:spPr>
          <a:xfrm>
            <a:off x="7114032" y="1901952"/>
            <a:ext cx="4663440" cy="228600"/>
          </a:xfrm>
          <a:prstGeom prst="rect">
            <a:avLst/>
          </a:prstGeom>
          <a:noFill/>
          <a:ln/>
        </p:spPr>
        <p:txBody>
          <a:bodyPr wrap="square" rtlCol="0" anchor="ctr"/>
          <a:lstStyle/>
          <a:p>
            <a:pPr indent="0" marL="0">
              <a:buNone/>
            </a:pPr>
            <a:r>
              <a:rPr lang="en-US" sz="750" dirty="0">
                <a:solidFill>
                  <a:srgbClr val="1C1810"/>
                </a:solidFill>
              </a:rPr>
              <a:t>• USD/MXN $17.03 · Superpeso máx. 24 meses</a:t>
            </a:r>
            <a:endParaRPr lang="en-US" sz="750" dirty="0"/>
          </a:p>
        </p:txBody>
      </p:sp>
      <p:sp>
        <p:nvSpPr>
          <p:cNvPr id="31" name="Shape 29"/>
          <p:cNvSpPr/>
          <p:nvPr/>
        </p:nvSpPr>
        <p:spPr>
          <a:xfrm>
            <a:off x="7114032" y="2295144"/>
            <a:ext cx="4663440" cy="18288"/>
          </a:xfrm>
          <a:prstGeom prst="rect">
            <a:avLst/>
          </a:prstGeom>
          <a:solidFill>
            <a:srgbClr val="D8C8A0"/>
          </a:solidFill>
          <a:ln/>
        </p:spPr>
      </p:sp>
      <p:sp>
        <p:nvSpPr>
          <p:cNvPr id="32" name="Text 30"/>
          <p:cNvSpPr/>
          <p:nvPr/>
        </p:nvSpPr>
        <p:spPr>
          <a:xfrm>
            <a:off x="7114032" y="2386584"/>
            <a:ext cx="3200400" cy="201168"/>
          </a:xfrm>
          <a:prstGeom prst="rect">
            <a:avLst/>
          </a:prstGeom>
          <a:noFill/>
          <a:ln/>
        </p:spPr>
        <p:txBody>
          <a:bodyPr wrap="square" rtlCol="0" anchor="ctr"/>
          <a:lstStyle/>
          <a:p>
            <a:pPr indent="0" marL="0">
              <a:buNone/>
            </a:pPr>
            <a:r>
              <a:rPr lang="en-US" sz="750" b="1" dirty="0">
                <a:solidFill>
                  <a:srgbClr val="7A6040"/>
                </a:solidFill>
              </a:rPr>
              <a:t>Jue 20 ago</a:t>
            </a:r>
            <a:endParaRPr lang="en-US" sz="750" dirty="0"/>
          </a:p>
        </p:txBody>
      </p:sp>
      <p:sp>
        <p:nvSpPr>
          <p:cNvPr id="33" name="Shape 31"/>
          <p:cNvSpPr/>
          <p:nvPr/>
        </p:nvSpPr>
        <p:spPr>
          <a:xfrm>
            <a:off x="9509760" y="2386584"/>
            <a:ext cx="2286000" cy="201168"/>
          </a:xfrm>
          <a:prstGeom prst="rect">
            <a:avLst/>
          </a:prstGeom>
          <a:solidFill>
            <a:srgbClr val="FDF0D4"/>
          </a:solidFill>
          <a:ln/>
        </p:spPr>
      </p:sp>
      <p:sp>
        <p:nvSpPr>
          <p:cNvPr id="34" name="Text 32"/>
          <p:cNvSpPr/>
          <p:nvPr/>
        </p:nvSpPr>
        <p:spPr>
          <a:xfrm>
            <a:off x="9509760" y="2386584"/>
            <a:ext cx="2286000" cy="201168"/>
          </a:xfrm>
          <a:prstGeom prst="rect">
            <a:avLst/>
          </a:prstGeom>
          <a:noFill/>
          <a:ln/>
        </p:spPr>
        <p:txBody>
          <a:bodyPr wrap="square" rtlCol="0" anchor="ctr"/>
          <a:lstStyle/>
          <a:p>
            <a:pPr algn="ctr" indent="0" marL="0">
              <a:buNone/>
            </a:pPr>
            <a:r>
              <a:rPr lang="en-US" sz="700" b="1" dirty="0">
                <a:solidFill>
                  <a:srgbClr val="B87820"/>
                </a:solidFill>
              </a:rPr>
              <a:t>MAÑANA</a:t>
            </a:r>
            <a:endParaRPr lang="en-US" sz="700" dirty="0"/>
          </a:p>
        </p:txBody>
      </p:sp>
      <p:sp>
        <p:nvSpPr>
          <p:cNvPr id="35" name="Text 33"/>
          <p:cNvSpPr/>
          <p:nvPr/>
        </p:nvSpPr>
        <p:spPr>
          <a:xfrm>
            <a:off x="7114032" y="2606040"/>
            <a:ext cx="4663440" cy="228600"/>
          </a:xfrm>
          <a:prstGeom prst="rect">
            <a:avLst/>
          </a:prstGeom>
          <a:noFill/>
          <a:ln/>
        </p:spPr>
        <p:txBody>
          <a:bodyPr wrap="square" rtlCol="0" anchor="ctr"/>
          <a:lstStyle/>
          <a:p>
            <a:pPr indent="0" marL="0">
              <a:buNone/>
            </a:pPr>
            <a:r>
              <a:rPr lang="en-US" sz="750" dirty="0">
                <a:solidFill>
                  <a:srgbClr val="1C1810"/>
                </a:solidFill>
              </a:rPr>
              <a:t>• Solicitudes desempleo EE.UU. (semana)</a:t>
            </a:r>
            <a:endParaRPr lang="en-US" sz="750" dirty="0"/>
          </a:p>
        </p:txBody>
      </p:sp>
      <p:sp>
        <p:nvSpPr>
          <p:cNvPr id="36" name="Text 34"/>
          <p:cNvSpPr/>
          <p:nvPr/>
        </p:nvSpPr>
        <p:spPr>
          <a:xfrm>
            <a:off x="7114032" y="2871216"/>
            <a:ext cx="4663440" cy="228600"/>
          </a:xfrm>
          <a:prstGeom prst="rect">
            <a:avLst/>
          </a:prstGeom>
          <a:noFill/>
          <a:ln/>
        </p:spPr>
        <p:txBody>
          <a:bodyPr wrap="square" rtlCol="0" anchor="ctr"/>
          <a:lstStyle/>
          <a:p>
            <a:pPr indent="0" marL="0">
              <a:buNone/>
            </a:pPr>
            <a:r>
              <a:rPr lang="en-US" sz="750" dirty="0">
                <a:solidFill>
                  <a:srgbClr val="1C1810"/>
                </a:solidFill>
              </a:rPr>
              <a:t>• Enc. manufactura Fed Philadelphia</a:t>
            </a:r>
            <a:endParaRPr lang="en-US" sz="750" dirty="0"/>
          </a:p>
        </p:txBody>
      </p:sp>
      <p:sp>
        <p:nvSpPr>
          <p:cNvPr id="37" name="Text 35"/>
          <p:cNvSpPr/>
          <p:nvPr/>
        </p:nvSpPr>
        <p:spPr>
          <a:xfrm>
            <a:off x="7114032" y="3136392"/>
            <a:ext cx="4663440" cy="228600"/>
          </a:xfrm>
          <a:prstGeom prst="rect">
            <a:avLst/>
          </a:prstGeom>
          <a:noFill/>
          <a:ln/>
        </p:spPr>
        <p:txBody>
          <a:bodyPr wrap="square" rtlCol="0" anchor="ctr"/>
          <a:lstStyle/>
          <a:p>
            <a:pPr indent="0" marL="0">
              <a:buNone/>
            </a:pPr>
            <a:r>
              <a:rPr lang="en-US" sz="750" dirty="0">
                <a:solidFill>
                  <a:srgbClr val="1C1810"/>
                </a:solidFill>
              </a:rPr>
              <a:t>• Actualización probabilidades Fed post-minutas</a:t>
            </a:r>
            <a:endParaRPr lang="en-US" sz="750" dirty="0"/>
          </a:p>
        </p:txBody>
      </p:sp>
      <p:sp>
        <p:nvSpPr>
          <p:cNvPr id="38" name="Shape 36"/>
          <p:cNvSpPr/>
          <p:nvPr/>
        </p:nvSpPr>
        <p:spPr>
          <a:xfrm>
            <a:off x="7114032" y="3529584"/>
            <a:ext cx="4663440" cy="18288"/>
          </a:xfrm>
          <a:prstGeom prst="rect">
            <a:avLst/>
          </a:prstGeom>
          <a:solidFill>
            <a:srgbClr val="D8C8A0"/>
          </a:solidFill>
          <a:ln/>
        </p:spPr>
      </p:sp>
      <p:sp>
        <p:nvSpPr>
          <p:cNvPr id="39" name="Text 37"/>
          <p:cNvSpPr/>
          <p:nvPr/>
        </p:nvSpPr>
        <p:spPr>
          <a:xfrm>
            <a:off x="7114032" y="3621024"/>
            <a:ext cx="3200400" cy="201168"/>
          </a:xfrm>
          <a:prstGeom prst="rect">
            <a:avLst/>
          </a:prstGeom>
          <a:noFill/>
          <a:ln/>
        </p:spPr>
        <p:txBody>
          <a:bodyPr wrap="square" rtlCol="0" anchor="ctr"/>
          <a:lstStyle/>
          <a:p>
            <a:pPr indent="0" marL="0">
              <a:buNone/>
            </a:pPr>
            <a:r>
              <a:rPr lang="en-US" sz="750" b="1" dirty="0">
                <a:solidFill>
                  <a:srgbClr val="7A6040"/>
                </a:solidFill>
              </a:rPr>
              <a:t>Vie 22 ago</a:t>
            </a:r>
            <a:endParaRPr lang="en-US" sz="750" dirty="0"/>
          </a:p>
        </p:txBody>
      </p:sp>
      <p:sp>
        <p:nvSpPr>
          <p:cNvPr id="40" name="Shape 38"/>
          <p:cNvSpPr/>
          <p:nvPr/>
        </p:nvSpPr>
        <p:spPr>
          <a:xfrm>
            <a:off x="9509760" y="3621024"/>
            <a:ext cx="2286000" cy="201168"/>
          </a:xfrm>
          <a:prstGeom prst="rect">
            <a:avLst/>
          </a:prstGeom>
          <a:solidFill>
            <a:srgbClr val="FDF0D4"/>
          </a:solidFill>
          <a:ln/>
        </p:spPr>
      </p:sp>
      <p:sp>
        <p:nvSpPr>
          <p:cNvPr id="41" name="Text 39"/>
          <p:cNvSpPr/>
          <p:nvPr/>
        </p:nvSpPr>
        <p:spPr>
          <a:xfrm>
            <a:off x="9509760" y="3621024"/>
            <a:ext cx="2286000" cy="201168"/>
          </a:xfrm>
          <a:prstGeom prst="rect">
            <a:avLst/>
          </a:prstGeom>
          <a:noFill/>
          <a:ln/>
        </p:spPr>
        <p:txBody>
          <a:bodyPr wrap="square" rtlCol="0" anchor="ctr"/>
          <a:lstStyle/>
          <a:p>
            <a:pPr algn="ctr" indent="0" marL="0">
              <a:buNone/>
            </a:pPr>
            <a:r>
              <a:rPr lang="en-US" sz="700" b="1" dirty="0">
                <a:solidFill>
                  <a:srgbClr val="B87820"/>
                </a:solidFill>
              </a:rPr>
              <a:t>PRÓXIMO</a:t>
            </a:r>
            <a:endParaRPr lang="en-US" sz="700" dirty="0"/>
          </a:p>
        </p:txBody>
      </p:sp>
      <p:sp>
        <p:nvSpPr>
          <p:cNvPr id="42" name="Text 40"/>
          <p:cNvSpPr/>
          <p:nvPr/>
        </p:nvSpPr>
        <p:spPr>
          <a:xfrm>
            <a:off x="7114032" y="3840480"/>
            <a:ext cx="4663440" cy="228600"/>
          </a:xfrm>
          <a:prstGeom prst="rect">
            <a:avLst/>
          </a:prstGeom>
          <a:noFill/>
          <a:ln/>
        </p:spPr>
        <p:txBody>
          <a:bodyPr wrap="square" rtlCol="0" anchor="ctr"/>
          <a:lstStyle/>
          <a:p>
            <a:pPr indent="0" marL="0">
              <a:buNone/>
            </a:pPr>
            <a:r>
              <a:rPr lang="en-US" sz="750" dirty="0">
                <a:solidFill>
                  <a:srgbClr val="1C1810"/>
                </a:solidFill>
              </a:rPr>
              <a:t>• PMI Manufactura y Servicios EE.UU. (flash)</a:t>
            </a:r>
            <a:endParaRPr lang="en-US" sz="750" dirty="0"/>
          </a:p>
        </p:txBody>
      </p:sp>
      <p:sp>
        <p:nvSpPr>
          <p:cNvPr id="43" name="Text 41"/>
          <p:cNvSpPr/>
          <p:nvPr/>
        </p:nvSpPr>
        <p:spPr>
          <a:xfrm>
            <a:off x="7114032" y="4105656"/>
            <a:ext cx="4663440" cy="228600"/>
          </a:xfrm>
          <a:prstGeom prst="rect">
            <a:avLst/>
          </a:prstGeom>
          <a:noFill/>
          <a:ln/>
        </p:spPr>
        <p:txBody>
          <a:bodyPr wrap="square" rtlCol="0" anchor="ctr"/>
          <a:lstStyle/>
          <a:p>
            <a:pPr indent="0" marL="0">
              <a:buNone/>
            </a:pPr>
            <a:r>
              <a:rPr lang="en-US" sz="750" dirty="0">
                <a:solidFill>
                  <a:srgbClr val="1C1810"/>
                </a:solidFill>
              </a:rPr>
              <a:t>• Ventas vivienda existente EE.UU.</a:t>
            </a:r>
            <a:endParaRPr lang="en-US" sz="750" dirty="0"/>
          </a:p>
        </p:txBody>
      </p:sp>
      <p:sp>
        <p:nvSpPr>
          <p:cNvPr id="44" name="Shape 42"/>
          <p:cNvSpPr/>
          <p:nvPr/>
        </p:nvSpPr>
        <p:spPr>
          <a:xfrm>
            <a:off x="7114032" y="4498848"/>
            <a:ext cx="4663440" cy="18288"/>
          </a:xfrm>
          <a:prstGeom prst="rect">
            <a:avLst/>
          </a:prstGeom>
          <a:solidFill>
            <a:srgbClr val="D8C8A0"/>
          </a:solidFill>
          <a:ln/>
        </p:spPr>
      </p:sp>
      <p:sp>
        <p:nvSpPr>
          <p:cNvPr id="45" name="Text 43"/>
          <p:cNvSpPr/>
          <p:nvPr/>
        </p:nvSpPr>
        <p:spPr>
          <a:xfrm>
            <a:off x="7114032" y="4590288"/>
            <a:ext cx="3200400" cy="201168"/>
          </a:xfrm>
          <a:prstGeom prst="rect">
            <a:avLst/>
          </a:prstGeom>
          <a:noFill/>
          <a:ln/>
        </p:spPr>
        <p:txBody>
          <a:bodyPr wrap="square" rtlCol="0" anchor="ctr"/>
          <a:lstStyle/>
          <a:p>
            <a:pPr indent="0" marL="0">
              <a:buNone/>
            </a:pPr>
            <a:r>
              <a:rPr lang="en-US" sz="750" b="1" dirty="0">
                <a:solidFill>
                  <a:srgbClr val="7A6040"/>
                </a:solidFill>
              </a:rPr>
              <a:t>Jue 25 sep</a:t>
            </a:r>
            <a:endParaRPr lang="en-US" sz="750" dirty="0"/>
          </a:p>
        </p:txBody>
      </p:sp>
      <p:sp>
        <p:nvSpPr>
          <p:cNvPr id="46" name="Shape 44"/>
          <p:cNvSpPr/>
          <p:nvPr/>
        </p:nvSpPr>
        <p:spPr>
          <a:xfrm>
            <a:off x="9509760" y="4590288"/>
            <a:ext cx="2286000" cy="201168"/>
          </a:xfrm>
          <a:prstGeom prst="rect">
            <a:avLst/>
          </a:prstGeom>
          <a:solidFill>
            <a:srgbClr val="E4F4F8"/>
          </a:solidFill>
          <a:ln/>
        </p:spPr>
      </p:sp>
      <p:sp>
        <p:nvSpPr>
          <p:cNvPr id="47" name="Text 45"/>
          <p:cNvSpPr/>
          <p:nvPr/>
        </p:nvSpPr>
        <p:spPr>
          <a:xfrm>
            <a:off x="9509760" y="4590288"/>
            <a:ext cx="2286000" cy="201168"/>
          </a:xfrm>
          <a:prstGeom prst="rect">
            <a:avLst/>
          </a:prstGeom>
          <a:noFill/>
          <a:ln/>
        </p:spPr>
        <p:txBody>
          <a:bodyPr wrap="square" rtlCol="0" anchor="ctr"/>
          <a:lstStyle/>
          <a:p>
            <a:pPr algn="ctr" indent="0" marL="0">
              <a:buNone/>
            </a:pPr>
            <a:r>
              <a:rPr lang="en-US" sz="700" b="1" dirty="0">
                <a:solidFill>
                  <a:srgbClr val="2A8898"/>
                </a:solidFill>
              </a:rPr>
              <a:t>CLAVE</a:t>
            </a:r>
            <a:endParaRPr lang="en-US" sz="700" dirty="0"/>
          </a:p>
        </p:txBody>
      </p:sp>
      <p:sp>
        <p:nvSpPr>
          <p:cNvPr id="48" name="Text 46"/>
          <p:cNvSpPr/>
          <p:nvPr/>
        </p:nvSpPr>
        <p:spPr>
          <a:xfrm>
            <a:off x="7114032" y="4809744"/>
            <a:ext cx="4663440" cy="228600"/>
          </a:xfrm>
          <a:prstGeom prst="rect">
            <a:avLst/>
          </a:prstGeom>
          <a:noFill/>
          <a:ln/>
        </p:spPr>
        <p:txBody>
          <a:bodyPr wrap="square" rtlCol="0" anchor="ctr"/>
          <a:lstStyle/>
          <a:p>
            <a:pPr indent="0" marL="0">
              <a:buNone/>
            </a:pPr>
            <a:r>
              <a:rPr lang="en-US" sz="750" dirty="0">
                <a:solidFill>
                  <a:srgbClr val="1C1810"/>
                </a:solidFill>
              </a:rPr>
              <a:t>• Decisión tasa Banxico (6.50% actual)</a:t>
            </a:r>
            <a:endParaRPr lang="en-US" sz="750" dirty="0"/>
          </a:p>
        </p:txBody>
      </p:sp>
      <p:sp>
        <p:nvSpPr>
          <p:cNvPr id="49" name="Text 47"/>
          <p:cNvSpPr/>
          <p:nvPr/>
        </p:nvSpPr>
        <p:spPr>
          <a:xfrm>
            <a:off x="7114032" y="5074920"/>
            <a:ext cx="4663440" cy="228600"/>
          </a:xfrm>
          <a:prstGeom prst="rect">
            <a:avLst/>
          </a:prstGeom>
          <a:noFill/>
          <a:ln/>
        </p:spPr>
        <p:txBody>
          <a:bodyPr wrap="square" rtlCol="0" anchor="ctr"/>
          <a:lstStyle/>
          <a:p>
            <a:pPr indent="0" marL="0">
              <a:buNone/>
            </a:pPr>
            <a:r>
              <a:rPr lang="en-US" sz="750" dirty="0">
                <a:solidFill>
                  <a:srgbClr val="1C1810"/>
                </a:solidFill>
              </a:rPr>
              <a:t>• Inflación agosto MX = insumo clave</a:t>
            </a:r>
            <a:endParaRPr lang="en-US" sz="750" dirty="0"/>
          </a:p>
        </p:txBody>
      </p:sp>
      <p:sp>
        <p:nvSpPr>
          <p:cNvPr id="50" name="Shape 48"/>
          <p:cNvSpPr/>
          <p:nvPr/>
        </p:nvSpPr>
        <p:spPr>
          <a:xfrm>
            <a:off x="7114032" y="5468112"/>
            <a:ext cx="4663440" cy="18288"/>
          </a:xfrm>
          <a:prstGeom prst="rect">
            <a:avLst/>
          </a:prstGeom>
          <a:solidFill>
            <a:srgbClr val="D8C8A0"/>
          </a:solidFill>
          <a:ln/>
        </p:spPr>
      </p:sp>
      <p:sp>
        <p:nvSpPr>
          <p:cNvPr id="51" name="Text 49"/>
          <p:cNvSpPr/>
          <p:nvPr/>
        </p:nvSpPr>
        <p:spPr>
          <a:xfrm>
            <a:off x="7114032" y="5559552"/>
            <a:ext cx="3200400" cy="201168"/>
          </a:xfrm>
          <a:prstGeom prst="rect">
            <a:avLst/>
          </a:prstGeom>
          <a:noFill/>
          <a:ln/>
        </p:spPr>
        <p:txBody>
          <a:bodyPr wrap="square" rtlCol="0" anchor="ctr"/>
          <a:lstStyle/>
          <a:p>
            <a:pPr indent="0" marL="0">
              <a:buNone/>
            </a:pPr>
            <a:r>
              <a:rPr lang="en-US" sz="750" b="1" dirty="0">
                <a:solidFill>
                  <a:srgbClr val="7A6040"/>
                </a:solidFill>
              </a:rPr>
              <a:t>Sep 16, 2026</a:t>
            </a:r>
            <a:endParaRPr lang="en-US" sz="750" dirty="0"/>
          </a:p>
        </p:txBody>
      </p:sp>
      <p:sp>
        <p:nvSpPr>
          <p:cNvPr id="52" name="Shape 50"/>
          <p:cNvSpPr/>
          <p:nvPr/>
        </p:nvSpPr>
        <p:spPr>
          <a:xfrm>
            <a:off x="9509760" y="5559552"/>
            <a:ext cx="2286000" cy="201168"/>
          </a:xfrm>
          <a:prstGeom prst="rect">
            <a:avLst/>
          </a:prstGeom>
          <a:solidFill>
            <a:srgbClr val="FAE4E8"/>
          </a:solidFill>
          <a:ln/>
        </p:spPr>
      </p:sp>
      <p:sp>
        <p:nvSpPr>
          <p:cNvPr id="53" name="Text 51"/>
          <p:cNvSpPr/>
          <p:nvPr/>
        </p:nvSpPr>
        <p:spPr>
          <a:xfrm>
            <a:off x="9509760" y="5559552"/>
            <a:ext cx="2286000" cy="201168"/>
          </a:xfrm>
          <a:prstGeom prst="rect">
            <a:avLst/>
          </a:prstGeom>
          <a:noFill/>
          <a:ln/>
        </p:spPr>
        <p:txBody>
          <a:bodyPr wrap="square" rtlCol="0" anchor="ctr"/>
          <a:lstStyle/>
          <a:p>
            <a:pPr algn="ctr" indent="0" marL="0">
              <a:buNone/>
            </a:pPr>
            <a:r>
              <a:rPr lang="en-US" sz="700" b="1" dirty="0">
                <a:solidFill>
                  <a:srgbClr val="981828"/>
                </a:solidFill>
              </a:rPr>
              <a:t>DECISIVO 🔴</a:t>
            </a:r>
            <a:endParaRPr lang="en-US" sz="700" dirty="0"/>
          </a:p>
        </p:txBody>
      </p:sp>
      <p:sp>
        <p:nvSpPr>
          <p:cNvPr id="54" name="Text 52"/>
          <p:cNvSpPr/>
          <p:nvPr/>
        </p:nvSpPr>
        <p:spPr>
          <a:xfrm>
            <a:off x="7114032" y="5779008"/>
            <a:ext cx="4663440" cy="228600"/>
          </a:xfrm>
          <a:prstGeom prst="rect">
            <a:avLst/>
          </a:prstGeom>
          <a:noFill/>
          <a:ln/>
        </p:spPr>
        <p:txBody>
          <a:bodyPr wrap="square" rtlCol="0" anchor="ctr"/>
          <a:lstStyle/>
          <a:p>
            <a:pPr indent="0" marL="0">
              <a:buNone/>
            </a:pPr>
            <a:r>
              <a:rPr lang="en-US" sz="750" dirty="0">
                <a:solidFill>
                  <a:srgbClr val="1C1810"/>
                </a:solidFill>
              </a:rPr>
              <a:t>• Decisión Fed: hold (65%) vs alza (32%)</a:t>
            </a:r>
            <a:endParaRPr lang="en-US" sz="750" dirty="0"/>
          </a:p>
        </p:txBody>
      </p:sp>
      <p:sp>
        <p:nvSpPr>
          <p:cNvPr id="55" name="Text 53"/>
          <p:cNvSpPr/>
          <p:nvPr/>
        </p:nvSpPr>
        <p:spPr>
          <a:xfrm>
            <a:off x="7114032" y="6044184"/>
            <a:ext cx="4663440" cy="228600"/>
          </a:xfrm>
          <a:prstGeom prst="rect">
            <a:avLst/>
          </a:prstGeom>
          <a:noFill/>
          <a:ln/>
        </p:spPr>
        <p:txBody>
          <a:bodyPr wrap="square" rtlCol="0" anchor="ctr"/>
          <a:lstStyle/>
          <a:p>
            <a:pPr indent="0" marL="0">
              <a:buNone/>
            </a:pPr>
            <a:r>
              <a:rPr lang="en-US" sz="750" dirty="0">
                <a:solidFill>
                  <a:srgbClr val="1C1810"/>
                </a:solidFill>
              </a:rPr>
              <a:t>• Evento de mayor impacto en USD/MXN Q3</a:t>
            </a:r>
            <a:endParaRPr lang="en-US" sz="750" dirty="0"/>
          </a:p>
        </p:txBody>
      </p:sp>
      <p:sp>
        <p:nvSpPr>
          <p:cNvPr id="56" name="Shape 54"/>
          <p:cNvSpPr/>
          <p:nvPr/>
        </p:nvSpPr>
        <p:spPr>
          <a:xfrm>
            <a:off x="7114032" y="6437376"/>
            <a:ext cx="4663440" cy="18288"/>
          </a:xfrm>
          <a:prstGeom prst="rect">
            <a:avLst/>
          </a:prstGeom>
          <a:solidFill>
            <a:srgbClr val="D8C8A0"/>
          </a:solidFill>
          <a:ln/>
        </p:spPr>
      </p:sp>
      <p:sp>
        <p:nvSpPr>
          <p:cNvPr id="57" name="Shape 55"/>
          <p:cNvSpPr/>
          <p:nvPr/>
        </p:nvSpPr>
        <p:spPr>
          <a:xfrm>
            <a:off x="228600" y="6327648"/>
            <a:ext cx="6583680" cy="347472"/>
          </a:xfrm>
          <a:prstGeom prst="rect">
            <a:avLst/>
          </a:prstGeom>
          <a:solidFill>
            <a:srgbClr val="FAF4D8"/>
          </a:solidFill>
          <a:ln w="12700">
            <a:solidFill>
              <a:srgbClr val="D8C8A0"/>
            </a:solidFill>
            <a:prstDash val="solid"/>
          </a:ln>
        </p:spPr>
      </p:sp>
      <p:sp>
        <p:nvSpPr>
          <p:cNvPr id="58" name="Text 56"/>
          <p:cNvSpPr/>
          <p:nvPr/>
        </p:nvSpPr>
        <p:spPr>
          <a:xfrm>
            <a:off x="347472" y="6345936"/>
            <a:ext cx="6400800" cy="292608"/>
          </a:xfrm>
          <a:prstGeom prst="rect">
            <a:avLst/>
          </a:prstGeom>
          <a:noFill/>
          <a:ln/>
        </p:spPr>
        <p:txBody>
          <a:bodyPr wrap="square" rtlCol="0" anchor="ctr"/>
          <a:lstStyle/>
          <a:p>
            <a:pPr indent="0" marL="0">
              <a:buNone/>
            </a:pPr>
            <a:r>
              <a:rPr lang="en-US" sz="750" b="1" dirty="0">
                <a:solidFill>
                  <a:srgbClr val="B87820"/>
                </a:solidFill>
              </a:rPr>
              <a:t>🎯  Señal de la semana: Oro récord $4,493 + Brent &gt;$90 + FOMC hawkish = inflación global regresa como amenaza. Para México: peso fuerte hoy, pero el riesgo de reversión es real si Fed sube en sep/dic.</a:t>
            </a:r>
            <a:endParaRPr lang="en-US" sz="750" dirty="0"/>
          </a:p>
        </p:txBody>
      </p:sp>
      <p:sp>
        <p:nvSpPr>
          <p:cNvPr id="59" name="Shape 57"/>
          <p:cNvSpPr/>
          <p:nvPr/>
        </p:nvSpPr>
        <p:spPr>
          <a:xfrm>
            <a:off x="0" y="6510528"/>
            <a:ext cx="12161520" cy="347472"/>
          </a:xfrm>
          <a:prstGeom prst="rect">
            <a:avLst/>
          </a:prstGeom>
          <a:solidFill>
            <a:srgbClr val="1C1810"/>
          </a:solidFill>
          <a:ln/>
        </p:spPr>
      </p:sp>
      <p:sp>
        <p:nvSpPr>
          <p:cNvPr id="60" name="Text 58"/>
          <p:cNvSpPr/>
          <p:nvPr/>
        </p:nvSpPr>
        <p:spPr>
          <a:xfrm>
            <a:off x="164592" y="6510528"/>
            <a:ext cx="11795760" cy="347472"/>
          </a:xfrm>
          <a:prstGeom prst="rect">
            <a:avLst/>
          </a:prstGeom>
          <a:noFill/>
          <a:ln/>
        </p:spPr>
        <p:txBody>
          <a:bodyPr wrap="square" rtlCol="0" anchor="ctr"/>
          <a:lstStyle/>
          <a:p>
            <a:pPr indent="0" marL="0">
              <a:buNone/>
            </a:pPr>
            <a:r>
              <a:rPr lang="en-US" sz="680" dirty="0">
                <a:solidFill>
                  <a:srgbClr val="B09868"/>
                </a:solidFill>
              </a:rPr>
              <a:t>Fuentes: Rio Times · FXStreet · Scotiabank · CNBC · CME FedWatch · El Financiero · Bloomberg  |  Análisis informativo — No constituye asesoría financiera.  5 / 5</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2026-08-19T22:57:04Z</dcterms:created>
  <dcterms:modified xsi:type="dcterms:W3CDTF">2026-08-19T22:57:04Z</dcterms:modified>
</cp:coreProperties>
</file>