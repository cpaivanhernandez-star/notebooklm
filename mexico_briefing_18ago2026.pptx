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08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90"/>
                </a:solidFill>
              </a:rPr>
              <a:t>Martes · 18 agosto 2026 · Cierre de mercados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MÉXICO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080"/>
                </a:solidFill>
              </a:rPr>
              <a:t>BRIEFING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18105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890"/>
                </a:solidFill>
              </a:rPr>
              <a:t>Análisis diario de mercados · macro · política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48840"/>
            <a:ext cx="6858000" cy="27432"/>
          </a:xfrm>
          <a:prstGeom prst="rect">
            <a:avLst/>
          </a:prstGeom>
          <a:solidFill>
            <a:srgbClr val="2A908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240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890"/>
                </a:solidFill>
              </a:rPr>
              <a:t>Brent rompe $90 · Trump rechaza cese al fuego Ormuz · FOMC Minutas mañana · Nasdaq −1.33% por chip sell-off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670048"/>
            <a:ext cx="2560320" cy="987552"/>
          </a:xfrm>
          <a:prstGeom prst="rect">
            <a:avLst/>
          </a:prstGeom>
          <a:solidFill>
            <a:srgbClr val="FAE6EC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Brent Crude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1E30"/>
                </a:solidFill>
              </a:rPr>
              <a:t>$90.97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Rompió $90 · Ormuz escala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90672" y="2670048"/>
            <a:ext cx="2560320" cy="987552"/>
          </a:xfrm>
          <a:prstGeom prst="rect">
            <a:avLst/>
          </a:prstGeom>
          <a:solidFill>
            <a:srgbClr val="EDE8FA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Minutas FOMC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8A8"/>
                </a:solidFill>
              </a:rPr>
              <a:t>Mañana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Mié 19 ago 14:00 ET · Decisivo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33872" y="2670048"/>
            <a:ext cx="2560320" cy="987552"/>
          </a:xfrm>
          <a:prstGeom prst="rect">
            <a:avLst/>
          </a:prstGeom>
          <a:solidFill>
            <a:srgbClr val="DEF2E8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USD / MXN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018"/>
                </a:solidFill>
              </a:rPr>
              <a:t>$17.03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Peso estable · FIX Banxico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890"/>
                </a:solidFill>
              </a:rPr>
              <a:t>Fuentes: Yahoo Finance · Trading Economics · Eastern Herald · CME FedWatch · BMV · Investing.com · El Financiero · Bloomberg  |  Análisis informativo — No constituye asesoría financiera.  1 / 5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Macro del Día — Ormuz Escalamiento Crítico + FOMC Minutes Preview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Martes 18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Macro del Día — Ormuz Escala &amp; FOMC Minutes Preview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577840" cy="292608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solidFill>
            <a:srgbClr val="9C1E3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ESTRECHO DE ORMUZ · DÍA ~170 · CRISIS ACTIVA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018"/>
                </a:solidFill>
              </a:rPr>
              <a:t>🚀  Irán lanzó 2 misiles balísticos hacia el Estrecho; activaron defensas de EAU; cayeron al mar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554480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018"/>
                </a:solidFill>
              </a:rPr>
              <a:t>⚓  Buque granelero alcanzado al este de Omán en sala de máquinas — 1 fallecido (jefe de máquinas)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38528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018"/>
                </a:solidFill>
              </a:rPr>
              <a:t>🇺🇸  Trump rechazó extender el cese al fuego (expirado el lunes): "no estoy interesado en extenderlo"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322576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018"/>
                </a:solidFill>
              </a:rPr>
              <a:t>🇮🇷  Funcionario iraní a Reuters: Irán adoptará postura "completamente ofensiva" desde ahora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706624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018"/>
                </a:solidFill>
              </a:rPr>
              <a:t>🛢  Tránsito actual: ~1 buque/día vs. ~73/día en condiciones normales — colapso virtual del tráfico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3090672"/>
            <a:ext cx="5340096" cy="18288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Brent cierre hoy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3337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1E30"/>
                </a:solidFill>
              </a:rPr>
              <a:t>$90.97/bbl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Prob. Brent &gt;$100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30552" y="3337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7020"/>
                </a:solidFill>
              </a:rPr>
              <a:t>~45%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13632" y="31455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WTI cierre hoy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13632" y="3337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838"/>
                </a:solidFill>
              </a:rPr>
              <a:t>$85.71/bbl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657600"/>
            <a:ext cx="5340096" cy="18288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694176"/>
            <a:ext cx="5340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🇲🇽  Impacto México: Pemex exportadora de crudo se beneficia del Brent alto. Pero gasolinas y diésel importados se encarecen. Riesgo inflación secundaria si Brent supera $95.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89320" y="822960"/>
            <a:ext cx="5943600" cy="292608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solidFill>
            <a:srgbClr val="6848A8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FOMC MINUTES · MAÑANA MIÉ 19 AGO · 14:00 EDT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17043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ACTAS REUNIÓN 28–29 JULIO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26480" y="1389888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8070"/>
                </a:solidFill>
              </a:rPr>
              <a:t>Fed Funds 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0" y="1389888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2018"/>
                </a:solidFill>
              </a:rPr>
              <a:t>3.50%–3.75%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636776"/>
            <a:ext cx="55778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691640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8070"/>
                </a:solidFill>
              </a:rPr>
              <a:t>Disidentes (+25 pb)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601200" y="1691640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3838"/>
                </a:solidFill>
              </a:rPr>
              <a:t>3 miembros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1938528"/>
            <a:ext cx="55778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993392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8070"/>
                </a:solidFill>
              </a:rPr>
              <a:t>Hold sep (CME FedWatch)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01200" y="199339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905A"/>
                </a:solidFill>
              </a:rPr>
              <a:t>~65%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240280"/>
            <a:ext cx="55778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295144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8070"/>
                </a:solidFill>
              </a:rPr>
              <a:t>Alza +25 pb sep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0" y="2295144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7020"/>
                </a:solidFill>
              </a:rPr>
              <a:t>~31%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542032"/>
            <a:ext cx="55778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596896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8070"/>
                </a:solidFill>
              </a:rPr>
              <a:t>Recorte sep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01200" y="2596896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08070"/>
                </a:solidFill>
              </a:rPr>
              <a:t>~4%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2907792"/>
            <a:ext cx="5577840" cy="18288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2962656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📋  Logan (Dallas), Hammack (Cleveland) y Kashkari (Minneapolis) votaron por subir +25 pb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126480" y="331012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🎯  Warsh (presidente) evitó dar orientación futura — deliberada ambigüedad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126480" y="365760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⚠️   Housing Starts julio −12.4% publicado HOY → presión adicional hawkish vs dovish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126480" y="4005072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📊  Nasdaq −1.33% hoy: mercado técnicamente en modo de espera pre-minutas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28600" y="4114800"/>
            <a:ext cx="11704320" cy="146304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114800"/>
            <a:ext cx="11704320" cy="256032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" y="411480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HOUSING STARTS EE.UU. JULIO 2026 — DATO DEL DÍA · CENSUS BUREAU / HUD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7472" y="4434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Inicios totales (SAAR)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7472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838"/>
                </a:solidFill>
              </a:rPr>
              <a:t>1.24M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47472" y="5010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3838"/>
                </a:solidFill>
              </a:rPr>
              <a:t>−12.4% MoM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73552" y="4434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Inicios unifamiliar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273552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838"/>
                </a:solidFill>
              </a:rPr>
              <a:t>808K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273552" y="5010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3838"/>
                </a:solidFill>
              </a:rPr>
              <a:t>−9.9% MoM · −15.7% a/a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199632" y="4434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Permisos totales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99632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905A"/>
                </a:solidFill>
              </a:rPr>
              <a:t>1.44M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199632" y="5010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8905A"/>
                </a:solidFill>
              </a:rPr>
              <a:t>+5.0% MoM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9125712" y="4434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Permisos multifamiliar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125712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905A"/>
                </a:solidFill>
              </a:rPr>
              <a:t>549K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9125712" y="5010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8905A"/>
                </a:solidFill>
              </a:rPr>
              <a:t>+9.4% MoM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63" name="Text 61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890"/>
                </a:solidFill>
              </a:rPr>
              <a:t>Fuentes: CME FedWatch · Fed.gov · Newsquawk · IranIntl · Eastern Herald · Census.gov / HUD  |  Análisis informativo — No constituye asesoría financiera.  2 / 5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Mercados Globales — Cierre 18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Martes 18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Mercados Globales — Cierre 18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303520" cy="233172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solidFill>
            <a:srgbClr val="0D201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— BOLSA MEXICANA DE VALORES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2018"/>
                </a:solidFill>
              </a:rPr>
              <a:t>64,152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8070"/>
                </a:solidFill>
              </a:rPr>
              <a:t>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solidFill>
            <a:srgbClr val="FAE6E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3838"/>
                </a:solidFill>
              </a:rPr>
              <a:t>▼ −0.38%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8013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Sesión bajista · Cautela pre-FOMC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2057400"/>
            <a:ext cx="4974336" cy="18288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03120"/>
            <a:ext cx="4974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CONTEXTO SEMANAL BMV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Lun 11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47472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8905A"/>
                </a:solidFill>
              </a:rPr>
              <a:t>+0.66%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79576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Mar 12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79576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03838"/>
                </a:solidFill>
              </a:rPr>
              <a:t>−1.32%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011680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Mié 13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2011680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8905A"/>
                </a:solidFill>
              </a:rPr>
              <a:t>+0.45%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843784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Vie 14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2843784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03838"/>
                </a:solidFill>
              </a:rPr>
              <a:t>−0.26%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675888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Lun 17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675888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08070"/>
                </a:solidFill>
              </a:rPr>
              <a:t>est ~0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507992" y="2322576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Mar 18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507992" y="2487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03838"/>
                </a:solidFill>
              </a:rPr>
              <a:t>−0.38%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715000" y="822960"/>
            <a:ext cx="6217920" cy="233172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solidFill>
            <a:srgbClr val="0D2018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ÍNDICES GLOBALES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11704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18"/>
                </a:solidFill>
              </a:rPr>
              <a:t>S&amp;P 500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38160" y="1170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018"/>
                </a:solidFill>
              </a:rPr>
              <a:t>7,691.76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0" y="11704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3838"/>
                </a:solidFill>
              </a:rPr>
              <a:t>−0.69%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33872" y="1481328"/>
            <a:ext cx="5943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Presión Ormuz + yields altos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833872" y="1627632"/>
            <a:ext cx="594360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7" name="Text 35"/>
          <p:cNvSpPr/>
          <p:nvPr/>
        </p:nvSpPr>
        <p:spPr>
          <a:xfrm>
            <a:off x="5833872" y="16459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18"/>
                </a:solidFill>
              </a:rPr>
              <a:t>Nasdaq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0" y="16459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018"/>
                </a:solidFill>
              </a:rPr>
              <a:t>26,289.71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66960" y="16459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3838"/>
                </a:solidFill>
              </a:rPr>
              <a:t>−1.33%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33872" y="1956816"/>
            <a:ext cx="5943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Chip sell-off lideró caída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33872" y="2103120"/>
            <a:ext cx="594360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2" name="Text 40"/>
          <p:cNvSpPr/>
          <p:nvPr/>
        </p:nvSpPr>
        <p:spPr>
          <a:xfrm>
            <a:off x="5833872" y="21214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18"/>
                </a:solidFill>
              </a:rPr>
              <a:t>Dow Jones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21214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018"/>
                </a:solidFill>
              </a:rPr>
              <a:t>53,343.40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66960" y="21214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3838"/>
                </a:solidFill>
              </a:rPr>
              <a:t>−0.22%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33872" y="2432304"/>
            <a:ext cx="5943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Defensivo vs tech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5833872" y="2578608"/>
            <a:ext cx="594360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7" name="Text 45"/>
          <p:cNvSpPr/>
          <p:nvPr/>
        </p:nvSpPr>
        <p:spPr>
          <a:xfrm>
            <a:off x="5833872" y="25968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18"/>
                </a:solidFill>
              </a:rPr>
              <a:t>DAX 40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38160" y="25968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018"/>
                </a:solidFill>
              </a:rPr>
              <a:t>26,238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66960" y="259689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3838"/>
                </a:solidFill>
              </a:rPr>
              <a:t>−0.38%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33872" y="2907792"/>
            <a:ext cx="5943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08070"/>
                </a:solidFill>
              </a:rPr>
              <a:t>Riesgo global Ormuz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228600" y="3246120"/>
            <a:ext cx="11704320" cy="27432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52" name="Shape 50"/>
          <p:cNvSpPr/>
          <p:nvPr/>
        </p:nvSpPr>
        <p:spPr>
          <a:xfrm>
            <a:off x="228600" y="3310128"/>
            <a:ext cx="5577840" cy="1325880"/>
          </a:xfrm>
          <a:prstGeom prst="rect">
            <a:avLst/>
          </a:prstGeom>
          <a:solidFill>
            <a:srgbClr val="FDF9FF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3310128"/>
            <a:ext cx="5577840" cy="237744"/>
          </a:xfrm>
          <a:prstGeom prst="rect">
            <a:avLst/>
          </a:prstGeom>
          <a:solidFill>
            <a:srgbClr val="6848A8"/>
          </a:solidFill>
          <a:ln/>
        </p:spPr>
      </p:sp>
      <p:sp>
        <p:nvSpPr>
          <p:cNvPr id="54" name="Text 52"/>
          <p:cNvSpPr/>
          <p:nvPr/>
        </p:nvSpPr>
        <p:spPr>
          <a:xfrm>
            <a:off x="228600" y="3310128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CHIP SELL-OFF · NASDAQ −1.33%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7472" y="3584448"/>
            <a:ext cx="5340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💻  Semiconductores lideraron caídas: NVDA, AMD, TSMC y ASML con bajas de 2-4%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347472" y="3858768"/>
            <a:ext cx="5340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📈  Yields de Treasuries al alza presionan valuaciones de acciones de crecimiento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47472" y="4133088"/>
            <a:ext cx="5340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⚠️   Escalamiento Ormuz añade prima de riesgo → rotación a activos defensivos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347472" y="4407408"/>
            <a:ext cx="5340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🎯  Cautela pre-minutas FOMC (mañana): inversores prefieren esperar señal Fed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989320" y="3310128"/>
            <a:ext cx="5943600" cy="132588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3310128"/>
            <a:ext cx="5943600" cy="237744"/>
          </a:xfrm>
          <a:prstGeom prst="rect">
            <a:avLst/>
          </a:prstGeom>
          <a:solidFill>
            <a:srgbClr val="2A9080"/>
          </a:solidFill>
          <a:ln/>
        </p:spPr>
      </p:sp>
      <p:sp>
        <p:nvSpPr>
          <p:cNvPr id="61" name="Text 59"/>
          <p:cNvSpPr/>
          <p:nvPr/>
        </p:nvSpPr>
        <p:spPr>
          <a:xfrm>
            <a:off x="5989320" y="331012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CONTEXTO: MERCADOS EN MODO DE ESPERA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26480" y="358444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📋  FOMC Minutas mañana 14:00 ET — evento más relevante de la semana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126480" y="385876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🔴  Todos los índices principales cerraron en rojo hoy (sesión risk-off)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6126480" y="413308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🛡️   Sectores defensivos (utilities, salud) y oro relativamente mejor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6126480" y="440740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🌐  DAX europeo también baja: la crisis Ormuz no es solo tema americano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28600" y="4709160"/>
            <a:ext cx="4572000" cy="146304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8600" y="4709160"/>
            <a:ext cx="4572000" cy="237744"/>
          </a:xfrm>
          <a:prstGeom prst="rect">
            <a:avLst/>
          </a:prstGeom>
          <a:solidFill>
            <a:srgbClr val="A07808"/>
          </a:solidFill>
          <a:ln/>
        </p:spPr>
      </p:sp>
      <p:sp>
        <p:nvSpPr>
          <p:cNvPr id="68" name="Text 66"/>
          <p:cNvSpPr/>
          <p:nvPr/>
        </p:nvSpPr>
        <p:spPr>
          <a:xfrm>
            <a:off x="228600" y="47091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ORO · REFUGIO BAJO PRESIÓN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47472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07808"/>
                </a:solidFill>
              </a:rPr>
              <a:t>$4,387.25</a:t>
            </a:r>
            <a:endParaRPr lang="en-US" sz="2400" dirty="0"/>
          </a:p>
        </p:txBody>
      </p:sp>
      <p:sp>
        <p:nvSpPr>
          <p:cNvPr id="70" name="Shape 68"/>
          <p:cNvSpPr/>
          <p:nvPr/>
        </p:nvSpPr>
        <p:spPr>
          <a:xfrm>
            <a:off x="347472" y="5468112"/>
            <a:ext cx="1463040" cy="201168"/>
          </a:xfrm>
          <a:prstGeom prst="rect">
            <a:avLst/>
          </a:prstGeom>
          <a:solidFill>
            <a:srgbClr val="FAE6E6"/>
          </a:solidFill>
          <a:ln/>
        </p:spPr>
      </p:sp>
      <p:sp>
        <p:nvSpPr>
          <p:cNvPr id="71" name="Text 69"/>
          <p:cNvSpPr/>
          <p:nvPr/>
        </p:nvSpPr>
        <p:spPr>
          <a:xfrm>
            <a:off x="347472" y="5468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3838"/>
                </a:solidFill>
              </a:rPr>
              <a:t>▼ −0.60%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920240" y="5468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Dólar firme + yields altos compiten con el oro como refugio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983480" y="4709160"/>
            <a:ext cx="6949440" cy="146304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83480" y="4709160"/>
            <a:ext cx="6949440" cy="237744"/>
          </a:xfrm>
          <a:prstGeom prst="rect">
            <a:avLst/>
          </a:prstGeom>
          <a:solidFill>
            <a:srgbClr val="2A7050"/>
          </a:solidFill>
          <a:ln/>
        </p:spPr>
      </p:sp>
      <p:sp>
        <p:nvSpPr>
          <p:cNvPr id="75" name="Text 73"/>
          <p:cNvSpPr/>
          <p:nvPr/>
        </p:nvSpPr>
        <p:spPr>
          <a:xfrm>
            <a:off x="4983480" y="4709160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CIFRAS CLAVE DEL CIERRE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9834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Cobre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120640" y="5166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18"/>
                </a:solidFill>
              </a:rPr>
              <a:t>$6.47/lb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120640" y="5504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3838"/>
                </a:solidFill>
              </a:rPr>
              <a:t>−2.09%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839712" y="49834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Plata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839712" y="5166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18"/>
                </a:solidFill>
              </a:rPr>
              <a:t>~$64/oz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839712" y="5504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3838"/>
                </a:solidFill>
              </a:rPr>
              <a:t>~−1.7%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558784" y="49834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Gas Natural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558784" y="5166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18"/>
                </a:solidFill>
              </a:rPr>
              <a:t>$2.70/MMBtu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58784" y="5504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05A"/>
                </a:solidFill>
              </a:rPr>
              <a:t>+0.46%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277856" y="4983480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WTI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0277856" y="5166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18"/>
                </a:solidFill>
              </a:rPr>
              <a:t>$85.71/bbl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277856" y="550468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05A"/>
                </a:solidFill>
              </a:rPr>
              <a:t>+~0.5%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89" name="Text 87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890"/>
                </a:solidFill>
              </a:rPr>
              <a:t>Fuentes: Yahoo Finance · TheStreet · Trading Economics · Eurasia Business News · Investing.com · Bloomberg  |  Análisis informativo — No constituye asesoría financiera.  3 / 5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Divisas &amp; Commodities — 18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Martes 18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Divisas &amp; Commodities — 18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3749040" cy="365760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solidFill>
            <a:srgbClr val="0D201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TIPO DE CAMBIO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3385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8070"/>
                </a:solidFill>
              </a:rPr>
              <a:t>USD / MXN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3533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018"/>
                </a:solidFill>
              </a:rPr>
              <a:t>$17.0333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7472" y="1828800"/>
            <a:ext cx="2011680" cy="201168"/>
          </a:xfrm>
          <a:prstGeom prst="rect">
            <a:avLst/>
          </a:prstGeom>
          <a:solidFill>
            <a:srgbClr val="DEF2E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288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905A"/>
                </a:solidFill>
              </a:rPr>
              <a:t>▲ +0.09% (peso aprecia)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0482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FIX Banxico: $17.0386  |  Cierre NY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" y="2194560"/>
            <a:ext cx="338328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2311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8070"/>
                </a:solidFill>
              </a:rPr>
              <a:t>EUR / USD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4505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018"/>
                </a:solidFill>
              </a:rPr>
              <a:t>~1.160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47472" y="2926080"/>
            <a:ext cx="2011680" cy="201168"/>
          </a:xfrm>
          <a:prstGeom prst="rect">
            <a:avLst/>
          </a:prstGeom>
          <a:solidFill>
            <a:srgbClr val="FAE6E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926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3838"/>
                </a:solidFill>
              </a:rPr>
              <a:t>▼ Dólar firme vs. euro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1455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Estimado implícito (EUR/MXN ÷ USD/MXN)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338328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3284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8070"/>
                </a:solidFill>
              </a:rPr>
              <a:t>EUR / MXN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3547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018"/>
                </a:solidFill>
              </a:rPr>
              <a:t>~$19.76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4023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8070"/>
                </a:solidFill>
              </a:rPr>
              <a:t>≈ sin cambio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42428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Xe.com apertura 18 ago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7472" y="4425696"/>
            <a:ext cx="3383280" cy="18288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462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08070"/>
                </a:solidFill>
              </a:rPr>
              <a:t>Peso resistente a pesar del clima risk-off global. Diferencial de tasas MX-EE.UU. (~275-300pb) sostiene el carry trade en MXN.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60520" y="822960"/>
            <a:ext cx="7772400" cy="365760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822960"/>
            <a:ext cx="7772400" cy="256032"/>
          </a:xfrm>
          <a:prstGeom prst="rect">
            <a:avLst/>
          </a:prstGeom>
          <a:solidFill>
            <a:srgbClr val="0D2018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COMMODITIES — CIERRE 18 AGOSTO · IMPACTO ORMUZ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51960" y="1088136"/>
            <a:ext cx="3657600" cy="1024128"/>
          </a:xfrm>
          <a:prstGeom prst="rect">
            <a:avLst/>
          </a:prstGeom>
          <a:solidFill>
            <a:srgbClr val="FAE6EC"/>
          </a:solidFill>
          <a:ln w="12700">
            <a:solidFill>
              <a:srgbClr val="9C1E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1133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🛢  Brent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0" y="1353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$90.97/bbl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13533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905A"/>
                </a:solidFill>
              </a:rPr>
              <a:t>+~0.5%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Rompe $90 · Prima Ormuz activa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97680" y="2157984"/>
            <a:ext cx="347472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22311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🛢  WTI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97680" y="2450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$85.71/bbl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905A"/>
                </a:solidFill>
              </a:rPr>
              <a:t>+~0.5%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Lunes +2.6% · Tendencia alcista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297680" y="3255264"/>
            <a:ext cx="347472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33284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🥇  Oro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97680" y="3547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$4,387.25/oz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3680" y="35478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3838"/>
                </a:solidFill>
              </a:rPr>
              <a:t>−0.60%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97680" y="3931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Presionado por dólar + yields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138160" y="1133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🥈  Plata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138160" y="1353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~$64/oz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424160" y="13533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3838"/>
                </a:solidFill>
              </a:rPr>
              <a:t>~−1.7%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3816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+68.9% anual · Corrección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138160" y="2157984"/>
            <a:ext cx="347472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22311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🔵  Cobre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38160" y="2450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$6.47/lb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42416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3838"/>
                </a:solidFill>
              </a:rPr>
              <a:t>−2.09%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3816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Mayor baja del día · China demand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138160" y="3255264"/>
            <a:ext cx="347472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56" name="Text 54"/>
          <p:cNvSpPr/>
          <p:nvPr/>
        </p:nvSpPr>
        <p:spPr>
          <a:xfrm>
            <a:off x="8138160" y="33284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18"/>
                </a:solidFill>
              </a:rPr>
              <a:t>🔥  Gas Natural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38160" y="3547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$2.70/MMBtu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424160" y="35478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905A"/>
                </a:solidFill>
              </a:rPr>
              <a:t>+0.46%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38160" y="3931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8070"/>
                </a:solidFill>
              </a:rPr>
              <a:t>Recuperación moderada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955280" y="1097280"/>
            <a:ext cx="18288" cy="3337560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61" name="Shape 59"/>
          <p:cNvSpPr/>
          <p:nvPr/>
        </p:nvSpPr>
        <p:spPr>
          <a:xfrm>
            <a:off x="228600" y="4572000"/>
            <a:ext cx="11704320" cy="27432"/>
          </a:xfrm>
          <a:prstGeom prst="rect">
            <a:avLst/>
          </a:prstGeom>
          <a:solidFill>
            <a:srgbClr val="9C1E30"/>
          </a:solidFill>
          <a:ln/>
        </p:spPr>
      </p:sp>
      <p:sp>
        <p:nvSpPr>
          <p:cNvPr id="62" name="Shape 60"/>
          <p:cNvSpPr/>
          <p:nvPr/>
        </p:nvSpPr>
        <p:spPr>
          <a:xfrm>
            <a:off x="228600" y="4599432"/>
            <a:ext cx="11704320" cy="1481328"/>
          </a:xfrm>
          <a:prstGeom prst="rect">
            <a:avLst/>
          </a:prstGeom>
          <a:solidFill>
            <a:srgbClr val="FFF3F5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6634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1E30"/>
                </a:solidFill>
              </a:rPr>
              <a:t>🛢  BRENT ROMPE $90 — PRIMER CIERRE SOBRE $90 DESDE INICIO DE LA CRISIS ORMUZ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7472" y="4956048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📌  Brent $90.97/bbl es el cierre más alto desde el inicio del bloqueo en Ormuz · WTI sube a $85.71 (+2.6% lunes + hoy)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347472" y="5294376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🎯  Escenario base actualizado: si Trump confirma bloqueo naval indefinido → Brent $95-$100 en 2-3 semanas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347472" y="5632704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🇲🇽  México: Pemex exporta crudo Brent-linked → mejora ingresos fiscales. Pero gasolinas importadas presionan inflación interna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68" name="Text 66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890"/>
                </a:solidFill>
              </a:rPr>
              <a:t>Fuentes: Eastern Herald · HDFCSky · Yahoo Finance · Forbes Advisor · Trading Economics · MTFX · Xe.com  |  Análisis informativo — No constituye asesoría financiera.  4 / 5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México — Noticias &amp; Agenda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A890"/>
                </a:solidFill>
              </a:rPr>
              <a:t>Martes 18 agosto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018"/>
                </a:solidFill>
              </a:rPr>
              <a:t>México — Noticias &amp; Agenda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6583680" cy="1755648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solidFill>
            <a:srgbClr val="9C1E3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ORMUZ · IMPACTO DIRECTO MÉXICO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18"/>
                </a:solidFill>
              </a:rPr>
              <a:t>Brent $90.97 — Doble Filo para México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Con el Brent superando $90/bbl por primera vez desde el inicio de la crisis, México vive un dilema: Pemex exporta petróleo crudo y mejora sus ingresos fiscales. Pero México importa el 60% de sus gasolinas y diésel — si el Brent llega a $95-$100, la inflación de combustibles reactivaría la presión sobre los precios internos.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6583680" cy="1755648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solidFill>
            <a:srgbClr val="2A908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BANXICO · TASA Y PERSPECTIVA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18"/>
                </a:solidFill>
              </a:rPr>
              <a:t>Banxico 6.75% · 13 Recortes Desde 2024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2369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La tasa de referencia de Banxico se ubica en 6.75% tras 13 recortes desde inicios de 2024. Proyección mercado para fin de año 2026: 6.3–6.5%. La próxima decisión es el 25 septiembre — los datos de inflación de agosto y el tono de las minutas del FOMC de mañana condicionarán la decisión. Encuesta Citi (10 ago): USD/MXN cerrando 2026 en $17.90.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28600" y="4480560"/>
            <a:ext cx="6583680" cy="1755648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solidFill>
            <a:srgbClr val="2A705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NEARSHORING · T-MEC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47548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18"/>
                </a:solidFill>
              </a:rPr>
              <a:t>Nearshoring: México Cumple T-MEC al 89%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50657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018"/>
                </a:solidFill>
              </a:rPr>
              <a:t>El cumplimiento de las reglas de origen del T-MEC escaló de 45% al 89% — señal de que el tejido industrial se está adaptando al acuerdo. La IED récord de $23,591 MDD en Q1 2026 y salarios manufactureros de ~$4.90/hr (25% por debajo de China) mantienen el atractivo competitivo. La certeza jurídica sigue siendo el factor crítico del mediano plazo.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822960"/>
            <a:ext cx="4937760" cy="5486400"/>
          </a:xfrm>
          <a:prstGeom prst="rect">
            <a:avLst/>
          </a:prstGeom>
          <a:solidFill>
            <a:srgbClr val="F7FCF9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solidFill>
            <a:srgbClr val="0D2018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 PRÓXIMOS DÍAS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11521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Hoy · 18 ago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509760" y="1152144"/>
            <a:ext cx="2286000" cy="201168"/>
          </a:xfrm>
          <a:prstGeom prst="rect">
            <a:avLst/>
          </a:prstGeom>
          <a:solidFill>
            <a:srgbClr val="DEF2E8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11521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9080"/>
                </a:solidFill>
              </a:rPr>
              <a:t>COMPLETADO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4032" y="137160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IPC BMV −0.38% → 64,152 pts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14032" y="16459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Brent $90.97 · Nasdaq −1.33%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14032" y="192024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Housing Starts −12.4% MoM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14032" y="2322576"/>
            <a:ext cx="46634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2" name="Text 30"/>
          <p:cNvSpPr/>
          <p:nvPr/>
        </p:nvSpPr>
        <p:spPr>
          <a:xfrm>
            <a:off x="7114032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Mié 19 ago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509760" y="2395728"/>
            <a:ext cx="2286000" cy="201168"/>
          </a:xfrm>
          <a:prstGeom prst="rect">
            <a:avLst/>
          </a:prstGeom>
          <a:solidFill>
            <a:srgbClr val="FAE6EC"/>
          </a:solidFill>
          <a:ln/>
        </p:spPr>
      </p:sp>
      <p:sp>
        <p:nvSpPr>
          <p:cNvPr id="34" name="Text 32"/>
          <p:cNvSpPr/>
          <p:nvPr/>
        </p:nvSpPr>
        <p:spPr>
          <a:xfrm>
            <a:off x="9509760" y="2395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1E30"/>
                </a:solidFill>
              </a:rPr>
              <a:t>CLAVE 🔴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114032" y="261518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Minutas FOMC 14:00 EDT — El evento de la semana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114032" y="288950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Solicitudes hipotecas MBA (8:00 AM EDT)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14032" y="3291840"/>
            <a:ext cx="46634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38" name="Text 36"/>
          <p:cNvSpPr/>
          <p:nvPr/>
        </p:nvSpPr>
        <p:spPr>
          <a:xfrm>
            <a:off x="7114032" y="3364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Jue 20 ago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509760" y="3364992"/>
            <a:ext cx="2286000" cy="201168"/>
          </a:xfrm>
          <a:prstGeom prst="rect">
            <a:avLst/>
          </a:prstGeom>
          <a:solidFill>
            <a:srgbClr val="FDF0D8"/>
          </a:solidFill>
          <a:ln/>
        </p:spPr>
      </p:sp>
      <p:sp>
        <p:nvSpPr>
          <p:cNvPr id="40" name="Text 38"/>
          <p:cNvSpPr/>
          <p:nvPr/>
        </p:nvSpPr>
        <p:spPr>
          <a:xfrm>
            <a:off x="9509760" y="3364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7020"/>
                </a:solidFill>
              </a:rPr>
              <a:t>MEDIO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14032" y="358444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Solicitudes desempleo EE.UU.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14032" y="385876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Enc. Fed Philadelphia (manufactura)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14032" y="4261104"/>
            <a:ext cx="46634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334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Vie 22 ago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509760" y="4334256"/>
            <a:ext cx="2286000" cy="201168"/>
          </a:xfrm>
          <a:prstGeom prst="rect">
            <a:avLst/>
          </a:prstGeom>
          <a:solidFill>
            <a:srgbClr val="FDF0D8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0" y="43342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7020"/>
                </a:solidFill>
              </a:rPr>
              <a:t>MEDIO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114032" y="45537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PMI Manufactura y Servicios EE.UU. (flash)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14032" y="48280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Ventas vivienda existente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14032" y="5230368"/>
            <a:ext cx="46634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50" name="Text 48"/>
          <p:cNvSpPr/>
          <p:nvPr/>
        </p:nvSpPr>
        <p:spPr>
          <a:xfrm>
            <a:off x="7114032" y="53035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8070"/>
                </a:solidFill>
              </a:rPr>
              <a:t>Jue 25 sep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509760" y="5303520"/>
            <a:ext cx="2286000" cy="201168"/>
          </a:xfrm>
          <a:prstGeom prst="rect">
            <a:avLst/>
          </a:prstGeom>
          <a:solidFill>
            <a:srgbClr val="FDF0D8"/>
          </a:solidFill>
          <a:ln/>
        </p:spPr>
      </p:sp>
      <p:sp>
        <p:nvSpPr>
          <p:cNvPr id="52" name="Text 50"/>
          <p:cNvSpPr/>
          <p:nvPr/>
        </p:nvSpPr>
        <p:spPr>
          <a:xfrm>
            <a:off x="9509760" y="5303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7050"/>
                </a:solidFill>
              </a:rPr>
              <a:t>PRÓXIMO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14032" y="552297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Decisión tasa Banxico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114032" y="579729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2018"/>
                </a:solidFill>
              </a:rPr>
              <a:t>• Inflación agosto MX = dato clave previo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14032" y="6199632"/>
            <a:ext cx="4663440" cy="9144"/>
          </a:xfrm>
          <a:prstGeom prst="rect">
            <a:avLst/>
          </a:prstGeom>
          <a:solidFill>
            <a:srgbClr val="B8D8CC"/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6355080"/>
            <a:ext cx="6583680" cy="320040"/>
          </a:xfrm>
          <a:prstGeom prst="rect">
            <a:avLst/>
          </a:prstGeom>
          <a:solidFill>
            <a:srgbClr val="E8F8F2"/>
          </a:solidFill>
          <a:ln w="12700">
            <a:solidFill>
              <a:srgbClr val="B8D8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6373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7050"/>
                </a:solidFill>
              </a:rPr>
              <a:t>🎯  Señal clave: Minutas FOMC mañana + Brent sobre $90 = dos fuerzas opuestas. Si minutas hawkish → dólar sube, peso cede. Si Brent sigue subiendo → inflación México vuelve a agenda.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1F1A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890"/>
                </a:solidFill>
              </a:rPr>
              <a:t>Fuentes: Banxico · CME FedWatch · INEGI · TMGM/Citi · FXStreet · Rio Times · El Financiero  |  Análisis informativo — No constituye asesoría financiera.  5 / 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2026-08-19T01:54:01Z</dcterms:created>
  <dcterms:modified xsi:type="dcterms:W3CDTF">2026-08-19T01:54:01Z</dcterms:modified>
</cp:coreProperties>
</file>