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848B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20116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98C8"/>
                </a:solidFill>
              </a:rPr>
              <a:t>Jueves · 20 agosto 2026 · Apertura de mercados · Morning Brief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47472" y="502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MÉXICO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47472" y="12344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848B8"/>
                </a:solidFill>
              </a:rPr>
              <a:t>BRIEFING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47472" y="181051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8C8"/>
                </a:solidFill>
              </a:rPr>
              <a:t>Análisis diario de mercados · macro · política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148840"/>
            <a:ext cx="6858000" cy="27432"/>
          </a:xfrm>
          <a:prstGeom prst="rect">
            <a:avLst/>
          </a:prstGeom>
          <a:solidFill>
            <a:srgbClr val="6848B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2240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98C8"/>
                </a:solidFill>
              </a:rPr>
              <a:t>Peso vuelve a $16.94 · Brent sube a $93 · Plata $68 (+1.5%) · Jobless Claims + Philly Fed hoy · Ormuz: posible secuestro de tanquero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670048"/>
            <a:ext cx="2560320" cy="987552"/>
          </a:xfrm>
          <a:prstGeom prst="rect">
            <a:avLst/>
          </a:prstGeom>
          <a:solidFill>
            <a:srgbClr val="E0F4EC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USD / MXN Apertura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058"/>
                </a:solidFill>
              </a:rPr>
              <a:t>$16.94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888"/>
                </a:solidFill>
              </a:rPr>
              <a:t>Rompe $17 por 2ª vez · Mejor nivel 2026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090672" y="2670048"/>
            <a:ext cx="2560320" cy="987552"/>
          </a:xfrm>
          <a:prstGeom prst="rect">
            <a:avLst/>
          </a:prstGeom>
          <a:solidFill>
            <a:srgbClr val="FAE4E8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Brent Crude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004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1828"/>
                </a:solidFill>
              </a:rPr>
              <a:t>$93.01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888"/>
                </a:solidFill>
              </a:rPr>
              <a:t>+1.52% · Prima Ormuz sostenida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833872" y="2670048"/>
            <a:ext cx="2560320" cy="987552"/>
          </a:xfrm>
          <a:prstGeom prst="rect">
            <a:avLst/>
          </a:prstGeom>
          <a:solidFill>
            <a:srgbClr val="EDE8FA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274320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IPC BMV Apertura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943600" y="2916936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848B8"/>
                </a:solidFill>
              </a:rPr>
              <a:t>64,194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943600" y="3355848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888"/>
                </a:solidFill>
              </a:rPr>
              <a:t>+0.41% · Mineras lideran alza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898C8"/>
                </a:solidFill>
              </a:rPr>
              <a:t>Fuentes: Yahoo Finance · CNBC · Rio Times · CME FedWatch · Al Jazeera · Fortune · Bloomberg · CME Group  |  Análisis informativo — No constituye asesoría financiera.  1 / 5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Macro Apertura — Digestión FOMC + Datos del Día · Jue 20 ago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Jueves 20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8"/>
                </a:solidFill>
              </a:rPr>
              <a:t>Macro Apertura — Digestión FOMC Minutes + Datos Clave del Día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577840" cy="292608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solidFill>
            <a:srgbClr val="6848B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📋  FOMC MINUTES — DIGESTIÓN POST-MINUTAS (mañana jue 20)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CME FEDWATCH — ACTUALIZADO HOY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7472" y="13898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888"/>
                </a:solidFill>
              </a:rPr>
              <a:t>Hold sep 16 (sin cambio) — Escenario base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0" y="13898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9058"/>
                </a:solidFill>
              </a:rPr>
              <a:t>68.4%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645920"/>
            <a:ext cx="534009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700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888"/>
                </a:solidFill>
              </a:rPr>
              <a:t>Alza +25 pb en sep 16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23360" y="17007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A83028"/>
                </a:solidFill>
              </a:rPr>
              <a:t>31.6%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1956816"/>
            <a:ext cx="534009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888"/>
                </a:solidFill>
              </a:rPr>
              <a:t>Recorte en sep 16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0" y="20116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06888"/>
                </a:solidFill>
              </a:rPr>
              <a:t>~0%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267712"/>
            <a:ext cx="534009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322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6888"/>
                </a:solidFill>
              </a:rPr>
              <a:t>1 alza proyectada para todo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0" y="2322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848B8"/>
                </a:solidFill>
              </a:rPr>
              <a:t>Dic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651760"/>
            <a:ext cx="534009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688336"/>
            <a:ext cx="5340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SEÑALES MIXTAS POST-MINUTAS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7472" y="2926080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🔴  Minutas hawkish → 31.6% esperan alza en sep; mercado más alerta que antes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47472" y="3273552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🟢  Yields del T-30 bajaron desde 5.33% (máx mar) → alivia presión sobre growth stocks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47472" y="3621024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🟡  Buyback de bonos del Tesoro por el gobierno: señal contradictoria al hawkismo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47472" y="3968496"/>
            <a:ext cx="53400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💵  DXY (índice dólar) suave → favorece carry en MXN, BRL, TRY y EM basket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989320" y="822960"/>
            <a:ext cx="5943600" cy="292608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solidFill>
            <a:srgbClr val="C07820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822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📅  DATOS ECONÓMICOS HOY · 07:30 CT / 08:30 ET · EE.UU.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26480" y="117043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SOLICITUDES DE DESEMPLEO (JOBLESS CLAIMS)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126480" y="1389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</a:rPr>
              <a:t>Est. ~202k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046720" y="1481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88"/>
                </a:solidFill>
              </a:rPr>
              <a:t>vs 209k semana previa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26480" y="179222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⬇️  Si baja de 202k → mercado laboral fuerte → presión hawkish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⬆️  Si sube de 209k → debilidad laboral → dovish / menos alza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126480" y="2304288"/>
            <a:ext cx="55778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36" name="Text 34"/>
          <p:cNvSpPr/>
          <p:nvPr/>
        </p:nvSpPr>
        <p:spPr>
          <a:xfrm>
            <a:off x="6126480" y="23408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PHILLY FED MANUFACTURING · AGOSTO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26480" y="2560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28"/>
                </a:solidFill>
              </a:rPr>
              <a:t>Est. 24.1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04672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3028"/>
                </a:solidFill>
              </a:rPr>
              <a:t>vs 41.4 previo — gran desaceleración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26480" y="296265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⚠️  Si el dato baja más de lo esperado → alivio hawkish → posible rally en bolsas y oro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🎯  Manufactura EE.UU. bajo presión por dólar fuerte y costos energéticos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228600" y="3840480"/>
            <a:ext cx="1170432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41" name="Shape 39"/>
          <p:cNvSpPr/>
          <p:nvPr/>
        </p:nvSpPr>
        <p:spPr>
          <a:xfrm>
            <a:off x="228600" y="3895344"/>
            <a:ext cx="5577840" cy="1828800"/>
          </a:xfrm>
          <a:prstGeom prst="rect">
            <a:avLst/>
          </a:prstGeom>
          <a:solidFill>
            <a:srgbClr val="E0F4EC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3895344"/>
            <a:ext cx="5577840" cy="256032"/>
          </a:xfrm>
          <a:prstGeom prst="rect">
            <a:avLst/>
          </a:prstGeom>
          <a:solidFill>
            <a:srgbClr val="2A9058"/>
          </a:solidFill>
          <a:ln/>
        </p:spPr>
      </p:sp>
      <p:sp>
        <p:nvSpPr>
          <p:cNvPr id="43" name="Text 41"/>
          <p:cNvSpPr/>
          <p:nvPr/>
        </p:nvSpPr>
        <p:spPr>
          <a:xfrm>
            <a:off x="228600" y="389534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🇲🇽  PESO MEXICANO — ROMPE $17 POR 2ª VEZ EN 2026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7472" y="4206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9058"/>
                </a:solidFill>
              </a:rPr>
              <a:t>$16.9444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347472" y="4800600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4800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Mejor nivel 2026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468880" y="4754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Banxico 6.50% · Carry trade récord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83,700 contratos netos largos en CME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347472" y="5230368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6888"/>
                </a:solidFill>
              </a:rPr>
              <a:t>EUR/USD 1.1684 · EUR/MXN ~$19.80 · DXY bajo presión post-minutas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989320" y="3895344"/>
            <a:ext cx="5943600" cy="182880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3895344"/>
            <a:ext cx="5943600" cy="256032"/>
          </a:xfrm>
          <a:prstGeom prst="rect">
            <a:avLst/>
          </a:prstGeom>
          <a:solidFill>
            <a:srgbClr val="6848B8"/>
          </a:solidFill>
          <a:ln/>
        </p:spPr>
      </p:sp>
      <p:sp>
        <p:nvSpPr>
          <p:cNvPr id="51" name="Text 49"/>
          <p:cNvSpPr/>
          <p:nvPr/>
        </p:nvSpPr>
        <p:spPr>
          <a:xfrm>
            <a:off x="5989320" y="389534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📈  FUTUROS EE.UU. — APERTURA EN VERDE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26480" y="42062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88"/>
                </a:solidFill>
              </a:rPr>
              <a:t>S&amp;P 500 Futuros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418320" y="42062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058"/>
                </a:solidFill>
              </a:rPr>
              <a:t>+0.16%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26480" y="4517136"/>
            <a:ext cx="55778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5" name="Text 53"/>
          <p:cNvSpPr/>
          <p:nvPr/>
        </p:nvSpPr>
        <p:spPr>
          <a:xfrm>
            <a:off x="6126480" y="459028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88"/>
                </a:solidFill>
              </a:rPr>
              <a:t>Nasdaq Futuros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418320" y="4590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A9058"/>
                </a:solidFill>
              </a:rPr>
              <a:t>+0.42%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26480" y="4901184"/>
            <a:ext cx="55778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8" name="Text 56"/>
          <p:cNvSpPr/>
          <p:nvPr/>
        </p:nvSpPr>
        <p:spPr>
          <a:xfrm>
            <a:off x="6126480" y="497433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888"/>
                </a:solidFill>
              </a:rPr>
              <a:t>Prob. cierre verde (Polymarket)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418320" y="49743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848B8"/>
                </a:solidFill>
              </a:rPr>
              <a:t>66%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26480" y="504748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DAX 40 (Europa): abrió en 26,146 · Sesión moderada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Mercados en modo de espera por Jobless Claims + Philly Fed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62" name="Text 60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898C8"/>
                </a:solidFill>
              </a:rPr>
              <a:t>Fuentes: CME FedWatch · CNBC · Rio Times · Yahoo Finance · Bloomberg · Newsquawk · Polymarket  |  Análisis informativo — No constituye asesoría financiera.  2 / 5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Mercados Globales — Apertura 20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Jueves 20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8"/>
                </a:solidFill>
              </a:rPr>
              <a:t>Mercados Globales — Apertura 20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5303520" cy="310896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IPC BMV — BOLSA MEXICANA · APERTURA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704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428"/>
                </a:solidFill>
              </a:rPr>
              <a:t>64,194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888"/>
                </a:solidFill>
              </a:rPr>
              <a:t>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013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+0.41%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18013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888"/>
                </a:solidFill>
              </a:rPr>
              <a:t>Mineras lideran alza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" y="2057400"/>
            <a:ext cx="497433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03120"/>
            <a:ext cx="4974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LÍDERES DE SESIÓN (APERTURA)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3408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28"/>
                </a:solidFill>
              </a:rPr>
              <a:t>Peñoles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0" y="234086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058"/>
                </a:solidFill>
              </a:rPr>
              <a:t>+2.7%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34086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888"/>
                </a:solidFill>
              </a:rPr>
              <a:t>Plata $68 impulsa mineras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47472" y="2798064"/>
            <a:ext cx="497433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8437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28"/>
                </a:solidFill>
              </a:rPr>
              <a:t>Grupo México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77440" y="284378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9058"/>
                </a:solidFill>
              </a:rPr>
              <a:t>+1.3%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28437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888"/>
                </a:solidFill>
              </a:rPr>
              <a:t>Cobre y plata en alza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47472" y="3364992"/>
            <a:ext cx="497433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3401568"/>
            <a:ext cx="4974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6888"/>
                </a:solidFill>
              </a:rPr>
              <a:t>CONTEXTO: Las mineras de BMV correlacionan directamente con plata y cobre. Con plata en $68 (+1.47%), Peñoles y Grupo México abren como los grandes ganadores de la sesión de apertura.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715000" y="822960"/>
            <a:ext cx="6217920" cy="310896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822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ÍNDICES GLOBALES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33872" y="11704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S&amp;P 500 (Futuros)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0" y="11704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9058"/>
                </a:solidFill>
              </a:rPr>
              <a:t>+0.16%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33872" y="1499616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Apertura en verde · FOMC digerido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833872" y="1755648"/>
            <a:ext cx="594360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33" name="Text 31"/>
          <p:cNvSpPr/>
          <p:nvPr/>
        </p:nvSpPr>
        <p:spPr>
          <a:xfrm>
            <a:off x="5833872" y="18288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Nasdaq (Futuros)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61120" y="18288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9058"/>
                </a:solidFill>
              </a:rPr>
              <a:t>+0.42%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33872" y="2157984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Tech lidera rebote pre-market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833872" y="2414016"/>
            <a:ext cx="594360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37" name="Text 35"/>
          <p:cNvSpPr/>
          <p:nvPr/>
        </p:nvSpPr>
        <p:spPr>
          <a:xfrm>
            <a:off x="5833872" y="24871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DAX 40 (Europa)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61120" y="24871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A1428"/>
                </a:solidFill>
              </a:rPr>
              <a:t>26,146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33872" y="281635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Apertura estable · Ormuz en radar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833872" y="3072384"/>
            <a:ext cx="594360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41" name="Text 39"/>
          <p:cNvSpPr/>
          <p:nvPr/>
        </p:nvSpPr>
        <p:spPr>
          <a:xfrm>
            <a:off x="5833872" y="31455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IPC BMV (apertura)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61120" y="31455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A9058"/>
                </a:solidFill>
              </a:rPr>
              <a:t>+0.41%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33872" y="3474720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Mineras y carry trade impulsan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8600" y="4005072"/>
            <a:ext cx="1170432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228600" y="4059936"/>
            <a:ext cx="5577840" cy="2487168"/>
          </a:xfrm>
          <a:prstGeom prst="rect">
            <a:avLst/>
          </a:prstGeom>
          <a:solidFill>
            <a:srgbClr val="FAF2D0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4059936"/>
            <a:ext cx="5577840" cy="274320"/>
          </a:xfrm>
          <a:prstGeom prst="rect">
            <a:avLst/>
          </a:prstGeom>
          <a:solidFill>
            <a:srgbClr val="A88010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" y="405993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🥇  ORO — CONSOLIDA RÉCORD POST-MINUTAS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7472" y="440740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88010"/>
                </a:solidFill>
              </a:rPr>
              <a:t>$4,474</a:t>
            </a:r>
            <a:endParaRPr lang="en-US" sz="4000" dirty="0"/>
          </a:p>
        </p:txBody>
      </p:sp>
      <p:sp>
        <p:nvSpPr>
          <p:cNvPr id="49" name="Text 47"/>
          <p:cNvSpPr/>
          <p:nvPr/>
        </p:nvSpPr>
        <p:spPr>
          <a:xfrm>
            <a:off x="2926080" y="4709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6888"/>
                </a:solidFill>
              </a:rPr>
              <a:t>/oz spot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" y="5047488"/>
            <a:ext cx="1828800" cy="201168"/>
          </a:xfrm>
          <a:prstGeom prst="rect">
            <a:avLst/>
          </a:prstGeom>
          <a:solidFill>
            <a:srgbClr val="FAE4E0"/>
          </a:solidFill>
          <a:ln/>
        </p:spPr>
      </p:sp>
      <p:sp>
        <p:nvSpPr>
          <p:cNvPr id="51" name="Text 49"/>
          <p:cNvSpPr/>
          <p:nvPr/>
        </p:nvSpPr>
        <p:spPr>
          <a:xfrm>
            <a:off x="347472" y="5047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3028"/>
                </a:solidFill>
              </a:rPr>
              <a:t>▼ Bajó vs $4,493 ayer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286000" y="50474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88010"/>
                </a:solidFill>
              </a:rPr>
              <a:t>COMEX futuros: $4,580 (mercado sigue alcista)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47472" y="5303520"/>
            <a:ext cx="5248656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5340096"/>
            <a:ext cx="5248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06888"/>
                </a:solidFill>
              </a:rPr>
              <a:t>Spot baja levemente vs récord ayer · Futuros COMEX mantienen bid · El oro entra en fase de consolidación post-shock · Soporte clave: $4,440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989320" y="4059936"/>
            <a:ext cx="5943600" cy="2487168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89320" y="4059936"/>
            <a:ext cx="5943600" cy="274320"/>
          </a:xfrm>
          <a:prstGeom prst="rect">
            <a:avLst/>
          </a:prstGeom>
          <a:solidFill>
            <a:srgbClr val="706888"/>
          </a:solidFill>
          <a:ln/>
        </p:spPr>
      </p:sp>
      <p:sp>
        <p:nvSpPr>
          <p:cNvPr id="57" name="Text 55"/>
          <p:cNvSpPr/>
          <p:nvPr/>
        </p:nvSpPr>
        <p:spPr>
          <a:xfrm>
            <a:off x="5989320" y="40599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🥈  PLATA — OUTPERFORM DEL DÍA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26480" y="440740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02858"/>
                </a:solidFill>
              </a:rPr>
              <a:t>$68.00</a:t>
            </a:r>
            <a:endParaRPr lang="en-US" sz="4000" dirty="0"/>
          </a:p>
        </p:txBody>
      </p:sp>
      <p:sp>
        <p:nvSpPr>
          <p:cNvPr id="59" name="Text 57"/>
          <p:cNvSpPr/>
          <p:nvPr/>
        </p:nvSpPr>
        <p:spPr>
          <a:xfrm>
            <a:off x="850392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888"/>
                </a:solidFill>
              </a:rPr>
              <a:t>/oz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126480" y="5047488"/>
            <a:ext cx="182880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61" name="Text 59"/>
          <p:cNvSpPr/>
          <p:nvPr/>
        </p:nvSpPr>
        <p:spPr>
          <a:xfrm>
            <a:off x="6126480" y="5047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+1.47%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046720" y="50474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A9058"/>
                </a:solidFill>
              </a:rPr>
              <a:t>Máximo de varios meses — outperforms gold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126480" y="5303520"/>
            <a:ext cx="55778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64" name="Text 62"/>
          <p:cNvSpPr/>
          <p:nvPr/>
        </p:nvSpPr>
        <p:spPr>
          <a:xfrm>
            <a:off x="6126480" y="534009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📈  +70%+ anual — supera al oro en 2026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6126480" y="561441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⛏️   Peñoles y Grupo México directamente correlacionados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126480" y="588873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🏭  Demanda industrial + demanda de refugio = doble impulso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68" name="Text 66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898C8"/>
                </a:solidFill>
              </a:rPr>
              <a:t>Fuentes: Yahoo Finance · CNBC · Rio Times · Fortune · Bloomberg · CME Group Rates Recap  |  Análisis informativo — No constituye asesoría financiera.  3 / 5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Divisas &amp; Commodities — Apertura 20 agosto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Jueves 20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8"/>
                </a:solidFill>
              </a:rPr>
              <a:t>Divisas &amp; Commodities — Apertura 20 agosto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3749040" cy="352044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3749040" cy="25603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TIPO DE CAMBIO · APERTURA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155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06888"/>
                </a:solidFill>
              </a:rPr>
              <a:t>USD / MXN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058"/>
                </a:solidFill>
              </a:rPr>
              <a:t>$16.9444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" y="1810512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810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Mejor nivel del año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2029968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Rompió $17 por 2ª vez en 2026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7472" y="2157984"/>
            <a:ext cx="338328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21945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06888"/>
                </a:solidFill>
              </a:rPr>
              <a:t>EUR / USD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7472" y="241401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058"/>
                </a:solidFill>
              </a:rPr>
              <a:t>1.1684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47472" y="2889504"/>
            <a:ext cx="2011680" cy="201168"/>
          </a:xfrm>
          <a:prstGeom prst="rect">
            <a:avLst/>
          </a:prstGeom>
          <a:solidFill>
            <a:srgbClr val="E0F4EC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28895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058"/>
                </a:solidFill>
              </a:rPr>
              <a:t>▲ +0.05%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3108960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+0.05% · DXY bajo presión post-FOMC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47472" y="3236976"/>
            <a:ext cx="338328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32735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06888"/>
                </a:solidFill>
              </a:rPr>
              <a:t>EUR / MXN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" y="34930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428"/>
                </a:solidFill>
              </a:rPr>
              <a:t>~$19.80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47472" y="39684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06888"/>
                </a:solidFill>
              </a:rPr>
              <a:t>≈ sin cambio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47472" y="418795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Calculado implícito apertura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338328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3616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i="1" dirty="0">
                <a:solidFill>
                  <a:srgbClr val="706888"/>
                </a:solidFill>
              </a:rPr>
              <a:t>Carry trade récord: 83,700 contratos netos largos MXN en CME. Riesgo reversión si Fed sube en sep. Citi proyecta $17.90 a fin de 2026 en escenario de alza.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4160520" y="822960"/>
            <a:ext cx="7772400" cy="352044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60520" y="822960"/>
            <a:ext cx="7772400" cy="25603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8229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COMMODITIES — APERTURA 20 AGOSTO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51960" y="1097280"/>
            <a:ext cx="3657600" cy="1024128"/>
          </a:xfrm>
          <a:prstGeom prst="rect">
            <a:avLst/>
          </a:prstGeom>
          <a:solidFill>
            <a:srgbClr val="FAE4E8"/>
          </a:solidFill>
          <a:ln w="12700">
            <a:solidFill>
              <a:srgbClr val="9C1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1133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🛢  Brent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0" y="1389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8"/>
                </a:solidFill>
              </a:rPr>
              <a:t>$93.01/bbl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13898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058"/>
                </a:solidFill>
              </a:rPr>
              <a:t>+1.52%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17556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2º día sobre $92 · Prima Ormuz alta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297680" y="2157984"/>
            <a:ext cx="347472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37" name="Text 35"/>
          <p:cNvSpPr/>
          <p:nvPr/>
        </p:nvSpPr>
        <p:spPr>
          <a:xfrm>
            <a:off x="4297680" y="22128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🛢  WTI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8"/>
                </a:solidFill>
              </a:rPr>
              <a:t>~$88.50/bbl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2468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058"/>
                </a:solidFill>
              </a:rPr>
              <a:t>~+1%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97680" y="2834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Estimado · Sigue al Brent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297680" y="3236976"/>
            <a:ext cx="347472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3291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🥇  Oro (spot)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97680" y="3547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8"/>
                </a:solidFill>
              </a:rPr>
              <a:t>$4,474/oz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3547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88010"/>
                </a:solidFill>
              </a:rPr>
              <a:t>Consolida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39136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COMEX futuros $4,580 · Alcista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092440" y="1097280"/>
            <a:ext cx="3657600" cy="1024128"/>
          </a:xfrm>
          <a:prstGeom prst="rect">
            <a:avLst/>
          </a:prstGeom>
          <a:solidFill>
            <a:srgbClr val="F5F5F5"/>
          </a:solidFill>
          <a:ln w="12700">
            <a:solidFill>
              <a:srgbClr val="7068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11338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🥈  Plata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38160" y="1389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8"/>
                </a:solidFill>
              </a:rPr>
              <a:t>$68.00/oz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332720" y="138988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058"/>
                </a:solidFill>
              </a:rPr>
              <a:t>+1.47%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38160" y="17556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Outperform · Máx. varios meses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138160" y="2157984"/>
            <a:ext cx="347472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2" name="Text 50"/>
          <p:cNvSpPr/>
          <p:nvPr/>
        </p:nvSpPr>
        <p:spPr>
          <a:xfrm>
            <a:off x="8138160" y="221284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🔵  Cobre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138160" y="24688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8"/>
                </a:solidFill>
              </a:rPr>
              <a:t>$6.48/lb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0332720" y="24688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3028"/>
                </a:solidFill>
              </a:rPr>
              <a:t>−0.44%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138160" y="2834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Leve baja · IPC mineras no lo refleja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138160" y="3236976"/>
            <a:ext cx="347472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7" name="Text 55"/>
          <p:cNvSpPr/>
          <p:nvPr/>
        </p:nvSpPr>
        <p:spPr>
          <a:xfrm>
            <a:off x="8138160" y="3291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28"/>
                </a:solidFill>
              </a:rPr>
              <a:t>🔥  Gas Natural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3547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28"/>
                </a:solidFill>
              </a:rPr>
              <a:t>$2.75/MMBtu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332720" y="35478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3028"/>
                </a:solidFill>
              </a:rPr>
              <a:t>−2.11%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138160" y="39136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6888"/>
                </a:solidFill>
              </a:rPr>
              <a:t>Corrección técnica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955280" y="1097280"/>
            <a:ext cx="18288" cy="3291840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62" name="Shape 60"/>
          <p:cNvSpPr/>
          <p:nvPr/>
        </p:nvSpPr>
        <p:spPr>
          <a:xfrm>
            <a:off x="228600" y="4434840"/>
            <a:ext cx="11704320" cy="27432"/>
          </a:xfrm>
          <a:prstGeom prst="rect">
            <a:avLst/>
          </a:prstGeom>
          <a:solidFill>
            <a:srgbClr val="9C1828"/>
          </a:solidFill>
          <a:ln/>
        </p:spPr>
      </p:sp>
      <p:sp>
        <p:nvSpPr>
          <p:cNvPr id="63" name="Shape 61"/>
          <p:cNvSpPr/>
          <p:nvPr/>
        </p:nvSpPr>
        <p:spPr>
          <a:xfrm>
            <a:off x="228600" y="4462272"/>
            <a:ext cx="11704320" cy="1691640"/>
          </a:xfrm>
          <a:prstGeom prst="rect">
            <a:avLst/>
          </a:prstGeom>
          <a:solidFill>
            <a:srgbClr val="FFF3F3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51713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1828"/>
                </a:solidFill>
              </a:rPr>
              <a:t>⚠️  ORMUZ — POSIBLE SECUESTRO DE TANQUERO · RIESGO BRENT &gt;$95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47472" y="4809744"/>
            <a:ext cx="11430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⚓  Fuerzas iraníes abordaron un tanquero cerca de Isla Qeshm (Estrecho de Ormuz) — secuestro AÚN NO CONFIRMADO oficialmente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347472" y="5129784"/>
            <a:ext cx="11430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🚢  Si se confirma el secuestro → Brent podría superar $95/bbl en cuestión de horas según analistas de Goldman y JP Morgan</a:t>
            </a:r>
            <a:endParaRPr lang="en-US" sz="780" dirty="0"/>
          </a:p>
        </p:txBody>
      </p:sp>
      <p:sp>
        <p:nvSpPr>
          <p:cNvPr id="67" name="Text 65"/>
          <p:cNvSpPr/>
          <p:nvPr/>
        </p:nvSpPr>
        <p:spPr>
          <a:xfrm>
            <a:off x="347472" y="5449824"/>
            <a:ext cx="11430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🛡️   13 buques cruzaron el estrecho el 19 ago (normal: ~73/día); 80%+ del tráfico navega por ruta alternativa omaní bajo protección naval EE.UU.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347472" y="5769864"/>
            <a:ext cx="11430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🇲🇽  Impacto México: Pemex ingresos mejoran · Gasolinas importadas presionan inflación · Decisión Banxico 25 sep en el radar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70" name="Text 68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898C8"/>
                </a:solidFill>
              </a:rPr>
              <a:t>Fuentes: Al Jazeera · CNN · Fortune · Yahoo Finance · Trading Economics · Bloomberg · CME Group  |  Análisis informativo — No constituye asesoría financiera.  4 / 5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AF8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" y="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México — Noticias &amp; Agenda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503920" y="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898C8"/>
                </a:solidFill>
              </a:rPr>
              <a:t>Jueves 20 agosto 2026 · Morning Brief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411480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428"/>
                </a:solidFill>
              </a:rPr>
              <a:t>México — Noticias &amp; Agenda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22960"/>
            <a:ext cx="6583680" cy="1755648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solidFill>
            <a:srgbClr val="2A905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229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SUPERPESO · REAPERTURA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47472" y="10972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28"/>
                </a:solidFill>
              </a:rPr>
              <a:t>Peso Vuelve a Romper $17 — $16.9444 en Apertura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El peso mexicano abre el jueves en $16.9444, rompiendo la barrera de $17 por segunda vez en 2026. La razón: el DXY (índice del dólar) se debilitó tras las minutas hawkish de la Fed, que paradójicamente reforzaron la confianza de los inversores en el escenario de pausa (68.4%). El carry trade MXN sigue siendo la operación más popular entre hedge funds: 83,700 contratos netos largos en CME. Riesgo clave: reversión si la Fed sube en sep/dic.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228600" y="2651760"/>
            <a:ext cx="6583680" cy="1755648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651760"/>
            <a:ext cx="6583680" cy="237744"/>
          </a:xfrm>
          <a:prstGeom prst="rect">
            <a:avLst/>
          </a:prstGeom>
          <a:solidFill>
            <a:srgbClr val="6848B8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6517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MINERAS IPC · PLATA $68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7472" y="29260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28"/>
                </a:solidFill>
              </a:rPr>
              <a:t>Peñoles +2.7% y Grupo México +1.3% — Mineras Lideran el IPC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32369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Con la plata en $68/oz (+1.47%) y el cobre en $6.48/lb, las mineras de la Bolsa Mexicana de Valores abren como los grandes ganadores del día. Peñoles — el mayor productor de plata en México y el mundo — sube 2.7% en apertura. Grupo México +1.3%. La plata acumula +70%+ anual en 2026, siendo el activo de mayor retorno relativo entre los metales básicos y preciosos.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28600" y="4480560"/>
            <a:ext cx="6583680" cy="1755648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4480560"/>
            <a:ext cx="6583680" cy="237744"/>
          </a:xfrm>
          <a:prstGeom prst="rect">
            <a:avLst/>
          </a:prstGeom>
          <a:solidFill>
            <a:srgbClr val="9C1828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44805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ORMUZ · RIESGO INFLACIÓN MX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47472" y="4754880"/>
            <a:ext cx="6355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428"/>
                </a:solidFill>
              </a:rPr>
              <a:t>Brent $93 · Posible Secuestro de Tanquero — Inflación en Riesgo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5065776"/>
            <a:ext cx="6355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A1428"/>
                </a:solidFill>
              </a:rPr>
              <a:t>El Brent abre en $93.01/bbl (+1.52%), el nivel más alto de la crisis. Un posible secuestro de tanquero iraniano en Isla Qeshm (no confirmado aún) podría llevar el crudo a $95-$100 hoy mismo si se confirma. Para México: los ingresos de Pemex mejoran, pero el país importa ~60% de sus combustibles. Si el Brent supera $95, la inflación de gasolinas presionará el índice general y complicará la próxima decisión de Banxico el 25 de septiembre.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995160" y="822960"/>
            <a:ext cx="4937760" cy="5486400"/>
          </a:xfrm>
          <a:prstGeom prst="rect">
            <a:avLst/>
          </a:prstGeom>
          <a:solidFill>
            <a:srgbClr val="FEFCFF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82296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AGENDA HOY Y PRÓXIMOS DÍAS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14032" y="11521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Hoy · Jue 20 ago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509760" y="1152144"/>
            <a:ext cx="2286000" cy="201168"/>
          </a:xfrm>
          <a:prstGeom prst="rect">
            <a:avLst/>
          </a:prstGeom>
          <a:solidFill>
            <a:srgbClr val="EDE8FA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11521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848B8"/>
                </a:solidFill>
              </a:rPr>
              <a:t>HOY 07:30 CT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114032" y="137160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Solicitudes desempleo EE.UU. (est. ~202k vs 209k prev.)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114032" y="162763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Philly Fed Manufacturing (est. 24.1 vs 41.4 prev.)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114032" y="188366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IPC BMV: mineras lideran apertura (+0.41%)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14032" y="2267712"/>
            <a:ext cx="46634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32" name="Text 30"/>
          <p:cNvSpPr/>
          <p:nvPr/>
        </p:nvSpPr>
        <p:spPr>
          <a:xfrm>
            <a:off x="7114032" y="23591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Vie 22 ago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9509760" y="2359152"/>
            <a:ext cx="2286000" cy="201168"/>
          </a:xfrm>
          <a:prstGeom prst="rect">
            <a:avLst/>
          </a:prstGeom>
          <a:solidFill>
            <a:srgbClr val="FDF0D4"/>
          </a:solidFill>
          <a:ln/>
        </p:spPr>
      </p:sp>
      <p:sp>
        <p:nvSpPr>
          <p:cNvPr id="34" name="Text 32"/>
          <p:cNvSpPr/>
          <p:nvPr/>
        </p:nvSpPr>
        <p:spPr>
          <a:xfrm>
            <a:off x="9509760" y="23591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7820"/>
                </a:solidFill>
              </a:rPr>
              <a:t>MAÑANA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114032" y="257860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PMI Manufactura y Servicios EE.UU. (flash agosto)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114032" y="283464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Ventas vivienda existente EE.UU.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14032" y="3218688"/>
            <a:ext cx="46634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38" name="Text 36"/>
          <p:cNvSpPr/>
          <p:nvPr/>
        </p:nvSpPr>
        <p:spPr>
          <a:xfrm>
            <a:off x="7114032" y="3310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Posible hoy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9509760" y="3310128"/>
            <a:ext cx="2286000" cy="201168"/>
          </a:xfrm>
          <a:prstGeom prst="rect">
            <a:avLst/>
          </a:prstGeom>
          <a:solidFill>
            <a:srgbClr val="FAE4E8"/>
          </a:solidFill>
          <a:ln/>
        </p:spPr>
      </p:sp>
      <p:sp>
        <p:nvSpPr>
          <p:cNvPr id="40" name="Text 38"/>
          <p:cNvSpPr/>
          <p:nvPr/>
        </p:nvSpPr>
        <p:spPr>
          <a:xfrm>
            <a:off x="9509760" y="3310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1828"/>
                </a:solidFill>
              </a:rPr>
              <a:t>ALERTA 🔴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114032" y="3529584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Confirmación secuestro tanquero Ormuz → Brent $95+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114032" y="378561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Seguimiento CME FedWatch post-datos de hoy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14032" y="4169664"/>
            <a:ext cx="46634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42611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Sep 16, 2026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509760" y="4261104"/>
            <a:ext cx="2286000" cy="201168"/>
          </a:xfrm>
          <a:prstGeom prst="rect">
            <a:avLst/>
          </a:prstGeom>
          <a:solidFill>
            <a:srgbClr val="FAE4E8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0" y="42611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C1828"/>
                </a:solidFill>
              </a:rPr>
              <a:t>DECISIVO 🔴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114032" y="4480560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Decisión Fed: hold 68.4% vs alza 31.6%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14032" y="4736592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Evento más importante para USD/MXN Q3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14032" y="5120640"/>
            <a:ext cx="46634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0" name="Text 48"/>
          <p:cNvSpPr/>
          <p:nvPr/>
        </p:nvSpPr>
        <p:spPr>
          <a:xfrm>
            <a:off x="7114032" y="5212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06888"/>
                </a:solidFill>
              </a:rPr>
              <a:t>Sep 25, 2026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9509760" y="5212080"/>
            <a:ext cx="2286000" cy="201168"/>
          </a:xfrm>
          <a:prstGeom prst="rect">
            <a:avLst/>
          </a:prstGeom>
          <a:solidFill>
            <a:srgbClr val="E4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9509760" y="5212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A8090"/>
                </a:solidFill>
              </a:rPr>
              <a:t>CLAVE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114032" y="5431536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Decisión tasa Banxico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114032" y="5687568"/>
            <a:ext cx="4663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428"/>
                </a:solidFill>
              </a:rPr>
              <a:t>• Inflación ago MX + contexto Fed = inputs clave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114032" y="6071616"/>
            <a:ext cx="4663440" cy="18288"/>
          </a:xfrm>
          <a:prstGeom prst="rect">
            <a:avLst/>
          </a:prstGeom>
          <a:solidFill>
            <a:srgbClr val="C8C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228600" y="6327648"/>
            <a:ext cx="6583680" cy="347472"/>
          </a:xfrm>
          <a:prstGeom prst="rect">
            <a:avLst/>
          </a:prstGeom>
          <a:solidFill>
            <a:srgbClr val="EDE8FA"/>
          </a:solidFill>
          <a:ln w="12700">
            <a:solidFill>
              <a:srgbClr val="C8C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" y="6345936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848B8"/>
                </a:solidFill>
              </a:rPr>
              <a:t>🎯  Señal mañana: Jobless Claims + Philly Fed son los datos que pueden mover el mercado HOY. Un miss fuerte en Philly Fed (24.1 vs 41.4 prev.) alivia presión hawkish → peso se fortalece, oro sube, bolsas en verde.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1A1428"/>
          </a:solidFill>
          <a:ln/>
        </p:spPr>
      </p:sp>
      <p:sp>
        <p:nvSpPr>
          <p:cNvPr id="59" name="Text 57"/>
          <p:cNvSpPr/>
          <p:nvPr/>
        </p:nvSpPr>
        <p:spPr>
          <a:xfrm>
            <a:off x="164592" y="6510528"/>
            <a:ext cx="1179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A898C8"/>
                </a:solidFill>
              </a:rPr>
              <a:t>Fuentes: Rio Times · Banxico · CME FedWatch · Al Jazeera · CNN · CNBC · Fortune  |  Análisis informativo — No constituye asesoría financiera.  5 / 5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2026-08-20T19:22:40Z</dcterms:created>
  <dcterms:modified xsi:type="dcterms:W3CDTF">2026-08-20T19:22:40Z</dcterms:modified>
</cp:coreProperties>
</file>