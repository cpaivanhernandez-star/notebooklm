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5FC0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8CC"/>
                </a:solidFill>
              </a:rPr>
              <a:t>Lunes · 17 agosto 2026 · Apertura de semana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MÉXICO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5FC0"/>
                </a:solidFill>
              </a:rPr>
              <a:t>BRIEFING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47472" y="18105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CC"/>
                </a:solidFill>
              </a:rPr>
              <a:t>Análisis diario de mercados · macro · política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2148840"/>
            <a:ext cx="6858000" cy="27432"/>
          </a:xfrm>
          <a:prstGeom prst="rect">
            <a:avLst/>
          </a:prstGeom>
          <a:solidFill>
            <a:srgbClr val="4A5FC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22402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8CC"/>
                </a:solidFill>
              </a:rPr>
              <a:t>Banxico interviene deuda por 1ª vez en 32 años · FOMC Minutas miércoles · Oro $4,388 (+0.82%) · Ormuz Día 171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670048"/>
            <a:ext cx="2560320" cy="987552"/>
          </a:xfrm>
          <a:prstGeom prst="rect">
            <a:avLst/>
          </a:prstGeom>
          <a:solidFill>
            <a:srgbClr val="FAE8EC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A8"/>
                </a:solidFill>
              </a:rPr>
              <a:t>USD / MXN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2916936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040"/>
                </a:solidFill>
              </a:rPr>
              <a:t>$17.01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355848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A8"/>
                </a:solidFill>
              </a:rPr>
              <a:t>MXN cede vs $16.98 del vie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090672" y="2670048"/>
            <a:ext cx="2560320" cy="987552"/>
          </a:xfrm>
          <a:prstGeom prst="rect">
            <a:avLst/>
          </a:prstGeom>
          <a:solidFill>
            <a:srgbClr val="EDE8FA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74320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A8"/>
                </a:solidFill>
              </a:rPr>
              <a:t>Minutas FOMC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00400" y="2916936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050B8"/>
                </a:solidFill>
              </a:rPr>
              <a:t>19 ago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3355848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A8"/>
                </a:solidFill>
              </a:rPr>
              <a:t>Miércoles 14:00 ET · Pivotal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833872" y="2670048"/>
            <a:ext cx="2560320" cy="987552"/>
          </a:xfrm>
          <a:prstGeom prst="rect">
            <a:avLst/>
          </a:prstGeom>
          <a:solidFill>
            <a:srgbClr val="EDF0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74320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A8"/>
                </a:solidFill>
              </a:rPr>
              <a:t>Banxico Hito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43600" y="2916936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5FC0"/>
                </a:solidFill>
              </a:rPr>
              <a:t>32 años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943600" y="3355848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A8"/>
                </a:solidFill>
              </a:rPr>
              <a:t>1ª intervención en deuda local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898CC"/>
                </a:solidFill>
              </a:rPr>
              <a:t>Fuentes: Banxico · CME FedWatch · BMV · Trading Economics · El Financiero · Bloomberg · Yahoo Finance  |  Análisis informativo — No constituye asesoría financiera.  1 / 5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C"/>
                </a:solidFill>
              </a:rPr>
              <a:t>Macro del Día — Banxico: Hito Histórico + FOMC Minutes Preview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8CC"/>
                </a:solidFill>
              </a:rPr>
              <a:t>Lunes 17 agosto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Macro del Día — Banxico: Hito Histórico &amp; FOMC Minutes Preview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5577840" cy="2697480"/>
          </a:xfrm>
          <a:prstGeom prst="rect">
            <a:avLst/>
          </a:prstGeom>
          <a:solidFill>
            <a:srgbClr val="F8FA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5577840" cy="274320"/>
          </a:xfrm>
          <a:prstGeom prst="rect">
            <a:avLst/>
          </a:prstGeom>
          <a:solidFill>
            <a:srgbClr val="4A5FC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BANXICO — HITO HISTÓRICO · 17 AGOSTO 2026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704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A8"/>
                </a:solidFill>
              </a:rPr>
              <a:t>TASA BANXICO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7472" y="133502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5FC0"/>
                </a:solidFill>
              </a:rPr>
              <a:t>6.50%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7472" y="181965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A8"/>
                </a:solidFill>
              </a:rPr>
              <a:t>Sin cambio · 4ª pausa consecutiva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0" y="1143000"/>
            <a:ext cx="18288" cy="1463040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14" name="Text 12"/>
          <p:cNvSpPr/>
          <p:nvPr/>
        </p:nvSpPr>
        <p:spPr>
          <a:xfrm>
            <a:off x="2880360" y="11704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A8"/>
                </a:solidFill>
              </a:rPr>
              <a:t>1ª INTERVENCIÓN EN DEUDA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880360" y="133502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050B8"/>
                </a:solidFill>
              </a:rPr>
              <a:t>32 años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880360" y="181965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A8"/>
                </a:solidFill>
              </a:rPr>
              <a:t>Desde su autonomía en 1994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7472" y="2029968"/>
            <a:ext cx="5340096" cy="18288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084832"/>
            <a:ext cx="5340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🏦  Banxico autorizado a comprar/vender bonos soberanos en mercado secundario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" y="2432304"/>
            <a:ext cx="5340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📊  Objetivo: estabilizar tasas de largo plazo y apoyar transmisión de política monetaria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" y="2779776"/>
            <a:ext cx="5340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🔑  Primera activación desde la ley de autonomía de 1994 — decisión histórica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7472" y="3127248"/>
            <a:ext cx="5340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⚖️   Tasa 6.50% mantenida; próxima decisión 25 sep — datos de inflación agosto serán clave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89320" y="822960"/>
            <a:ext cx="5943600" cy="2697480"/>
          </a:xfrm>
          <a:prstGeom prst="rect">
            <a:avLst/>
          </a:prstGeom>
          <a:solidFill>
            <a:srgbClr val="F8FA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822960"/>
            <a:ext cx="5943600" cy="274320"/>
          </a:xfrm>
          <a:prstGeom prst="rect">
            <a:avLst/>
          </a:prstGeom>
          <a:solidFill>
            <a:srgbClr val="7050B8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822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FOMC MINUTES · MIÉRCOLES 19 AGOSTO · 14:00 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26480" y="11704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A8"/>
                </a:solidFill>
              </a:rPr>
              <a:t>ACTAS REUNIÓN 28–29 JULIO 2026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26480" y="13898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A8"/>
                </a:solidFill>
              </a:rPr>
              <a:t>Fed Funds Rate actual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601200" y="13898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3.50%–3.75%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1682496"/>
            <a:ext cx="562356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7190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A8"/>
                </a:solidFill>
              </a:rPr>
              <a:t>Disidentes a favor de +25pb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601200" y="17190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4040"/>
                </a:solidFill>
              </a:rPr>
              <a:t>3 miembros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2011680"/>
            <a:ext cx="562356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20482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A8"/>
                </a:solidFill>
              </a:rPr>
              <a:t>Prob. alza sep (CME FedWatch)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01200" y="20482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7018"/>
                </a:solidFill>
              </a:rPr>
              <a:t>~30%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2340864"/>
            <a:ext cx="562356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23774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A8"/>
                </a:solidFill>
              </a:rPr>
              <a:t>Prob. pausa sep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601200" y="2377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9060"/>
                </a:solidFill>
              </a:rPr>
              <a:t>~70%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2743200"/>
            <a:ext cx="5623560" cy="18288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2798064"/>
            <a:ext cx="5623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📋  Las minutas revelarán el nivel de debate interno sobre la próxima subida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6126480" y="3136392"/>
            <a:ext cx="5623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⚠️   Retail Sales jul −0.6% + CPI 3.4% crean división en el Comité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126480" y="3474720"/>
            <a:ext cx="5623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🎯  Mercado busca pistas: ¿hawkish sorpresa o confirmación de pausa sep?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228600" y="3657600"/>
            <a:ext cx="5577840" cy="1417320"/>
          </a:xfrm>
          <a:prstGeom prst="rect">
            <a:avLst/>
          </a:prstGeom>
          <a:solidFill>
            <a:srgbClr val="FFF8F0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" y="3657600"/>
            <a:ext cx="5577840" cy="256032"/>
          </a:xfrm>
          <a:prstGeom prst="rect">
            <a:avLst/>
          </a:prstGeom>
          <a:solidFill>
            <a:srgbClr val="B87018"/>
          </a:solidFill>
          <a:ln/>
        </p:spPr>
      </p:sp>
      <p:sp>
        <p:nvSpPr>
          <p:cNvPr id="43" name="Text 41"/>
          <p:cNvSpPr/>
          <p:nvPr/>
        </p:nvSpPr>
        <p:spPr>
          <a:xfrm>
            <a:off x="228600" y="36576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USD / MXN — PESO CEDE TERRENO ESTA SEMANA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395020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040"/>
                </a:solidFill>
              </a:rPr>
              <a:t>$17.01 – $17.02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347472" y="4453128"/>
            <a:ext cx="1463040" cy="201168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" y="44531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4040"/>
                </a:solidFill>
              </a:rPr>
              <a:t>▼ vs $16.98 vie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011680" y="395935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Peso se debilita tras tocar mínimo de 2026 el viernes 14 ago. Factor: toma de utilidades + cautela pre-minutas FOMC.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5989320" y="3657600"/>
            <a:ext cx="5943600" cy="1417320"/>
          </a:xfrm>
          <a:prstGeom prst="rect">
            <a:avLst/>
          </a:prstGeom>
          <a:solidFill>
            <a:srgbClr val="EDF0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89320" y="3657600"/>
            <a:ext cx="5943600" cy="256032"/>
          </a:xfrm>
          <a:prstGeom prst="rect">
            <a:avLst/>
          </a:prstGeom>
          <a:solidFill>
            <a:srgbClr val="4A5FC0"/>
          </a:solidFill>
          <a:ln/>
        </p:spPr>
      </p:sp>
      <p:sp>
        <p:nvSpPr>
          <p:cNvPr id="50" name="Text 48"/>
          <p:cNvSpPr/>
          <p:nvPr/>
        </p:nvSpPr>
        <p:spPr>
          <a:xfrm>
            <a:off x="5989320" y="365760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IED Q1 2026 — RÉCORD HISTÓRICO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26480" y="395020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5FC0"/>
                </a:solidFill>
              </a:rPr>
              <a:t>$23,591 M USD</a:t>
            </a:r>
            <a:endParaRPr lang="en-US" sz="2600" dirty="0"/>
          </a:p>
        </p:txBody>
      </p:sp>
      <p:sp>
        <p:nvSpPr>
          <p:cNvPr id="52" name="Shape 50"/>
          <p:cNvSpPr/>
          <p:nvPr/>
        </p:nvSpPr>
        <p:spPr>
          <a:xfrm>
            <a:off x="6126480" y="4453128"/>
            <a:ext cx="1828800" cy="201168"/>
          </a:xfrm>
          <a:prstGeom prst="rect">
            <a:avLst/>
          </a:prstGeom>
          <a:solidFill>
            <a:srgbClr val="E0F4EC"/>
          </a:solidFill>
          <a:ln/>
        </p:spPr>
      </p:sp>
      <p:sp>
        <p:nvSpPr>
          <p:cNvPr id="53" name="Text 51"/>
          <p:cNvSpPr/>
          <p:nvPr/>
        </p:nvSpPr>
        <p:spPr>
          <a:xfrm>
            <a:off x="6126480" y="44531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9060"/>
                </a:solidFill>
              </a:rPr>
              <a:t>▲ Récord Q1 histórico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229600" y="395935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Inversión Extranjera Directa primer trimestre 2026 — el más alto registrado. Nearshoring como motor principal.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228600" y="516636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070A8"/>
                </a:solidFill>
              </a:rPr>
              <a:t>IPC BMV cierre estimado lunes: ~64,400 pts. Banxico tasa: 6.50%. Minutas FOMC miércoles 19 ago son el evento pivotal de la semana.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7" name="Text 55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898CC"/>
                </a:solidFill>
              </a:rPr>
              <a:t>Fuentes: Banxico · CME FedWatch · BMV · Trading Economics · El Financiero · Bloomberg · Yahoo Finance  |  Análisis informativo — No constituye asesoría financiera.  2 / 5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C"/>
                </a:solidFill>
              </a:rPr>
              <a:t>Mercados Globales — Cierre 17 agosto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8CC"/>
                </a:solidFill>
              </a:rPr>
              <a:t>Lunes 17 agosto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Mercados Globales — Cierre 17 agosto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5303520" cy="2240280"/>
          </a:xfrm>
          <a:prstGeom prst="rect">
            <a:avLst/>
          </a:prstGeom>
          <a:solidFill>
            <a:srgbClr val="F8FA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530352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IPC BMV — BOLSA MEXICANA DE VALORES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704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</a:rPr>
              <a:t>~64,400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0A8"/>
                </a:solidFill>
              </a:rPr>
              <a:t>pts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1801368"/>
            <a:ext cx="1463040" cy="201168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8013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4040"/>
                </a:solidFill>
              </a:rPr>
              <a:t>▼ presión bajista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20240" y="18013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A8"/>
                </a:solidFill>
              </a:rPr>
              <a:t>Estimado apertura lunes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7472" y="2057400"/>
            <a:ext cx="4974336" cy="18288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103120"/>
            <a:ext cx="4974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A8"/>
                </a:solidFill>
              </a:rPr>
              <a:t>CONTEXTO SEMANAL BMV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232257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0A8"/>
                </a:solidFill>
              </a:rPr>
              <a:t>Lun 11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47472" y="24871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9060"/>
                </a:solidFill>
              </a:rPr>
              <a:t>+0.66%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35024" y="232257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0A8"/>
                </a:solidFill>
              </a:rPr>
              <a:t>Mar 12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35024" y="24871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4040"/>
                </a:solidFill>
              </a:rPr>
              <a:t>−1.32%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22576" y="232257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0A8"/>
                </a:solidFill>
              </a:rPr>
              <a:t>Mié 13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322576" y="24871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9060"/>
                </a:solidFill>
              </a:rPr>
              <a:t>+0.45%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10128" y="232257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0A8"/>
                </a:solidFill>
              </a:rPr>
              <a:t>Vie 14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10128" y="24871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4040"/>
                </a:solidFill>
              </a:rPr>
              <a:t>−0.26%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97680" y="232257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0A8"/>
                </a:solidFill>
              </a:rPr>
              <a:t>Lun 17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97680" y="24871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70A8"/>
                </a:solidFill>
              </a:rPr>
              <a:t>~0%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715000" y="822960"/>
            <a:ext cx="6217920" cy="2240280"/>
          </a:xfrm>
          <a:prstGeom prst="rect">
            <a:avLst/>
          </a:prstGeom>
          <a:solidFill>
            <a:srgbClr val="F8FA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822960"/>
            <a:ext cx="621792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0" y="8229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ÍNDICES GLOBALES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33872" y="1170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S&amp;P 500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12480" y="11704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7,778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241280" y="11704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4040"/>
                </a:solidFill>
              </a:rPr>
              <a:t>−0.10%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33872" y="1499616"/>
            <a:ext cx="594360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34" name="Text 32"/>
          <p:cNvSpPr/>
          <p:nvPr/>
        </p:nvSpPr>
        <p:spPr>
          <a:xfrm>
            <a:off x="5833872" y="1645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Nasdaq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412480" y="1645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26,732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241280" y="16459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9060"/>
                </a:solidFill>
              </a:rPr>
              <a:t>+0.01%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33872" y="1975104"/>
            <a:ext cx="594360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38" name="Text 36"/>
          <p:cNvSpPr/>
          <p:nvPr/>
        </p:nvSpPr>
        <p:spPr>
          <a:xfrm>
            <a:off x="5833872" y="21214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Dow Jones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412480" y="2121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53,732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241280" y="21214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4040"/>
                </a:solidFill>
              </a:rPr>
              <a:t>−0.20%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33872" y="2450592"/>
            <a:ext cx="594360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42" name="Text 40"/>
          <p:cNvSpPr/>
          <p:nvPr/>
        </p:nvSpPr>
        <p:spPr>
          <a:xfrm>
            <a:off x="5833872" y="25968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DAX 40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412480" y="25968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26,487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241280" y="25968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9060"/>
                </a:solidFill>
              </a:rPr>
              <a:t>+0.18%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833872" y="2176272"/>
            <a:ext cx="5943600" cy="18288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46" name="Text 44"/>
          <p:cNvSpPr/>
          <p:nvPr/>
        </p:nvSpPr>
        <p:spPr>
          <a:xfrm>
            <a:off x="5833872" y="221284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Mercados EE.UU. mixtos en apertura de semana. Europa aguarda minutas Fed. DAX positivo apoyado por dato de inflación alemana benigno.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228600" y="3154680"/>
            <a:ext cx="11704320" cy="27432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48" name="Text 46"/>
          <p:cNvSpPr/>
          <p:nvPr/>
        </p:nvSpPr>
        <p:spPr>
          <a:xfrm>
            <a:off x="228600" y="3218688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070A8"/>
                </a:solidFill>
              </a:rPr>
              <a:t>💡  IPC BMV: estimado basado en apertura lunes y contexto semana pasada. Cierre definitivo: verificar en bmv.com.mx.  S&amp;P / Nasdaq / Dow: Trading Economics / TheStreet / Globe &amp; Mail.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28600" y="3657600"/>
            <a:ext cx="5577840" cy="2423160"/>
          </a:xfrm>
          <a:prstGeom prst="rect">
            <a:avLst/>
          </a:prstGeom>
          <a:solidFill>
            <a:srgbClr val="F8FA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" y="3657600"/>
            <a:ext cx="5577840" cy="256032"/>
          </a:xfrm>
          <a:prstGeom prst="rect">
            <a:avLst/>
          </a:prstGeom>
          <a:solidFill>
            <a:srgbClr val="B87018"/>
          </a:solidFill>
          <a:ln/>
        </p:spPr>
      </p:sp>
      <p:sp>
        <p:nvSpPr>
          <p:cNvPr id="51" name="Text 49"/>
          <p:cNvSpPr/>
          <p:nvPr/>
        </p:nvSpPr>
        <p:spPr>
          <a:xfrm>
            <a:off x="228600" y="36576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NAHB HOUSING MARKET INDEX · AGOSTO 2026 · EE.UU.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47472" y="39502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4040"/>
                </a:solidFill>
              </a:rPr>
              <a:t>33</a:t>
            </a:r>
            <a:endParaRPr lang="en-US" sz="4200" dirty="0"/>
          </a:p>
        </p:txBody>
      </p:sp>
      <p:sp>
        <p:nvSpPr>
          <p:cNvPr id="53" name="Text 51"/>
          <p:cNvSpPr/>
          <p:nvPr/>
        </p:nvSpPr>
        <p:spPr>
          <a:xfrm>
            <a:off x="2286000" y="40050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vs 34 previo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vs 33 consenso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47472" y="4590288"/>
            <a:ext cx="5248656" cy="18288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55" name="Text 53"/>
          <p:cNvSpPr/>
          <p:nvPr/>
        </p:nvSpPr>
        <p:spPr>
          <a:xfrm>
            <a:off x="347472" y="4626864"/>
            <a:ext cx="5248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🏠  Mercado residencial EE.UU. en contracción (índice &lt;50 = pesimismo)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347472" y="4956048"/>
            <a:ext cx="5248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📉  Tasas hipotecarias elevadas ~6.8–7.1% siguen presionando la demanda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347472" y="5285232"/>
            <a:ext cx="5248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🇲🇽  Impacto México: sectores como CEMEX, Vitro y acero pueden sentir menor demanda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5989320" y="3657600"/>
            <a:ext cx="5943600" cy="2423160"/>
          </a:xfrm>
          <a:prstGeom prst="rect">
            <a:avLst/>
          </a:prstGeom>
          <a:solidFill>
            <a:srgbClr val="F8FA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989320" y="3657600"/>
            <a:ext cx="5943600" cy="256032"/>
          </a:xfrm>
          <a:prstGeom prst="rect">
            <a:avLst/>
          </a:prstGeom>
          <a:solidFill>
            <a:srgbClr val="A87C08"/>
          </a:solidFill>
          <a:ln/>
        </p:spPr>
      </p:sp>
      <p:sp>
        <p:nvSpPr>
          <p:cNvPr id="60" name="Text 58"/>
          <p:cNvSpPr/>
          <p:nvPr/>
        </p:nvSpPr>
        <p:spPr>
          <a:xfrm>
            <a:off x="5989320" y="365760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ORO — ACTIVO REFUGIO · SIGUE ROMPIENDO RÉCORDS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126480" y="395020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87C08"/>
                </a:solidFill>
              </a:rPr>
              <a:t>$4,388</a:t>
            </a:r>
            <a:endParaRPr lang="en-US" sz="3800" dirty="0"/>
          </a:p>
        </p:txBody>
      </p:sp>
      <p:sp>
        <p:nvSpPr>
          <p:cNvPr id="62" name="Text 60"/>
          <p:cNvSpPr/>
          <p:nvPr/>
        </p:nvSpPr>
        <p:spPr>
          <a:xfrm>
            <a:off x="9601200" y="42519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0A8"/>
                </a:solidFill>
              </a:rPr>
              <a:t>/oz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126480" y="4590288"/>
            <a:ext cx="1645920" cy="201168"/>
          </a:xfrm>
          <a:prstGeom prst="rect">
            <a:avLst/>
          </a:prstGeom>
          <a:solidFill>
            <a:srgbClr val="E0F4EC"/>
          </a:solidFill>
          <a:ln/>
        </p:spPr>
      </p:sp>
      <p:sp>
        <p:nvSpPr>
          <p:cNvPr id="64" name="Text 62"/>
          <p:cNvSpPr/>
          <p:nvPr/>
        </p:nvSpPr>
        <p:spPr>
          <a:xfrm>
            <a:off x="6126480" y="45902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9060"/>
                </a:solidFill>
              </a:rPr>
              <a:t>▲ +0.82% (+$35.70)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126480" y="4809744"/>
            <a:ext cx="5623560" cy="18288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66" name="Text 64"/>
          <p:cNvSpPr/>
          <p:nvPr/>
        </p:nvSpPr>
        <p:spPr>
          <a:xfrm>
            <a:off x="6126480" y="484632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🥇  +31.6% anual — uno de los activos más rentables de 2026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6126480" y="5175504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🛡️  Refugio ante tensiones geopolíticas (Ormuz) + incertidumbre Fed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6126480" y="5504688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📈  Plata: $65.64–$67.06/oz (+1.48%) — ratio oro/plata en 66x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0" name="Text 68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898CC"/>
                </a:solidFill>
              </a:rPr>
              <a:t>Fuentes: Banxico · CME FedWatch · BMV · Trading Economics · TheStreet · Globe &amp; Mail · Yahoo Finance · CNBC  |  Análisis informativo — No constituye asesoría financiera.  3 / 5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C"/>
                </a:solidFill>
              </a:rPr>
              <a:t>Divisas &amp; Commodities — 17 agosto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8CC"/>
                </a:solidFill>
              </a:rPr>
              <a:t>Lunes 17 agosto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Divisas &amp; Commodities — 17 agosto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3657600" cy="3200400"/>
          </a:xfrm>
          <a:prstGeom prst="rect">
            <a:avLst/>
          </a:prstGeom>
          <a:solidFill>
            <a:srgbClr val="F8FA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36576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TIPO DE CAMBIO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155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A8"/>
                </a:solidFill>
              </a:rPr>
              <a:t>USD / MXN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133502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4040"/>
                </a:solidFill>
              </a:rPr>
              <a:t>$17.01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" y="181051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A8"/>
                </a:solidFill>
              </a:rPr>
              <a:t>Rango: $17.01–$17.02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47472" y="2011680"/>
            <a:ext cx="329184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04825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A8"/>
                </a:solidFill>
              </a:rPr>
              <a:t>EUR / USD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" y="22677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~1.157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7472" y="274320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A8"/>
                </a:solidFill>
              </a:rPr>
              <a:t>Estimado implícito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7472" y="2944368"/>
            <a:ext cx="329184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98094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A8"/>
                </a:solidFill>
              </a:rPr>
              <a:t>EUR / MXN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~$19.68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47472" y="367588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A8"/>
                </a:solidFill>
              </a:rPr>
              <a:t>Base: MTFX 15 ago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47472" y="4005072"/>
            <a:ext cx="3291840" cy="18288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40416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070A8"/>
                </a:solidFill>
              </a:rPr>
              <a:t>Peso acumuló +3.5% vs USD en 2 semanas hasta el vie 14; hoy cede levemente. Minutas FOMC miércoles = principal catalizador de MXN esta semana.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069080" y="822960"/>
            <a:ext cx="7863840" cy="3200400"/>
          </a:xfrm>
          <a:prstGeom prst="rect">
            <a:avLst/>
          </a:prstGeom>
          <a:solidFill>
            <a:srgbClr val="F8FA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9080" y="822960"/>
            <a:ext cx="786384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4069080" y="8229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COMMODITIES — CIERRE 17 AGOSTO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206240" y="111556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🛢  Brent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06240" y="133502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$88.31/bbl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13350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4040"/>
                </a:solidFill>
              </a:rPr>
              <a:t>−0.24%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0" y="16824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0A8"/>
                </a:solidFill>
              </a:rPr>
              <a:t>Prima Ormuz activa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206240" y="2048256"/>
            <a:ext cx="347472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0" y="20848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🛢  WTI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06240" y="230428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~$82.40/bbl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206240" y="26517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0A8"/>
                </a:solidFill>
              </a:rPr>
              <a:t>Referencia 14 ago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206240" y="3017520"/>
            <a:ext cx="347472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0" y="30540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🥇  Oro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206240" y="32735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$4,388/oz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92240" y="3273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9060"/>
                </a:solidFill>
              </a:rPr>
              <a:t>+0.82%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06240" y="362102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0A8"/>
                </a:solidFill>
              </a:rPr>
              <a:t>+31.6% anual · Récord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046720" y="111556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🥈  Plata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46720" y="133502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$65.64–$67.06/oz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332720" y="13350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9060"/>
                </a:solidFill>
              </a:rPr>
              <a:t>+1.48%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16824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0A8"/>
                </a:solidFill>
              </a:rPr>
              <a:t>+68.9% anual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046720" y="2048256"/>
            <a:ext cx="347472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44" name="Text 42"/>
          <p:cNvSpPr/>
          <p:nvPr/>
        </p:nvSpPr>
        <p:spPr>
          <a:xfrm>
            <a:off x="8046720" y="20848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🔥  Gas Natural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46720" y="230428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$2.67/MMBtu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332720" y="23042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4040"/>
                </a:solidFill>
              </a:rPr>
              <a:t>−2.46%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46720" y="26517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0A8"/>
                </a:solidFill>
              </a:rPr>
              <a:t>Corrección tras alza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046720" y="3017520"/>
            <a:ext cx="347472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49" name="Text 47"/>
          <p:cNvSpPr/>
          <p:nvPr/>
        </p:nvSpPr>
        <p:spPr>
          <a:xfrm>
            <a:off x="8046720" y="30540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🔵  Cobre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046720" y="32735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~$6.60/lb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332720" y="3273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9060"/>
                </a:solidFill>
              </a:rPr>
              <a:t>+0.11%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046720" y="362102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0A8"/>
                </a:solidFill>
              </a:rPr>
              <a:t>+47.9% anual · China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955280" y="1097280"/>
            <a:ext cx="18288" cy="2880360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54" name="Shape 52"/>
          <p:cNvSpPr/>
          <p:nvPr/>
        </p:nvSpPr>
        <p:spPr>
          <a:xfrm>
            <a:off x="228600" y="4114800"/>
            <a:ext cx="11704320" cy="27432"/>
          </a:xfrm>
          <a:prstGeom prst="rect">
            <a:avLst/>
          </a:prstGeom>
          <a:solidFill>
            <a:srgbClr val="A02040"/>
          </a:solidFill>
          <a:ln/>
        </p:spPr>
      </p:sp>
      <p:sp>
        <p:nvSpPr>
          <p:cNvPr id="55" name="Shape 53"/>
          <p:cNvSpPr/>
          <p:nvPr/>
        </p:nvSpPr>
        <p:spPr>
          <a:xfrm>
            <a:off x="228600" y="4142232"/>
            <a:ext cx="11704320" cy="1417320"/>
          </a:xfrm>
          <a:prstGeom prst="rect">
            <a:avLst/>
          </a:prstGeom>
          <a:solidFill>
            <a:srgbClr val="FFF5F7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4206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2040"/>
                </a:solidFill>
              </a:rPr>
              <a:t>⚠️  ORMUZ · DÍA 171 — TENSIÓN CRÍTICA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338560" y="4206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Alta urgencia</a:t>
            </a: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10515600" y="4206240"/>
            <a:ext cx="1280160" cy="256032"/>
          </a:xfrm>
          <a:prstGeom prst="rect">
            <a:avLst/>
          </a:prstGeom>
          <a:solidFill>
            <a:srgbClr val="FAE8EC"/>
          </a:solidFill>
          <a:ln/>
        </p:spPr>
      </p:sp>
      <p:sp>
        <p:nvSpPr>
          <p:cNvPr id="59" name="Text 57"/>
          <p:cNvSpPr/>
          <p:nvPr/>
        </p:nvSpPr>
        <p:spPr>
          <a:xfrm>
            <a:off x="10515600" y="42062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02040"/>
                </a:solidFill>
              </a:rPr>
              <a:t>Alta urgencia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47472" y="449884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🚁  14 ago: drones iraníes atacaron 2 tanqueros de EAU · EE.UU. evalúa bloqueo naval indefinido a puertos iraníes · Mediación de Omán sin avances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347472" y="482803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🛡️   Trump declaró intención de tomar el Estrecho de Ormuz como "territorio de interés estratégico de EE.UU." · Kushner en reuniones regionales 16 ago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347472" y="5157216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🛢  Probabilidad Brent &gt;$100: ~40% · Pemex se beneficia; gasolinas importadas en México se encarecen · Escenario adverso vigente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4" name="Text 62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898CC"/>
                </a:solidFill>
              </a:rPr>
              <a:t>Fuentes: Banxico · Trading Economics · Fortune · Yahoo Finance · CNBC · El Financiero · Bloomberg · EUR/MXN: MTFX estimado  |  Análisis informativo — No constituye asesoría financiera.  4 / 5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C"/>
                </a:solidFill>
              </a:rPr>
              <a:t>México — Noticias &amp; Agenda Semana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8CC"/>
                </a:solidFill>
              </a:rPr>
              <a:t>Lunes 17 agosto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México — Noticias &amp; Agenda Semana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6583680" cy="1810512"/>
          </a:xfrm>
          <a:prstGeom prst="rect">
            <a:avLst/>
          </a:prstGeom>
          <a:solidFill>
            <a:srgbClr val="F8FA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6583680" cy="237744"/>
          </a:xfrm>
          <a:prstGeom prst="rect">
            <a:avLst/>
          </a:prstGeom>
          <a:solidFill>
            <a:srgbClr val="4A5FC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HOY · HISTÓRICO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097280"/>
            <a:ext cx="6355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Banxico Interviene Deuda · 1ª vez en 32 años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408176"/>
            <a:ext cx="6355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El Banco de México activa su nueva facultad de intervenir en el mercado secundario de bonos soberanos, inédito desde su autonomía en 1994. Objetivo: estabilizar curva de tasas y apoyar transmisión de política monetaria. Tasa referencia en 6.50%; próxima decisión 25 septiembre.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28600" y="2697480"/>
            <a:ext cx="6583680" cy="1810512"/>
          </a:xfrm>
          <a:prstGeom prst="rect">
            <a:avLst/>
          </a:prstGeom>
          <a:solidFill>
            <a:srgbClr val="F8FA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697480"/>
            <a:ext cx="6583680" cy="237744"/>
          </a:xfrm>
          <a:prstGeom prst="rect">
            <a:avLst/>
          </a:prstGeom>
          <a:solidFill>
            <a:srgbClr val="3A9060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269748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HOY · BALANZA COMERCIAL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7472" y="2971800"/>
            <a:ext cx="6355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Superávit Comercial Junio: $4,090 MDD (Récord)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3282696"/>
            <a:ext cx="6355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La Balanza Comercial de junio 2026 marcó $4,090 MDD de superávit — el mayor mensual histórico. Acumulado 1S: $9,857 MDD. Exportaciones 1S: $389,723 MDD (+24.6% a/a). Manufactura no automotriz lidera con +37.6%. México ya es el #1 socio comercial de EE.UU.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28600" y="4572000"/>
            <a:ext cx="6583680" cy="1810512"/>
          </a:xfrm>
          <a:prstGeom prst="rect">
            <a:avLst/>
          </a:prstGeom>
          <a:solidFill>
            <a:srgbClr val="F8FA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4572000"/>
            <a:ext cx="6583680" cy="237744"/>
          </a:xfrm>
          <a:prstGeom prst="rect">
            <a:avLst/>
          </a:prstGeom>
          <a:solidFill>
            <a:srgbClr val="2A8EA0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457200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ACTIVO · NEARSHORING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7472" y="4846320"/>
            <a:ext cx="6355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IED Q1 2026: $23,591 M USD — Récord Histórico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5157216"/>
            <a:ext cx="6355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La inversión extranjera directa del primer trimestre de 2026 es la más alta registrada en México. El nearshoring y el T-MEC posicionan a México como hub manufacturero de América del Norte. La certeza jurídica del T-MEC sigue siendo la variable crítica del mediano plazo.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995160" y="822960"/>
            <a:ext cx="4937760" cy="5577840"/>
          </a:xfrm>
          <a:prstGeom prst="rect">
            <a:avLst/>
          </a:prstGeom>
          <a:solidFill>
            <a:srgbClr val="F8FA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822960"/>
            <a:ext cx="493776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8229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AGENDA PRÓXIMA SEMANA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14032" y="115214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A8"/>
                </a:solidFill>
              </a:rPr>
              <a:t>Lun 17 ago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418320" y="1152144"/>
            <a:ext cx="2377440" cy="201168"/>
          </a:xfrm>
          <a:prstGeom prst="rect">
            <a:avLst/>
          </a:prstGeom>
          <a:solidFill>
            <a:srgbClr val="EDF0FF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0" y="11521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5FC0"/>
                </a:solidFill>
              </a:rPr>
              <a:t>HOY · EN CURSO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14032" y="13716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• Banxico interviene deuda (1ª vez 32 años)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114032" y="16642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• USD/MXN $17.01 · IPC BMV ~64,400 pts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114032" y="2084832"/>
            <a:ext cx="466344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31" name="Text 29"/>
          <p:cNvSpPr/>
          <p:nvPr/>
        </p:nvSpPr>
        <p:spPr>
          <a:xfrm>
            <a:off x="7114032" y="217627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A8"/>
                </a:solidFill>
              </a:rPr>
              <a:t>Mié 19 ago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418320" y="2176272"/>
            <a:ext cx="2377440" cy="201168"/>
          </a:xfrm>
          <a:prstGeom prst="rect">
            <a:avLst/>
          </a:prstGeom>
          <a:solidFill>
            <a:srgbClr val="FAE8EC"/>
          </a:solidFill>
          <a:ln/>
        </p:spPr>
      </p:sp>
      <p:sp>
        <p:nvSpPr>
          <p:cNvPr id="33" name="Text 31"/>
          <p:cNvSpPr/>
          <p:nvPr/>
        </p:nvSpPr>
        <p:spPr>
          <a:xfrm>
            <a:off x="9418320" y="21762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02040"/>
                </a:solidFill>
              </a:rPr>
              <a:t>CLAVE 🔴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114032" y="239572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• Minutas FOMC 14:00 ET — señal decisiva de la Fed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114032" y="268833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• Fed en pausa sep (~70%) vs alza (~30%): las minutas deciden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114032" y="3108960"/>
            <a:ext cx="466344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37" name="Text 35"/>
          <p:cNvSpPr/>
          <p:nvPr/>
        </p:nvSpPr>
        <p:spPr>
          <a:xfrm>
            <a:off x="7114032" y="320040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A8"/>
                </a:solidFill>
              </a:rPr>
              <a:t>Jue 20 ago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418320" y="3200400"/>
            <a:ext cx="2377440" cy="201168"/>
          </a:xfrm>
          <a:prstGeom prst="rect">
            <a:avLst/>
          </a:prstGeom>
          <a:solidFill>
            <a:srgbClr val="FDF0DA"/>
          </a:solidFill>
          <a:ln/>
        </p:spPr>
      </p:sp>
      <p:sp>
        <p:nvSpPr>
          <p:cNvPr id="39" name="Text 37"/>
          <p:cNvSpPr/>
          <p:nvPr/>
        </p:nvSpPr>
        <p:spPr>
          <a:xfrm>
            <a:off x="9418320" y="32004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7018"/>
                </a:solidFill>
              </a:rPr>
              <a:t>MEDIO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114032" y="341985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• Solicitudes desempleo EE.UU. (semana)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114032" y="37124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• Enc. manufactura Fed Philadelphia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114032" y="4133088"/>
            <a:ext cx="466344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43" name="Text 41"/>
          <p:cNvSpPr/>
          <p:nvPr/>
        </p:nvSpPr>
        <p:spPr>
          <a:xfrm>
            <a:off x="7114032" y="422452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A8"/>
                </a:solidFill>
              </a:rPr>
              <a:t>Vie 22 ago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418320" y="4224528"/>
            <a:ext cx="2377440" cy="201168"/>
          </a:xfrm>
          <a:prstGeom prst="rect">
            <a:avLst/>
          </a:prstGeom>
          <a:solidFill>
            <a:srgbClr val="FDF0DA"/>
          </a:solidFill>
          <a:ln/>
        </p:spPr>
      </p:sp>
      <p:sp>
        <p:nvSpPr>
          <p:cNvPr id="45" name="Text 43"/>
          <p:cNvSpPr/>
          <p:nvPr/>
        </p:nvSpPr>
        <p:spPr>
          <a:xfrm>
            <a:off x="9418320" y="4224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7018"/>
                </a:solidFill>
              </a:rPr>
              <a:t>MEDIO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114032" y="44439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• PMI Manufactura y Servicios EE.UU. (flash ago)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114032" y="47365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• Ventas vivienda existente EE.UU.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114032" y="5157216"/>
            <a:ext cx="466344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49" name="Text 47"/>
          <p:cNvSpPr/>
          <p:nvPr/>
        </p:nvSpPr>
        <p:spPr>
          <a:xfrm>
            <a:off x="7114032" y="524865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70A8"/>
                </a:solidFill>
              </a:rPr>
              <a:t>Sep 25 ago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9418320" y="5248656"/>
            <a:ext cx="2377440" cy="201168"/>
          </a:xfrm>
          <a:prstGeom prst="rect">
            <a:avLst/>
          </a:prstGeom>
          <a:solidFill>
            <a:srgbClr val="FDF0DA"/>
          </a:solidFill>
          <a:ln/>
        </p:spPr>
      </p:sp>
      <p:sp>
        <p:nvSpPr>
          <p:cNvPr id="51" name="Text 49"/>
          <p:cNvSpPr/>
          <p:nvPr/>
        </p:nvSpPr>
        <p:spPr>
          <a:xfrm>
            <a:off x="9418320" y="524865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50B8"/>
                </a:solidFill>
              </a:rPr>
              <a:t>PRÓXIMO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114032" y="54681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• Decisión Banxico (tasa referencia)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114032" y="57607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• Datos inflación agosto MX serán clave para decisión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114032" y="6181344"/>
            <a:ext cx="4663440" cy="9144"/>
          </a:xfrm>
          <a:prstGeom prst="rect">
            <a:avLst/>
          </a:prstGeom>
          <a:solidFill>
            <a:srgbClr val="C0C8E8"/>
          </a:solidFill>
          <a:ln/>
        </p:spPr>
      </p:sp>
      <p:sp>
        <p:nvSpPr>
          <p:cNvPr id="55" name="Shape 53"/>
          <p:cNvSpPr/>
          <p:nvPr/>
        </p:nvSpPr>
        <p:spPr>
          <a:xfrm>
            <a:off x="228600" y="6446520"/>
            <a:ext cx="11704320" cy="27432"/>
          </a:xfrm>
          <a:prstGeom prst="rect">
            <a:avLst/>
          </a:prstGeom>
          <a:solidFill>
            <a:srgbClr val="4A5FC0"/>
          </a:solidFill>
          <a:ln/>
        </p:spPr>
      </p:sp>
      <p:sp>
        <p:nvSpPr>
          <p:cNvPr id="56" name="Shape 54"/>
          <p:cNvSpPr/>
          <p:nvPr/>
        </p:nvSpPr>
        <p:spPr>
          <a:xfrm>
            <a:off x="228600" y="6473952"/>
            <a:ext cx="6583680" cy="274320"/>
          </a:xfrm>
          <a:prstGeom prst="rect">
            <a:avLst/>
          </a:prstGeom>
          <a:solidFill>
            <a:srgbClr val="EDF0FF"/>
          </a:solidFill>
          <a:ln w="12700">
            <a:solidFill>
              <a:srgbClr val="C0C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5FC0"/>
                </a:solidFill>
              </a:rPr>
              <a:t>🎯  Señal clave: Minutas FOMC miércoles 19 ago · USD/MXN será el termómetro más sensible · Si hawkish → peso se debilita; si dovish → peso vuelve a $16.90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9" name="Text 57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898CC"/>
                </a:solidFill>
              </a:rPr>
              <a:t>Fuentes: Banxico · CME FedWatch · INEGI · El Financiero · Bloomberg · CNBC  |  Análisis informativo — No constituye asesoría financiera.  5 / 5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2026-08-17T16:49:42Z</dcterms:created>
  <dcterms:modified xsi:type="dcterms:W3CDTF">2026-08-17T16:49:42Z</dcterms:modified>
</cp:coreProperties>
</file>