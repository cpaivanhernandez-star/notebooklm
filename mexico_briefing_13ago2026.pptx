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926080"/>
            <a:ext cx="5303520" cy="5303520"/>
          </a:xfrm>
          <a:prstGeom prst="ellipse">
            <a:avLst/>
          </a:prstGeom>
          <a:solidFill>
            <a:srgbClr val="4E826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2926080" cy="2926080"/>
          </a:xfrm>
          <a:prstGeom prst="ellipse">
            <a:avLst/>
          </a:prstGeom>
          <a:solidFill>
            <a:srgbClr val="4578A0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-457200"/>
            <a:ext cx="2743200" cy="2743200"/>
          </a:xfrm>
          <a:prstGeom prst="ellipse">
            <a:avLst/>
          </a:prstGeom>
          <a:solidFill>
            <a:srgbClr val="3A8A85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2560320" cy="32004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· 13 agosto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diario de mercados · macro · política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943600" cy="27432"/>
          </a:xfrm>
          <a:prstGeom prst="rect">
            <a:avLst/>
          </a:prstGeom>
          <a:solidFill>
            <a:srgbClr val="4E826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9476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EE.UU. 0.0 % · sorpresa dovish   |   Fed recorte sep: 85 %   |   IPC rebota +0.45 %   |   Peso $17.05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3566160" cy="17373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Final Demand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5138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+0.2% · Dovish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5440680"/>
            <a:ext cx="91440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4297680"/>
            <a:ext cx="3566160" cy="17373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4256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BMV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4645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17720" y="5138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65,861 pts · Rebote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5440680"/>
            <a:ext cx="91440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4297680"/>
            <a:ext cx="3566160" cy="17373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4256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MXN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0" y="4645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5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12480" y="5138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mínimo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12480" y="5440680"/>
            <a:ext cx="91440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BLS · CME FedWatch · BMV · Bloomberg · CNBC · El Financiero  |  Análisis informativo — No constituye asesoría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430000" y="6565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del Día — PPI &amp; Expectativas Fed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13 agosto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C8D8D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JULIO 2026 · BLS · 8:30 ET · HECHO CONFIRMADO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138988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Final Demand — Mensual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1280160" cy="292608"/>
          </a:xfrm>
          <a:prstGeom prst="rect">
            <a:avLst/>
          </a:prstGeom>
          <a:solidFill>
            <a:srgbClr val="EEF3E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0195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+0.2% consenso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46304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 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12848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−0.7% motorizó la caída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5486400" cy="138988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Final Demand — Anual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467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+4.7%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291840" y="3410712"/>
            <a:ext cx="1280160" cy="292608"/>
          </a:xfrm>
          <a:prstGeom prst="rect">
            <a:avLst/>
          </a:prstGeom>
          <a:solidFill>
            <a:srgbClr val="EEF3E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43814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+4.9% consenso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146304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0233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 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12848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más baja desde marzo 2024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535424"/>
            <a:ext cx="5486400" cy="138988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63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PPI — Mensual (s/alim.)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88289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291840" y="4946904"/>
            <a:ext cx="1280160" cy="292608"/>
          </a:xfrm>
          <a:prstGeom prst="rect">
            <a:avLst/>
          </a:prstGeom>
          <a:solidFill>
            <a:srgbClr val="EEF3E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9743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+0.3% consenso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0080" y="5541264"/>
            <a:ext cx="1463040" cy="25603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55595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 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12848" y="5541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+0.4% — único componente al alza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936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FED POST-PPI · CME FEDWATCH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09360" y="1463040"/>
            <a:ext cx="5303520" cy="2194560"/>
          </a:xfrm>
          <a:prstGeom prst="rect">
            <a:avLst/>
          </a:prstGeom>
          <a:solidFill>
            <a:srgbClr val="E5F3E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600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950976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recorte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en septiembre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3832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FedWatch · Cierre 13 ago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3968496"/>
            <a:ext cx="3657600" cy="219456"/>
          </a:xfrm>
          <a:prstGeom prst="rect">
            <a:avLst/>
          </a:prstGeom>
          <a:solidFill>
            <a:srgbClr val="C8D8D0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968496"/>
            <a:ext cx="3108960" cy="219456"/>
          </a:xfrm>
          <a:prstGeom prst="rect">
            <a:avLst/>
          </a:prstGeom>
          <a:solidFill>
            <a:srgbClr val="4AA873"/>
          </a:solidFill>
          <a:ln/>
        </p:spPr>
      </p:sp>
      <p:sp>
        <p:nvSpPr>
          <p:cNvPr id="39" name="Text 37"/>
          <p:cNvSpPr/>
          <p:nvPr/>
        </p:nvSpPr>
        <p:spPr>
          <a:xfrm>
            <a:off x="1138428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590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80960" y="4626864"/>
            <a:ext cx="3657600" cy="219456"/>
          </a:xfrm>
          <a:prstGeom prst="rect">
            <a:avLst/>
          </a:prstGeom>
          <a:solidFill>
            <a:srgbClr val="C8D8D0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0" y="4626864"/>
            <a:ext cx="3401568" cy="219456"/>
          </a:xfrm>
          <a:prstGeom prst="rect">
            <a:avLst/>
          </a:prstGeom>
          <a:solidFill>
            <a:srgbClr val="4E8268"/>
          </a:solidFill>
          <a:ln/>
        </p:spPr>
      </p:sp>
      <p:sp>
        <p:nvSpPr>
          <p:cNvPr id="43" name="Text 41"/>
          <p:cNvSpPr/>
          <p:nvPr/>
        </p:nvSpPr>
        <p:spPr>
          <a:xfrm>
            <a:off x="11384280" y="45902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5248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80960" y="5285232"/>
            <a:ext cx="3657600" cy="219456"/>
          </a:xfrm>
          <a:prstGeom prst="rect">
            <a:avLst/>
          </a:prstGeom>
          <a:solidFill>
            <a:srgbClr val="C8D8D0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0960" y="5285232"/>
            <a:ext cx="3547872" cy="219456"/>
          </a:xfrm>
          <a:prstGeom prst="rect">
            <a:avLst/>
          </a:prstGeom>
          <a:solidFill>
            <a:srgbClr val="3A8A85"/>
          </a:solidFill>
          <a:ln/>
        </p:spPr>
      </p:sp>
      <p:sp>
        <p:nvSpPr>
          <p:cNvPr id="47" name="Text 45"/>
          <p:cNvSpPr/>
          <p:nvPr/>
        </p:nvSpPr>
        <p:spPr>
          <a:xfrm>
            <a:off x="11384280" y="52486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6035040"/>
            <a:ext cx="5303520" cy="640080"/>
          </a:xfrm>
          <a:prstGeom prst="rect">
            <a:avLst/>
          </a:prstGeom>
          <a:solidFill>
            <a:srgbClr val="EEEAFA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6035040"/>
            <a:ext cx="73152" cy="640080"/>
          </a:xfrm>
          <a:prstGeom prst="rect">
            <a:avLst/>
          </a:prstGeom>
          <a:solidFill>
            <a:srgbClr val="7870C8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61081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7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Minutas FOMC — Miércoles 19 agosto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63276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vigilará si hubo debate hawkish (3 disidencias en julio 28-29)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BLS · CME FedWatch · BMV · Bloomberg · CNBC · El Financiero  |  Análisis informativo — No constituye asesoría financiera.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430000" y="6565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Globales — Cierre 13 agosto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943600" cy="1463040"/>
          </a:xfrm>
          <a:prstGeom prst="rect">
            <a:avLst/>
          </a:prstGeom>
          <a:solidFill>
            <a:srgbClr val="E5F3EB"/>
          </a:solidFill>
          <a:ln w="12700">
            <a:solidFill>
              <a:srgbClr val="4AA8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BMV — BOLSA MEXICANA DE VALORES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65,861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931920" y="1417320"/>
            <a:ext cx="1280160" cy="384048"/>
          </a:xfrm>
          <a:prstGeom prst="rect">
            <a:avLst/>
          </a:prstGeom>
          <a:solidFill>
            <a:srgbClr val="4AA873"/>
          </a:solidFill>
          <a:ln/>
        </p:spPr>
      </p:sp>
      <p:sp>
        <p:nvSpPr>
          <p:cNvPr id="8" name="Text 6"/>
          <p:cNvSpPr/>
          <p:nvPr/>
        </p:nvSpPr>
        <p:spPr>
          <a:xfrm>
            <a:off x="3950208" y="1435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Rebote — Recupera parte de la caída del martes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5120640" cy="1463040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DEL DÍA — BMV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56832" y="1316736"/>
            <a:ext cx="1554480" cy="914400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711696" y="13898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 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11696" y="160934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+11.66%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11696" y="19202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57616" y="1316736"/>
            <a:ext cx="1554480" cy="914400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3898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AEROMEX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412480" y="160934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+8.02%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Aeroméxico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058400" y="1316736"/>
            <a:ext cx="1554480" cy="914400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13264" y="13898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113264" y="160934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13264" y="19202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Orbia (antes ALFA)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66560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Volaris y Aeroméxico rebotaron por esperanzas de resolución del conflicto de Ormuz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GLOBALES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5669280" cy="1188720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990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227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~7,800+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44952"/>
            <a:ext cx="1188720" cy="34747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63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7216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Récord intraday 7,808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00800" y="2880360"/>
            <a:ext cx="5669280" cy="1188720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990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227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~26,650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698480" y="3044952"/>
            <a:ext cx="1188720" cy="34747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36" name="Text 34"/>
          <p:cNvSpPr/>
          <p:nvPr/>
        </p:nvSpPr>
        <p:spPr>
          <a:xfrm>
            <a:off x="10698480" y="3063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37216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en verde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4251960"/>
            <a:ext cx="5669280" cy="1188720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599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53,836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754880" y="4416552"/>
            <a:ext cx="1188720" cy="34747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4348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50932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0" y="4251960"/>
            <a:ext cx="5669280" cy="1188720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40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4599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~26,471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0698480" y="4416552"/>
            <a:ext cx="1188720" cy="347472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48" name="Text 46"/>
          <p:cNvSpPr/>
          <p:nvPr/>
        </p:nvSpPr>
        <p:spPr>
          <a:xfrm>
            <a:off x="10698480" y="44348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+0.50%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50932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siguió el rally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BF2DA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5559552"/>
            <a:ext cx="73152" cy="658368"/>
          </a:xfrm>
          <a:prstGeom prst="rect">
            <a:avLst/>
          </a:prstGeom>
          <a:solidFill>
            <a:srgbClr val="B89030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  Brent corrije a $87.92 (−1.2%) · WTI $81.19 (−2.1%) — Primera toma de utilidades tras 3 días de alza por Ormuz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BLS · CME FedWatch · BMV · Bloomberg · CNBC · El Financiero · Confianza: media-alta para IPC; estimados para índices EE.UU.  |  Análisis informativo — No constituye asesoría financiera.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430000" y="6565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Divisas &amp; Commodities — 13 agosto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C8D8D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0" cy="1554480"/>
          </a:xfrm>
          <a:prstGeom prst="rect">
            <a:avLst/>
          </a:prstGeom>
          <a:solidFill>
            <a:srgbClr val="E5F3E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16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MXN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51790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$17.05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931920" y="1664208"/>
            <a:ext cx="1645920" cy="347472"/>
          </a:xfrm>
          <a:prstGeom prst="rect">
            <a:avLst/>
          </a:prstGeom>
          <a:solidFill>
            <a:srgbClr val="E5F3E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6824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+0.06%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4871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Banxico: $17.0627   |   Mejor nivel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486400" cy="1078992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35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USD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3236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1.1500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91840" y="3291840"/>
            <a:ext cx="2286000" cy="329184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33101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sin cambio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124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MX-EE.UU.: ~275-300 pb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486400" cy="1078992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70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MXN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44714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$19.61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91840" y="4526280"/>
            <a:ext cx="228600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454456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−0.06%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9469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MX-EE.UU.: ~275-300 pb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09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— CIERRE 13 AGOSTO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09360" y="1188720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4848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84848" y="1527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$87.92/bl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96528" y="1371600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8814816" y="138988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−1.19%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13264" y="1417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Ormuz sostiene nivel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09360" y="2039112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4848" y="2130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$81.19/bl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96528" y="2221992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37" name="Text 35"/>
          <p:cNvSpPr/>
          <p:nvPr/>
        </p:nvSpPr>
        <p:spPr>
          <a:xfrm>
            <a:off x="8814816" y="22402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13264" y="22677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utilidades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09360" y="2889504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84848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84848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$4,390/oz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796528" y="3072384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44" name="Text 42"/>
          <p:cNvSpPr/>
          <p:nvPr/>
        </p:nvSpPr>
        <p:spPr>
          <a:xfrm>
            <a:off x="8814816" y="309067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−0.80%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113264" y="31181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+31.8% anual · Récord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309360" y="3739896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4848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84848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$65.59/oz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796528" y="3922776"/>
            <a:ext cx="1280160" cy="329184"/>
          </a:xfrm>
          <a:prstGeom prst="rect">
            <a:avLst/>
          </a:prstGeom>
          <a:solidFill>
            <a:srgbClr val="E5F3EB"/>
          </a:solidFill>
          <a:ln/>
        </p:spPr>
      </p:sp>
      <p:sp>
        <p:nvSpPr>
          <p:cNvPr id="51" name="Text 49"/>
          <p:cNvSpPr/>
          <p:nvPr/>
        </p:nvSpPr>
        <p:spPr>
          <a:xfrm>
            <a:off x="8814816" y="39410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+1.26%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13264" y="3968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+69.7% anual · Máx. 7 sem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09360" y="4590288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84848" y="4681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84848" y="4928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$6.57/lb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96528" y="4773168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58" name="Text 56"/>
          <p:cNvSpPr/>
          <p:nvPr/>
        </p:nvSpPr>
        <p:spPr>
          <a:xfrm>
            <a:off x="8814816" y="479145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−0.44%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113264" y="48188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+48.4% anual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309360" y="5440680"/>
            <a:ext cx="5303520" cy="749808"/>
          </a:xfrm>
          <a:prstGeom prst="rect">
            <a:avLst/>
          </a:prstGeom>
          <a:solidFill>
            <a:srgbClr val="FAFCFB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84848" y="5532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Natural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84848" y="5779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$2.74/MMBtu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796528" y="5623560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65" name="Text 63"/>
          <p:cNvSpPr/>
          <p:nvPr/>
        </p:nvSpPr>
        <p:spPr>
          <a:xfrm>
            <a:off x="8814816" y="5641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−0.86%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113264" y="56692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estival baja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309360" y="6327648"/>
            <a:ext cx="5303520" cy="566928"/>
          </a:xfrm>
          <a:prstGeom prst="rect">
            <a:avLst/>
          </a:prstGeom>
          <a:solidFill>
            <a:srgbClr val="FDEEDE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0" y="6327648"/>
            <a:ext cx="64008" cy="566928"/>
          </a:xfrm>
          <a:prstGeom prst="rect">
            <a:avLst/>
          </a:prstGeom>
          <a:solidFill>
            <a:srgbClr val="C87020"/>
          </a:solidFill>
          <a:ln/>
        </p:spPr>
      </p:sp>
      <p:sp>
        <p:nvSpPr>
          <p:cNvPr id="69" name="Text 67"/>
          <p:cNvSpPr/>
          <p:nvPr/>
        </p:nvSpPr>
        <p:spPr>
          <a:xfrm>
            <a:off x="6446520" y="64373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7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Ormuz Día 167 · 3 buques ADNOC atacados. Mediación de Omán activa sin avance.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BLS · CME FedWatch · BMV · Bloomberg · CNBC · El Financiero · Plata/Cobre en unidades de mercado COMEX  |  Análisis informativo — No constituye asesoría financiera.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1430000" y="6565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4E826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4578A0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— Noticias &amp; Agenda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13 agosto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3A544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1517904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64008" cy="1517904"/>
          </a:xfrm>
          <a:prstGeom prst="rect">
            <a:avLst/>
          </a:prstGeom>
          <a:solidFill>
            <a:srgbClr val="4E826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207008"/>
            <a:ext cx="2286000" cy="237744"/>
          </a:xfrm>
          <a:prstGeom prst="rect">
            <a:avLst/>
          </a:prstGeom>
          <a:solidFill>
            <a:srgbClr val="24393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2252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México · Goldman Sachs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8368" y="14996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Sheinbaum recibe al CEO de Goldman Sachs para presentar nearshoring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9019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11 agosto, Sheinbaum presentó el Plan México al presidente de Goldman Sachs. La narrativa nearshoring —477 parques industriales, corredor China-México, $11,900 M USD de IED china— busca atraer banca de inversión global.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5486400" cy="1517904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61488"/>
            <a:ext cx="64008" cy="1517904"/>
          </a:xfrm>
          <a:prstGeom prst="rect">
            <a:avLst/>
          </a:prstGeom>
          <a:solidFill>
            <a:srgbClr val="4578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71216"/>
            <a:ext cx="2286000" cy="237744"/>
          </a:xfrm>
          <a:prstGeom prst="rect">
            <a:avLst/>
          </a:prstGeom>
          <a:solidFill>
            <a:srgbClr val="24393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8950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T-MEC · Comercio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8368" y="31638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Sheinbaum expresa confianza en renovación del T-MEC por 16 años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5661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presidenta reiteró que México está preparado para la revisión formal del T-MEC y confía en extenderlo 16 años más. La 3ª ronda bilateral concluyó con avances en IP y aduanas. La certeza jurídica del T-MEC es el principal condicionante del nearshoring.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425696"/>
            <a:ext cx="5486400" cy="1517904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25696"/>
            <a:ext cx="64008" cy="1517904"/>
          </a:xfrm>
          <a:prstGeom prst="rect">
            <a:avLst/>
          </a:prstGeom>
          <a:solidFill>
            <a:srgbClr val="C8702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535424"/>
            <a:ext cx="2286000" cy="237744"/>
          </a:xfrm>
          <a:prstGeom prst="rect">
            <a:avLst/>
          </a:prstGeom>
          <a:solidFill>
            <a:srgbClr val="24393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55371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Estrecho de Ormuz · Día 167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8368" y="48280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 acusa a Trump de "diplomacia teatral"; 3 buques ADNOC atacados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52303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 rechazó las conversaciones informales como "teatro". Nuevos ataques contra buques emiratíes. Mediación de Omán activa pero sin resultados. Para México: Pemex se beneficia de Brent alto; gasolinas importadas se encarecen.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SEMANA 11-19 AGOSTO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1097280"/>
            <a:ext cx="5303520" cy="8229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097280"/>
            <a:ext cx="64008" cy="822960"/>
          </a:xfrm>
          <a:prstGeom prst="rect">
            <a:avLst/>
          </a:prstGeom>
          <a:solidFill>
            <a:srgbClr val="4E826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188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11 ago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052560" y="1188720"/>
            <a:ext cx="2468880" cy="237744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31" name="Text 29"/>
          <p:cNvSpPr/>
          <p:nvPr/>
        </p:nvSpPr>
        <p:spPr>
          <a:xfrm>
            <a:off x="9070848" y="12070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4652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BMV +0.66% (Ormuz prima)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066544"/>
            <a:ext cx="5303520" cy="8229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066544"/>
            <a:ext cx="64008" cy="822960"/>
          </a:xfrm>
          <a:prstGeom prst="rect">
            <a:avLst/>
          </a:prstGeom>
          <a:solidFill>
            <a:srgbClr val="4E826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12 ago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52560" y="2157984"/>
            <a:ext cx="2468880" cy="237744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37" name="Text 35"/>
          <p:cNvSpPr/>
          <p:nvPr/>
        </p:nvSpPr>
        <p:spPr>
          <a:xfrm>
            <a:off x="9070848" y="217627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46520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EE.UU. 3.4% — Sorpresa positiva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3035808"/>
            <a:ext cx="5303520" cy="8229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035808"/>
            <a:ext cx="64008" cy="822960"/>
          </a:xfrm>
          <a:prstGeom prst="rect">
            <a:avLst/>
          </a:prstGeom>
          <a:solidFill>
            <a:srgbClr val="B89030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13 ago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2560" y="3127248"/>
            <a:ext cx="2468880" cy="237744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43" name="Text 41"/>
          <p:cNvSpPr/>
          <p:nvPr/>
        </p:nvSpPr>
        <p:spPr>
          <a:xfrm>
            <a:off x="9070848" y="31455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9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446520" y="33832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0.0% · Dovish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4005072"/>
            <a:ext cx="5303520" cy="8229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4005072"/>
            <a:ext cx="64008" cy="822960"/>
          </a:xfrm>
          <a:prstGeom prst="rect">
            <a:avLst/>
          </a:prstGeom>
          <a:solidFill>
            <a:srgbClr val="C87020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14 ago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52560" y="4096512"/>
            <a:ext cx="2468880" cy="237744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49" name="Text 47"/>
          <p:cNvSpPr/>
          <p:nvPr/>
        </p:nvSpPr>
        <p:spPr>
          <a:xfrm>
            <a:off x="9070848" y="41148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46520" y="435254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Comercial MX · Ventas Min EE.UU.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9360" y="4974336"/>
            <a:ext cx="5303520" cy="822960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974336"/>
            <a:ext cx="64008" cy="822960"/>
          </a:xfrm>
          <a:prstGeom prst="rect">
            <a:avLst/>
          </a:prstGeom>
          <a:solidFill>
            <a:srgbClr val="7870C8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5065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19 ago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052560" y="5065776"/>
            <a:ext cx="2468880" cy="237744"/>
          </a:xfrm>
          <a:prstGeom prst="rect">
            <a:avLst/>
          </a:prstGeom>
          <a:solidFill>
            <a:srgbClr val="1B2D24"/>
          </a:solidFill>
          <a:ln/>
        </p:spPr>
      </p:sp>
      <p:sp>
        <p:nvSpPr>
          <p:cNvPr id="55" name="Text 53"/>
          <p:cNvSpPr/>
          <p:nvPr/>
        </p:nvSpPr>
        <p:spPr>
          <a:xfrm>
            <a:off x="9070848" y="508406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87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46520" y="53218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FOMC — Señal clave Fed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9360" y="6035040"/>
            <a:ext cx="5303520" cy="749808"/>
          </a:xfrm>
          <a:prstGeom prst="rect">
            <a:avLst/>
          </a:prstGeom>
          <a:solidFill>
            <a:srgbClr val="243930"/>
          </a:solidFill>
          <a:ln w="12700">
            <a:solidFill>
              <a:srgbClr val="3A54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61081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9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Señal dominante de la semana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92240" y="63276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+ CPI ambos dovish → Fed cut sep con 85% prob. Minutas FOMC el 19/8 son el siguiente riesgo de revisión.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BLS · CME FedWatch · BMV · Bloomberg · CNBC · El Financiero · No asesoría financiera · Datos con confianza media-alta  |  Análisis informativo — No constituye asesoría financiera.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1430000" y="6565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2026-08-13T16:39:58Z</dcterms:created>
  <dcterms:modified xsi:type="dcterms:W3CDTF">2026-08-13T16:39:58Z</dcterms:modified>
</cp:coreProperties>
</file>