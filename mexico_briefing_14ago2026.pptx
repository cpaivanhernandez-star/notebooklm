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108960"/>
            <a:ext cx="5120640" cy="5120640"/>
          </a:xfrm>
          <a:prstGeom prst="ellipse">
            <a:avLst/>
          </a:prstGeom>
          <a:solidFill>
            <a:srgbClr val="3A7DC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389120"/>
            <a:ext cx="2743200" cy="2743200"/>
          </a:xfrm>
          <a:prstGeom prst="ellipse">
            <a:avLst/>
          </a:prstGeom>
          <a:solidFill>
            <a:srgbClr val="389088">
              <a:alpha val="1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-548640"/>
            <a:ext cx="2926080" cy="2926080"/>
          </a:xfrm>
          <a:prstGeom prst="ellipse">
            <a:avLst/>
          </a:prstGeom>
          <a:solidFill>
            <a:srgbClr val="4E7E6A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2743200" cy="310896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4416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· 14 agosto 2026 · Cierre de mercados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4323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3A7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" y="321868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diario de mercados · macro · política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6217920" cy="27432"/>
          </a:xfrm>
          <a:prstGeom prst="rect">
            <a:avLst/>
          </a:prstGeom>
          <a:solidFill>
            <a:srgbClr val="3A7D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673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toca $16.98 · Retail Sales −0.6% · Fed recorte sep 92% · Ormuz: drones a tanqueros EAU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3566160" cy="1783080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70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MXN (mín. día)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459028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$16.98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" y="5093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Rompió $17.00 · Mejor nivel 2026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34840" y="4251960"/>
            <a:ext cx="3566160" cy="1783080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370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EE.UU.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17720" y="459028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5093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0.0% consenso · Dovish miss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29600" y="4251960"/>
            <a:ext cx="3566160" cy="1783080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4370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recorte sep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412480" y="459028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412480" y="5093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FedWatch · alza vs 85% ayer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INEGI · BLS · Census Bureau · CME FedWatch · BMV · Bloomberg · El Financiero · CNBC  |  Análisis informativo — No constituye asesoría financiera.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430000" y="6583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DF2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del Día — Peso Rompió $17 &amp; Retail Sales EE.UU.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14 agosto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080760" y="274320"/>
            <a:ext cx="36576" cy="6309360"/>
          </a:xfrm>
          <a:prstGeom prst="rect">
            <a:avLst/>
          </a:prstGeom>
          <a:solidFill>
            <a:srgbClr val="C0D0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3A7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MXN — HITO HISTÓRICO · EL FINANCIERO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486400" cy="2286000"/>
          </a:xfrm>
          <a:prstGeom prst="rect">
            <a:avLst/>
          </a:prstGeom>
          <a:solidFill>
            <a:srgbClr val="E4F3EC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17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$16.9793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58368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intraday del año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2743200"/>
            <a:ext cx="2926080" cy="329184"/>
          </a:xfrm>
          <a:prstGeom prst="rect">
            <a:avLst/>
          </a:prstGeom>
          <a:solidFill>
            <a:srgbClr val="E4F3EC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76148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ROMPIÓ $17.00 POR PRIMERA VEZ EN 2026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8368" y="31455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Banxico: $17.0530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APRECIÓ EL PESO?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Retail Sales EE.UU. −0.6% → dólar se debilita globalmente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Fed recorte sep: 92% probabilidad → diferencial tasas favorable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Nearshoring: flujos de IED hacia MXN sostenidos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5394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Diferencial MX-EE.UU.: ~275-300 pb atrae carry trade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10058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3A7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JULIO 2026 · CENSUS BUREAU · 8:30 ET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261872"/>
            <a:ext cx="5303520" cy="1554480"/>
          </a:xfrm>
          <a:prstGeom prst="rect">
            <a:avLst/>
          </a:prstGeom>
          <a:solidFill>
            <a:srgbClr val="FAE8E8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3898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 · vs 0.0% consenso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3591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+5.0% anual (prev. +6.3%)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09360" y="2926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CLAVE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09360" y="3182112"/>
            <a:ext cx="5303520" cy="512064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10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y autopartes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058400" y="3273552"/>
            <a:ext cx="146304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27" name="Text 25"/>
          <p:cNvSpPr/>
          <p:nvPr/>
        </p:nvSpPr>
        <p:spPr>
          <a:xfrm>
            <a:off x="10076688" y="329184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−1.8%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803904"/>
            <a:ext cx="5303520" cy="512064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online (e-commerce)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058400" y="3895344"/>
            <a:ext cx="146304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31" name="Text 29"/>
          <p:cNvSpPr/>
          <p:nvPr/>
        </p:nvSpPr>
        <p:spPr>
          <a:xfrm>
            <a:off x="10076688" y="391363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−2.2%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4425696"/>
            <a:ext cx="5303520" cy="512064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553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y bares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058400" y="4517136"/>
            <a:ext cx="1463040" cy="329184"/>
          </a:xfrm>
          <a:prstGeom prst="rect">
            <a:avLst/>
          </a:prstGeom>
          <a:solidFill>
            <a:srgbClr val="E4F3EC"/>
          </a:solidFill>
          <a:ln/>
        </p:spPr>
      </p:sp>
      <p:sp>
        <p:nvSpPr>
          <p:cNvPr id="35" name="Text 33"/>
          <p:cNvSpPr/>
          <p:nvPr/>
        </p:nvSpPr>
        <p:spPr>
          <a:xfrm>
            <a:off x="10076688" y="453542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9360" y="5120640"/>
            <a:ext cx="5303520" cy="749808"/>
          </a:xfrm>
          <a:prstGeom prst="rect">
            <a:avLst/>
          </a:prstGeom>
          <a:solidFill>
            <a:srgbClr val="EDEAFA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5120640"/>
            <a:ext cx="64008" cy="749808"/>
          </a:xfrm>
          <a:prstGeom prst="rect">
            <a:avLst/>
          </a:prstGeom>
          <a:solidFill>
            <a:srgbClr val="7060C8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230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06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Fed: miss de retail + CPI dovish → 92% recorte sep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5468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FOMC miércoles 19 ago validarán o cuestionarán el consenso de mercado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5961888"/>
            <a:ext cx="5303520" cy="749808"/>
          </a:xfrm>
          <a:prstGeom prst="rect">
            <a:avLst/>
          </a:prstGeom>
          <a:solidFill>
            <a:srgbClr val="FBF0DA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961888"/>
            <a:ext cx="64008" cy="749808"/>
          </a:xfrm>
          <a:prstGeom prst="rect">
            <a:avLst/>
          </a:prstGeom>
          <a:solidFill>
            <a:srgbClr val="B88D2E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60716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BMV cierre viernes: ~65,687 (−0.26%) — Semana positiva neta pese a sesión mixta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6309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fortaleza del peso beneficia deudoras en MXN; presiona exportadoras al mercado americano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INEGI · BLS · Census Bureau · CME FedWatch · BMV · Bloomberg · El Financiero · CNBC  |  Análisis informativo — No constituye asesoría financiera.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1430000" y="6583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DF2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Globales — Cierre 14 agosto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943600" cy="1417320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24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3A7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BMV — BOLSA MEXICANA DE VALORES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24358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65,687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840480" y="1353312"/>
            <a:ext cx="1463040" cy="384048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8" name="Text 6"/>
          <p:cNvSpPr/>
          <p:nvPr/>
        </p:nvSpPr>
        <p:spPr>
          <a:xfrm>
            <a:off x="3858768" y="137160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−0.26%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0299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bajista ligera · Semana con balance positivo acumulado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0" y="914400"/>
            <a:ext cx="5120640" cy="1417320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024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3A7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SEMANAL BMV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75120" y="1316736"/>
            <a:ext cx="1097280" cy="914400"/>
          </a:xfrm>
          <a:prstGeom prst="rect">
            <a:avLst/>
          </a:prstGeom>
          <a:solidFill>
            <a:srgbClr val="E4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6729984" y="13898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11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729984" y="1591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+0.66%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09560" y="1316736"/>
            <a:ext cx="1097280" cy="914400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7964424" y="13898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964424" y="1591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−1.32%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0" y="1316736"/>
            <a:ext cx="1097280" cy="914400"/>
          </a:xfrm>
          <a:prstGeom prst="rect">
            <a:avLst/>
          </a:prstGeom>
          <a:solidFill>
            <a:srgbClr val="E4F3EC"/>
          </a:solidFill>
          <a:ln/>
        </p:spPr>
      </p:sp>
      <p:sp>
        <p:nvSpPr>
          <p:cNvPr id="19" name="Text 17"/>
          <p:cNvSpPr/>
          <p:nvPr/>
        </p:nvSpPr>
        <p:spPr>
          <a:xfrm>
            <a:off x="9198864" y="13898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 13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198864" y="1591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+0.45%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378440" y="1316736"/>
            <a:ext cx="1097280" cy="914400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10433304" y="13898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14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433304" y="1591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−0.26%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245059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GLOBALES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5669280" cy="1170432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0906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~7,783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9504"/>
            <a:ext cx="1188720" cy="347472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9077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−0.22%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5844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Retroceso leve post-récord del jueves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400800" y="2743200"/>
            <a:ext cx="5669280" cy="1170432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30906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~26,710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10698480" y="2889504"/>
            <a:ext cx="1188720" cy="347472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35" name="Text 33"/>
          <p:cNvSpPr/>
          <p:nvPr/>
        </p:nvSpPr>
        <p:spPr>
          <a:xfrm>
            <a:off x="10698480" y="29077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−0.10%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0" y="35844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cede levemente, semana verde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5669280" cy="1170432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Jones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44622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~53,750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4754880" y="4261104"/>
            <a:ext cx="1188720" cy="347472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2793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−0.16%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49560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de retail sales miss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400800" y="4114800"/>
            <a:ext cx="5669280" cy="1170432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40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3680" y="44622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26,472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10698480" y="4261104"/>
            <a:ext cx="1188720" cy="347472"/>
          </a:xfrm>
          <a:prstGeom prst="rect">
            <a:avLst/>
          </a:prstGeom>
          <a:solidFill>
            <a:srgbClr val="E4F3EC"/>
          </a:solidFill>
          <a:ln/>
        </p:spPr>
      </p:sp>
      <p:sp>
        <p:nvSpPr>
          <p:cNvPr id="47" name="Text 45"/>
          <p:cNvSpPr/>
          <p:nvPr/>
        </p:nvSpPr>
        <p:spPr>
          <a:xfrm>
            <a:off x="10698480" y="42793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+0.69%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83680" y="49560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cerró antes del dato EE.UU.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57200" y="5394960"/>
            <a:ext cx="11247120" cy="749808"/>
          </a:xfrm>
          <a:prstGeom prst="rect">
            <a:avLst/>
          </a:prstGeom>
          <a:solidFill>
            <a:srgbClr val="FBF0DA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5394960"/>
            <a:ext cx="64008" cy="749808"/>
          </a:xfrm>
          <a:prstGeom prst="rect">
            <a:avLst/>
          </a:prstGeom>
          <a:solidFill>
            <a:srgbClr val="B88D2E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54864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Sin datos de cierre específicos por acción para el 14-ago. Contexto anual: Orbia, BanBajío y FEMSA lideran ganancias en 2026. El peso fuerte (+3.5% en 2 semanas) beneficia a importadoras y deudas en MXN.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INEGI · BLS · Census Bureau · CME FedWatch · BMV · Bloomberg · El Financiero · CNBC · Cierres EE.UU. son estimados — verificar en Yahoo Finance histórico  |  Análisis informativo — No constituye asesoría financiera.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1430000" y="6583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DF2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Divisas &amp; Commodities — 14 agosto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80760" y="274320"/>
            <a:ext cx="36576" cy="6309360"/>
          </a:xfrm>
          <a:prstGeom prst="rect">
            <a:avLst/>
          </a:prstGeom>
          <a:solidFill>
            <a:srgbClr val="C0D0E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3A7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00" cy="1828800"/>
          </a:xfrm>
          <a:prstGeom prst="rect">
            <a:avLst/>
          </a:prstGeom>
          <a:solidFill>
            <a:srgbClr val="E4F3EC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A7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MXN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49961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$16.9793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389120" y="17190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intraday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50592"/>
            <a:ext cx="2560320" cy="310896"/>
          </a:xfrm>
          <a:prstGeom prst="rect">
            <a:avLst/>
          </a:prstGeom>
          <a:solidFill>
            <a:srgbClr val="E4F3EC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46888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NIVEL 2026 · ROMPIÓ $17.00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8368" y="28163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Banxico: $17.0530   |   Diferencial MX-Fed: ~275-300 pb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486400" cy="1078992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10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/ USD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8368" y="35112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~1.165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291840" y="3566160"/>
            <a:ext cx="2286000" cy="329184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358444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implícito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9867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acumula +3.5% vs USD desde el 28 julio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4462272"/>
            <a:ext cx="5486400" cy="1078992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572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/ MXN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" y="47731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$19.80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91840" y="4828032"/>
            <a:ext cx="2286000" cy="329184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48463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sin cambio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52486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acumula +3.5% vs USD desde el 28 julio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09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3A7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 — CIERRE 14 AGOSTO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09360" y="1170432"/>
            <a:ext cx="5303520" cy="749808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84848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84848" y="1508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$87.18/bl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796528" y="1353312"/>
            <a:ext cx="1280160" cy="329184"/>
          </a:xfrm>
          <a:prstGeom prst="rect">
            <a:avLst/>
          </a:prstGeom>
          <a:solidFill>
            <a:srgbClr val="E4F3EC"/>
          </a:solidFill>
          <a:ln/>
        </p:spPr>
      </p:sp>
      <p:sp>
        <p:nvSpPr>
          <p:cNvPr id="31" name="Text 29"/>
          <p:cNvSpPr/>
          <p:nvPr/>
        </p:nvSpPr>
        <p:spPr>
          <a:xfrm>
            <a:off x="8814816" y="137160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+0.13%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13264" y="1399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Ormuz drones · prima geopolítica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309360" y="2020824"/>
            <a:ext cx="5303520" cy="749808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84848" y="2112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84848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$81.12/bl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796528" y="2203704"/>
            <a:ext cx="128016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38" name="Text 36"/>
          <p:cNvSpPr/>
          <p:nvPr/>
        </p:nvSpPr>
        <p:spPr>
          <a:xfrm>
            <a:off x="8814816" y="222199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−0.09%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113264" y="22494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Prácticamente sin cambio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309360" y="2871216"/>
            <a:ext cx="5303520" cy="749808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84848" y="2962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84848" y="3209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$4,381/oz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796528" y="3054096"/>
            <a:ext cx="128016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45" name="Text 43"/>
          <p:cNvSpPr/>
          <p:nvPr/>
        </p:nvSpPr>
        <p:spPr>
          <a:xfrm>
            <a:off x="8814816" y="3072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−0.21%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113264" y="30998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+31.6% anual · Nivel récord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09360" y="3721608"/>
            <a:ext cx="5303520" cy="749808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2764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84848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84848" y="4059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$65.00/oz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796528" y="3904488"/>
            <a:ext cx="128016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52" name="Text 50"/>
          <p:cNvSpPr/>
          <p:nvPr/>
        </p:nvSpPr>
        <p:spPr>
          <a:xfrm>
            <a:off x="8814816" y="392277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−0.90%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113264" y="3950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+68.9% anual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309360" y="4572000"/>
            <a:ext cx="5303520" cy="749808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84848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Natural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84848" y="4910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$2.78/MMBtu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796528" y="4754880"/>
            <a:ext cx="1280160" cy="329184"/>
          </a:xfrm>
          <a:prstGeom prst="rect">
            <a:avLst/>
          </a:prstGeom>
          <a:solidFill>
            <a:srgbClr val="E4F3EC"/>
          </a:solidFill>
          <a:ln/>
        </p:spPr>
      </p:sp>
      <p:sp>
        <p:nvSpPr>
          <p:cNvPr id="59" name="Text 57"/>
          <p:cNvSpPr/>
          <p:nvPr/>
        </p:nvSpPr>
        <p:spPr>
          <a:xfrm>
            <a:off x="8814816" y="477316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A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+1.76%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113264" y="4800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estival reactiva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309360" y="5422392"/>
            <a:ext cx="5303520" cy="749808"/>
          </a:xfrm>
          <a:prstGeom prst="rect">
            <a:avLst/>
          </a:prstGeom>
          <a:solidFill>
            <a:srgbClr val="FAFCFF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7648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84848" y="5513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84848" y="5760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~$6.55/lb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796528" y="5605272"/>
            <a:ext cx="1280160" cy="329184"/>
          </a:xfrm>
          <a:prstGeom prst="rect">
            <a:avLst/>
          </a:prstGeom>
          <a:solidFill>
            <a:srgbClr val="FAE8E8"/>
          </a:solidFill>
          <a:ln/>
        </p:spPr>
      </p:sp>
      <p:sp>
        <p:nvSpPr>
          <p:cNvPr id="66" name="Text 64"/>
          <p:cNvSpPr/>
          <p:nvPr/>
        </p:nvSpPr>
        <p:spPr>
          <a:xfrm>
            <a:off x="8814816" y="562356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−0.3%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113264" y="5650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+47.9% anual · China demand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309360" y="6309360"/>
            <a:ext cx="5303520" cy="640080"/>
          </a:xfrm>
          <a:prstGeom prst="rect">
            <a:avLst/>
          </a:prstGeom>
          <a:solidFill>
            <a:srgbClr val="FAE8EC"/>
          </a:solidFill>
          <a:ln w="12700">
            <a:solidFill>
              <a:srgbClr val="C0D0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09360" y="6309360"/>
            <a:ext cx="64008" cy="640080"/>
          </a:xfrm>
          <a:prstGeom prst="rect">
            <a:avLst/>
          </a:prstGeom>
          <a:solidFill>
            <a:srgbClr val="AA2040"/>
          </a:solidFill>
          <a:ln/>
        </p:spPr>
      </p:sp>
      <p:sp>
        <p:nvSpPr>
          <p:cNvPr id="70" name="Text 68"/>
          <p:cNvSpPr/>
          <p:nvPr/>
        </p:nvSpPr>
        <p:spPr>
          <a:xfrm>
            <a:off x="6473952" y="64190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Ormuz Día 168 · Drones iraníes atacaron 2 tanqueros de EAU el 14-ago · EE.UU. evalúa bloqueo naval indefinido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INEGI · BLS · Census Bureau · CME FedWatch · BMV · Bloomberg · El Financiero · CNBC · EUR/USD implícito · Cobre estimado  |  Análisis informativo — No constituye asesoría financiera.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1430000" y="6583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4389120"/>
            <a:ext cx="4572000" cy="4572000"/>
          </a:xfrm>
          <a:prstGeom prst="ellipse">
            <a:avLst/>
          </a:prstGeom>
          <a:solidFill>
            <a:srgbClr val="3A7DC0">
              <a:alpha val="1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-914400"/>
            <a:ext cx="4114800" cy="4114800"/>
          </a:xfrm>
          <a:prstGeom prst="ellipse">
            <a:avLst/>
          </a:prstGeom>
          <a:solidFill>
            <a:srgbClr val="38908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— Noticias &amp; Agenda Semana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14 agosto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274320"/>
            <a:ext cx="36576" cy="6309360"/>
          </a:xfrm>
          <a:prstGeom prst="rect">
            <a:avLst/>
          </a:prstGeom>
          <a:solidFill>
            <a:srgbClr val="C0D0E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78992"/>
            <a:ext cx="5486400" cy="1517904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78992"/>
            <a:ext cx="64008" cy="1517904"/>
          </a:xfrm>
          <a:prstGeom prst="rect">
            <a:avLst/>
          </a:prstGeom>
          <a:solidFill>
            <a:srgbClr val="389088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170432"/>
            <a:ext cx="2560320" cy="23774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11887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Comercial México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58368" y="146304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récord de $4,090 MDD en junio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19019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alcanzó su mayor superávit comercial mensual de la historia. Acumulado 1er semestre: $9,857 MDD (también récord). Exportaciones 1S: $389,723 MDD (+24.6% a/a). Manufactura no automotriz lideró con +37.6%. México ya es el #1 socio comercial de EE.UU.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5486400" cy="1517904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43200"/>
            <a:ext cx="64008" cy="1517904"/>
          </a:xfrm>
          <a:prstGeom prst="rect">
            <a:avLst/>
          </a:prstGeom>
          <a:solidFill>
            <a:srgbClr val="AA20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2834640"/>
            <a:ext cx="2560320" cy="23774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28529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Estrecho de Ormuz · Día 168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58368" y="312724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iraníes atacan 2 tanqueros de EAU · EE.UU. evalúa bloqueo naval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566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Irán atacó con drones dos buques emiratíes el 14 agosto. EE.UU. contempla bloqueo naval indefinido a puertos iraníes. Mediación de Omán sin avances. Escenario adverso (Brent &gt;$100) con probabilidad ~40%. Para México: Pemex se beneficia del Brent alto, pero gasolinas importadas encarecen.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57200" y="4407408"/>
            <a:ext cx="5486400" cy="1517904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07408"/>
            <a:ext cx="64008" cy="1517904"/>
          </a:xfrm>
          <a:prstGeom prst="rect">
            <a:avLst/>
          </a:prstGeom>
          <a:solidFill>
            <a:srgbClr val="3A7DC0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4498848"/>
            <a:ext cx="2560320" cy="23774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45171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T-MEC · Plan México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58368" y="479145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2026-2030: México en su "momento decisivo"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52303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incertidumbre del T-MEC frena proyectos de largo plazo. Sin embargo, México ya captó ~$11,900 M USD de IED china desde 2023. La reunión Sheinbaum-Goldman Sachs del 11 agosto busca atraer banca global al Plan México. Certeza jurídica del T-MEC es la variable crítica del nearshoring.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309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PRÓXIMA SEMANA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09360" y="1078992"/>
            <a:ext cx="5303520" cy="822960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1078992"/>
            <a:ext cx="64008" cy="822960"/>
          </a:xfrm>
          <a:prstGeom prst="rect">
            <a:avLst/>
          </a:prstGeom>
          <a:solidFill>
            <a:srgbClr val="389088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170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14 ago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052560" y="1170432"/>
            <a:ext cx="2468880" cy="23774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31" name="Text 29"/>
          <p:cNvSpPr/>
          <p:nvPr/>
        </p:nvSpPr>
        <p:spPr>
          <a:xfrm>
            <a:off x="9070848" y="11887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COMPLETADO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46520" y="14264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Comercial MX + Retail EE.UU.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2048256"/>
            <a:ext cx="5303520" cy="822960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2048256"/>
            <a:ext cx="64008" cy="822960"/>
          </a:xfrm>
          <a:prstGeom prst="rect">
            <a:avLst/>
          </a:prstGeom>
          <a:solidFill>
            <a:srgbClr val="3A7DC0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2139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18 ago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052560" y="2139696"/>
            <a:ext cx="2468880" cy="23774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37" name="Text 35"/>
          <p:cNvSpPr/>
          <p:nvPr/>
        </p:nvSpPr>
        <p:spPr>
          <a:xfrm>
            <a:off x="9070848" y="215798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446520" y="23957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semana · IPC BMV · Fed watch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3017520"/>
            <a:ext cx="5303520" cy="822960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017520"/>
            <a:ext cx="64008" cy="822960"/>
          </a:xfrm>
          <a:prstGeom prst="rect">
            <a:avLst/>
          </a:prstGeom>
          <a:solidFill>
            <a:srgbClr val="AA2040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108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 19 ago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52560" y="3108960"/>
            <a:ext cx="2468880" cy="23774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43" name="Text 41"/>
          <p:cNvSpPr/>
          <p:nvPr/>
        </p:nvSpPr>
        <p:spPr>
          <a:xfrm>
            <a:off x="9070848" y="312724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🔴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446520" y="33649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FOMC — Señal clave de la Fed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09360" y="3986784"/>
            <a:ext cx="5303520" cy="822960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3986784"/>
            <a:ext cx="64008" cy="822960"/>
          </a:xfrm>
          <a:prstGeom prst="rect">
            <a:avLst/>
          </a:prstGeom>
          <a:solidFill>
            <a:srgbClr val="C87820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4078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 20 ago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052560" y="4078224"/>
            <a:ext cx="2468880" cy="23774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49" name="Text 47"/>
          <p:cNvSpPr/>
          <p:nvPr/>
        </p:nvSpPr>
        <p:spPr>
          <a:xfrm>
            <a:off x="9070848" y="409651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446520" y="43342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desempleo EE.UU.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9360" y="4956048"/>
            <a:ext cx="5303520" cy="822960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4956048"/>
            <a:ext cx="64008" cy="822960"/>
          </a:xfrm>
          <a:prstGeom prst="rect">
            <a:avLst/>
          </a:prstGeom>
          <a:solidFill>
            <a:srgbClr val="8AAAC5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50474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22 ago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052560" y="5047488"/>
            <a:ext cx="2468880" cy="23774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55" name="Text 53"/>
          <p:cNvSpPr/>
          <p:nvPr/>
        </p:nvSpPr>
        <p:spPr>
          <a:xfrm>
            <a:off x="9070848" y="506577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446520" y="53035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Manufactura y servicios EE.UU.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9360" y="5998464"/>
            <a:ext cx="5303520" cy="786384"/>
          </a:xfrm>
          <a:prstGeom prst="rect">
            <a:avLst/>
          </a:prstGeom>
          <a:solidFill>
            <a:srgbClr val="1D3348"/>
          </a:solidFill>
          <a:ln w="12700">
            <a:solidFill>
              <a:srgbClr val="2C45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60716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8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Señal de la semana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92240" y="629107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y consumo en EE.UU. a la baja → Fed corta sep con 92% prob. Peso en mínimos históricos. Minutas FOMC el 19/8 son el factor de riesgo: si revelan debate hawkish, el mercado puede revertir.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65760" y="65836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INEGI · BLS · Census Bureau · CME FedWatch · BMV · Bloomberg · El Financiero · CNBC  |  Análisis informativo — No constituye asesoría financiera.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1430000" y="6583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2026-08-14T18:15:58Z</dcterms:created>
  <dcterms:modified xsi:type="dcterms:W3CDTF">2026-08-14T18:15:58Z</dcterms:modified>
</cp:coreProperties>
</file>