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E12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04840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201168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9880"/>
                </a:solidFill>
              </a:rPr>
              <a:t>Viernes · 21 agosto 2026 · Apertura de mercados · Morning Brief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347472" y="5029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MÉXICO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347472" y="123444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C04840"/>
                </a:solidFill>
              </a:rPr>
              <a:t>BRIEFING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347472" y="181051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9880"/>
                </a:solidFill>
              </a:rPr>
              <a:t>Análisis diario de mercados · macro · política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7472" y="2148840"/>
            <a:ext cx="6858000" cy="27432"/>
          </a:xfrm>
          <a:prstGeom prst="rect">
            <a:avLst/>
          </a:prstGeom>
          <a:solidFill>
            <a:srgbClr val="C04840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224028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09880"/>
                </a:solidFill>
              </a:rPr>
              <a:t>Oro NUEVO RÉCORD $4,585 · Brent $94 · Ormuz CONFIRMADO (barco AMARA) · Philly Fed 47.4 (sorpresa) · Peso $16.92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47472" y="2670048"/>
            <a:ext cx="2560320" cy="987552"/>
          </a:xfrm>
          <a:prstGeom prst="rect">
            <a:avLst/>
          </a:prstGeom>
          <a:solidFill>
            <a:srgbClr val="FAF2D0"/>
          </a:solidFill>
          <a:ln w="12700">
            <a:solidFill>
              <a:srgbClr val="E0C8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743200"/>
            <a:ext cx="23408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06050"/>
                </a:solidFill>
              </a:rPr>
              <a:t>Oro — Nuevo Récord AM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57200" y="2916936"/>
            <a:ext cx="234086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88010"/>
                </a:solidFill>
              </a:rPr>
              <a:t>$4,585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7200" y="3355848"/>
            <a:ext cx="23408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06050"/>
                </a:solidFill>
              </a:rPr>
              <a:t>+~2.5% · Ormuz + dólar débil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090672" y="2670048"/>
            <a:ext cx="2560320" cy="987552"/>
          </a:xfrm>
          <a:prstGeom prst="rect">
            <a:avLst/>
          </a:prstGeom>
          <a:solidFill>
            <a:srgbClr val="FAE8E6"/>
          </a:solidFill>
          <a:ln w="12700">
            <a:solidFill>
              <a:srgbClr val="E0C8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0" y="2743200"/>
            <a:ext cx="23408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06050"/>
                </a:solidFill>
              </a:rPr>
              <a:t>Brent Crude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200400" y="2916936"/>
            <a:ext cx="234086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04840"/>
                </a:solidFill>
              </a:rPr>
              <a:t>$94.00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200400" y="3355848"/>
            <a:ext cx="23408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06050"/>
                </a:solidFill>
              </a:rPr>
              <a:t>+1.1% · AMARA confirmado Ormuz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833872" y="2670048"/>
            <a:ext cx="2560320" cy="987552"/>
          </a:xfrm>
          <a:prstGeom prst="rect">
            <a:avLst/>
          </a:prstGeom>
          <a:solidFill>
            <a:srgbClr val="E0F4EC"/>
          </a:solidFill>
          <a:ln w="12700">
            <a:solidFill>
              <a:srgbClr val="E0C8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0" y="2743200"/>
            <a:ext cx="23408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06050"/>
                </a:solidFill>
              </a:rPr>
              <a:t>USD / MXN Apertura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5943600" y="2916936"/>
            <a:ext cx="234086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9058"/>
                </a:solidFill>
              </a:rPr>
              <a:t>$16.92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943600" y="3355848"/>
            <a:ext cx="23408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06050"/>
                </a:solidFill>
              </a:rPr>
              <a:t>Peso sigue fortaleciéndose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0" y="6510528"/>
            <a:ext cx="12161520" cy="347472"/>
          </a:xfrm>
          <a:prstGeom prst="rect">
            <a:avLst/>
          </a:prstGeom>
          <a:solidFill>
            <a:srgbClr val="1E1210"/>
          </a:solidFill>
          <a:ln/>
        </p:spPr>
      </p:sp>
      <p:sp>
        <p:nvSpPr>
          <p:cNvPr id="23" name="Text 21"/>
          <p:cNvSpPr/>
          <p:nvPr/>
        </p:nvSpPr>
        <p:spPr>
          <a:xfrm>
            <a:off x="164592" y="6510528"/>
            <a:ext cx="1179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C09880"/>
                </a:solidFill>
              </a:rPr>
              <a:t>Fuentes: CNBC · Yahoo Finance · SPGlobal · TheStreet · Rio Times · Maritime Executive · Heraldo de México · Fortune  |  Análisis informativo — No constituye asesoría financiera.  1 / 5</a:t>
            </a:r>
            <a:endParaRPr lang="en-US" sz="6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FF8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347472"/>
          </a:xfrm>
          <a:prstGeom prst="rect">
            <a:avLst/>
          </a:prstGeom>
          <a:solidFill>
            <a:srgbClr val="1E1210"/>
          </a:solidFill>
          <a:ln/>
        </p:spPr>
      </p:sp>
      <p:sp>
        <p:nvSpPr>
          <p:cNvPr id="4" name="Text 2"/>
          <p:cNvSpPr/>
          <p:nvPr/>
        </p:nvSpPr>
        <p:spPr>
          <a:xfrm>
            <a:off x="164592" y="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09880"/>
                </a:solidFill>
              </a:rPr>
              <a:t>Macro — Philly Fed Sorpresa Masiva + Flash PMI + Giro en FedWatch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503920" y="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09880"/>
                </a:solidFill>
              </a:rPr>
              <a:t>Viernes 21 agosto 2026 · Morning Brief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28600" y="411480"/>
            <a:ext cx="1170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210"/>
                </a:solidFill>
              </a:rPr>
              <a:t>Macro — Sorpresas de Datos + Giro Narrativo en Mercados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28600" y="822960"/>
            <a:ext cx="5577840" cy="2606040"/>
          </a:xfrm>
          <a:prstGeom prst="rect">
            <a:avLst/>
          </a:prstGeom>
          <a:solidFill>
            <a:srgbClr val="FFFAF8"/>
          </a:solidFill>
          <a:ln w="12700">
            <a:solidFill>
              <a:srgbClr val="E0C8C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822960"/>
            <a:ext cx="5577840" cy="274320"/>
          </a:xfrm>
          <a:prstGeom prst="rect">
            <a:avLst/>
          </a:prstGeom>
          <a:solidFill>
            <a:srgbClr val="C07040"/>
          </a:solidFill>
          <a:ln/>
        </p:spPr>
      </p:sp>
      <p:sp>
        <p:nvSpPr>
          <p:cNvPr id="9" name="Text 7"/>
          <p:cNvSpPr/>
          <p:nvPr/>
        </p:nvSpPr>
        <p:spPr>
          <a:xfrm>
            <a:off x="228600" y="82296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🏭  PHILLY FED MANUFACTURING · AGOSTO · PUBLICADO JUE 20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47472" y="117043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C07040"/>
                </a:solidFill>
              </a:rPr>
              <a:t>47.4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2651760" y="1261872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2820"/>
                </a:solidFill>
              </a:rPr>
              <a:t>vs 24.1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A82820"/>
                </a:solidFill>
              </a:rPr>
              <a:t>esperado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651760" y="178308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06050"/>
                </a:solidFill>
              </a:rPr>
              <a:t>vs 41.4 previo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7472" y="1874520"/>
            <a:ext cx="2011680" cy="201168"/>
          </a:xfrm>
          <a:prstGeom prst="rect">
            <a:avLst/>
          </a:prstGeom>
          <a:solidFill>
            <a:srgbClr val="E0F4EC"/>
          </a:solidFill>
          <a:ln/>
        </p:spPr>
      </p:sp>
      <p:sp>
        <p:nvSpPr>
          <p:cNvPr id="14" name="Text 12"/>
          <p:cNvSpPr/>
          <p:nvPr/>
        </p:nvSpPr>
        <p:spPr>
          <a:xfrm>
            <a:off x="347472" y="187452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A9058"/>
                </a:solidFill>
              </a:rPr>
              <a:t>▲ SORPRESA MASIVA AL ALZA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468880" y="1874520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E1210"/>
                </a:solidFill>
              </a:rPr>
              <a:t>Máximo de 5 años · Manufactura EE.UU. en expansión acelerada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347472" y="2121408"/>
            <a:ext cx="5248656" cy="18288"/>
          </a:xfrm>
          <a:prstGeom prst="rect">
            <a:avLst/>
          </a:prstGeom>
          <a:solidFill>
            <a:srgbClr val="E0C8C0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2157984"/>
            <a:ext cx="5248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E1210"/>
                </a:solidFill>
              </a:rPr>
              <a:t>🔥  El dato más fuerte desde 2021: manufactura EE.UU. crece a ritmo máximo de lustro</a:t>
            </a:r>
            <a:endParaRPr lang="en-US" sz="780" dirty="0"/>
          </a:p>
        </p:txBody>
      </p:sp>
      <p:sp>
        <p:nvSpPr>
          <p:cNvPr id="18" name="Text 16"/>
          <p:cNvSpPr/>
          <p:nvPr/>
        </p:nvSpPr>
        <p:spPr>
          <a:xfrm>
            <a:off x="347472" y="2468880"/>
            <a:ext cx="5248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E1210"/>
                </a:solidFill>
              </a:rPr>
              <a:t>⚠️   Inicialmente hawkish → S&amp;P cayó −0.69% el jueves al interpretar más presión inflacionaria</a:t>
            </a:r>
            <a:endParaRPr lang="en-US" sz="780" dirty="0"/>
          </a:p>
        </p:txBody>
      </p:sp>
      <p:sp>
        <p:nvSpPr>
          <p:cNvPr id="19" name="Text 17"/>
          <p:cNvSpPr/>
          <p:nvPr/>
        </p:nvSpPr>
        <p:spPr>
          <a:xfrm>
            <a:off x="347472" y="2779776"/>
            <a:ext cx="5248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E1210"/>
                </a:solidFill>
              </a:rPr>
              <a:t>🔄  Pero: economía fuerte sin necesidad de subir tasas → FedWatch gira a RECORTE</a:t>
            </a:r>
            <a:endParaRPr lang="en-US" sz="780" dirty="0"/>
          </a:p>
        </p:txBody>
      </p:sp>
      <p:sp>
        <p:nvSpPr>
          <p:cNvPr id="20" name="Text 18"/>
          <p:cNvSpPr/>
          <p:nvPr/>
        </p:nvSpPr>
        <p:spPr>
          <a:xfrm>
            <a:off x="347472" y="3090672"/>
            <a:ext cx="5248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E1210"/>
                </a:solidFill>
              </a:rPr>
              <a:t>🇲🇽  Manufactura EE.UU. fuerte = más demanda de bienes mexicanos → positivo para exportaciones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5989320" y="822960"/>
            <a:ext cx="5943600" cy="2606040"/>
          </a:xfrm>
          <a:prstGeom prst="rect">
            <a:avLst/>
          </a:prstGeom>
          <a:solidFill>
            <a:srgbClr val="FFFAF8"/>
          </a:solidFill>
          <a:ln w="12700">
            <a:solidFill>
              <a:srgbClr val="E0C8C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89320" y="822960"/>
            <a:ext cx="5943600" cy="274320"/>
          </a:xfrm>
          <a:prstGeom prst="rect">
            <a:avLst/>
          </a:prstGeom>
          <a:solidFill>
            <a:srgbClr val="2A8878"/>
          </a:solidFill>
          <a:ln/>
        </p:spPr>
      </p:sp>
      <p:sp>
        <p:nvSpPr>
          <p:cNvPr id="23" name="Text 21"/>
          <p:cNvSpPr/>
          <p:nvPr/>
        </p:nvSpPr>
        <p:spPr>
          <a:xfrm>
            <a:off x="5989320" y="82296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📊  FLASH PMI EE.UU. AGOSTO + JOBLESS CLAIMS · DATOS HOY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126480" y="1170432"/>
            <a:ext cx="5577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06050"/>
                </a:solidFill>
              </a:rPr>
              <a:t>FLASH PMI (S&amp;P Global) · Agosto 2026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6126480" y="138988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06050"/>
                </a:solidFill>
              </a:rPr>
              <a:t>Manufacturing PMI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412480" y="138988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7020"/>
                </a:solidFill>
              </a:rPr>
              <a:t>53.2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509760" y="138988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06050"/>
                </a:solidFill>
              </a:rPr>
              <a:t>53.9 est.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6126480" y="1645920"/>
            <a:ext cx="5577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06050"/>
                </a:solidFill>
              </a:rPr>
              <a:t>Miss leve · sigue expansión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6126480" y="1828800"/>
            <a:ext cx="5577840" cy="18288"/>
          </a:xfrm>
          <a:prstGeom prst="rect">
            <a:avLst/>
          </a:prstGeom>
          <a:solidFill>
            <a:srgbClr val="E0C8C0"/>
          </a:solidFill>
          <a:ln/>
        </p:spPr>
      </p:sp>
      <p:sp>
        <p:nvSpPr>
          <p:cNvPr id="30" name="Text 28"/>
          <p:cNvSpPr/>
          <p:nvPr/>
        </p:nvSpPr>
        <p:spPr>
          <a:xfrm>
            <a:off x="6126480" y="186537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06050"/>
                </a:solidFill>
              </a:rPr>
              <a:t>Services PMI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412480" y="186537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9058"/>
                </a:solidFill>
              </a:rPr>
              <a:t>56.8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509760" y="18653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06050"/>
                </a:solidFill>
              </a:rPr>
              <a:t>54.0 est.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6126480" y="2121408"/>
            <a:ext cx="5577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06050"/>
                </a:solidFill>
              </a:rPr>
              <a:t>Beat sólido · servicios fuertes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6126480" y="2304288"/>
            <a:ext cx="5577840" cy="18288"/>
          </a:xfrm>
          <a:prstGeom prst="rect">
            <a:avLst/>
          </a:prstGeom>
          <a:solidFill>
            <a:srgbClr val="E0C8C0"/>
          </a:solidFill>
          <a:ln/>
        </p:spPr>
      </p:sp>
      <p:sp>
        <p:nvSpPr>
          <p:cNvPr id="35" name="Text 33"/>
          <p:cNvSpPr/>
          <p:nvPr/>
        </p:nvSpPr>
        <p:spPr>
          <a:xfrm>
            <a:off x="6126480" y="234086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06050"/>
                </a:solidFill>
              </a:rPr>
              <a:t>Composite PMI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412480" y="2340864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9058"/>
                </a:solidFill>
              </a:rPr>
              <a:t>56.0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509760" y="2340864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06050"/>
                </a:solidFill>
              </a:rPr>
              <a:t>54.5 prev.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6126480" y="2596896"/>
            <a:ext cx="5577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06050"/>
                </a:solidFill>
              </a:rPr>
              <a:t>Mayor en 4 meses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6126480" y="2834640"/>
            <a:ext cx="5577840" cy="18288"/>
          </a:xfrm>
          <a:prstGeom prst="rect">
            <a:avLst/>
          </a:prstGeom>
          <a:solidFill>
            <a:srgbClr val="E0C8C0"/>
          </a:solidFill>
          <a:ln/>
        </p:spPr>
      </p:sp>
      <p:sp>
        <p:nvSpPr>
          <p:cNvPr id="40" name="Text 38"/>
          <p:cNvSpPr/>
          <p:nvPr/>
        </p:nvSpPr>
        <p:spPr>
          <a:xfrm>
            <a:off x="6126480" y="2871216"/>
            <a:ext cx="5577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06050"/>
                </a:solidFill>
              </a:rPr>
              <a:t>JOBLESS CLAIMS · JUE 20 AGO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6126480" y="309067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1210"/>
                </a:solidFill>
              </a:rPr>
              <a:t>206K</a:t>
            </a:r>
            <a:endParaRPr lang="en-US" sz="2400" dirty="0"/>
          </a:p>
        </p:txBody>
      </p:sp>
      <p:sp>
        <p:nvSpPr>
          <p:cNvPr id="42" name="Text 40"/>
          <p:cNvSpPr/>
          <p:nvPr/>
        </p:nvSpPr>
        <p:spPr>
          <a:xfrm>
            <a:off x="7772400" y="310896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1210"/>
                </a:solidFill>
              </a:rPr>
              <a:t>vs ~210K est. · vs 209K prev.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1210"/>
                </a:solidFill>
              </a:rPr>
              <a:t>✅  Dato sano — mercado laboral estable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228600" y="3520440"/>
            <a:ext cx="11704320" cy="18288"/>
          </a:xfrm>
          <a:prstGeom prst="rect">
            <a:avLst/>
          </a:prstGeom>
          <a:solidFill>
            <a:srgbClr val="E0C8C0"/>
          </a:solidFill>
          <a:ln/>
        </p:spPr>
      </p:sp>
      <p:sp>
        <p:nvSpPr>
          <p:cNvPr id="44" name="Shape 42"/>
          <p:cNvSpPr/>
          <p:nvPr/>
        </p:nvSpPr>
        <p:spPr>
          <a:xfrm>
            <a:off x="228600" y="3584448"/>
            <a:ext cx="11704320" cy="2194560"/>
          </a:xfrm>
          <a:prstGeom prst="rect">
            <a:avLst/>
          </a:prstGeom>
          <a:solidFill>
            <a:srgbClr val="FFFAF8"/>
          </a:solidFill>
          <a:ln w="12700">
            <a:solidFill>
              <a:srgbClr val="E0C8C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28600" y="3584448"/>
            <a:ext cx="11704320" cy="274320"/>
          </a:xfrm>
          <a:prstGeom prst="rect">
            <a:avLst/>
          </a:prstGeom>
          <a:solidFill>
            <a:srgbClr val="7050B8"/>
          </a:solidFill>
          <a:ln/>
        </p:spPr>
      </p:sp>
      <p:sp>
        <p:nvSpPr>
          <p:cNvPr id="46" name="Text 44"/>
          <p:cNvSpPr/>
          <p:nvPr/>
        </p:nvSpPr>
        <p:spPr>
          <a:xfrm>
            <a:off x="228600" y="3584448"/>
            <a:ext cx="1170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🔄  CME FEDWATCH — GIRO NARRATIVO: DE ALZA A RECORTE · SEP 16, 2026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347472" y="3931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06050"/>
                </a:solidFill>
              </a:rPr>
              <a:t>Lun 18 ago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806050"/>
                </a:solidFill>
              </a:rPr>
              <a:t>(pre-FOMC)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347472" y="427939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06050"/>
                </a:solidFill>
              </a:rPr>
              <a:t>Hold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1536192" y="427939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A9058"/>
                </a:solidFill>
              </a:rPr>
              <a:t>Recorte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2816352" y="427939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82820"/>
                </a:solidFill>
              </a:rPr>
              <a:t>Alza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347472" y="4535424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1210"/>
                </a:solidFill>
              </a:rPr>
              <a:t>~50%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1536192" y="4535424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9058"/>
                </a:solidFill>
              </a:rPr>
              <a:t>~4%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2816352" y="4535424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82820"/>
                </a:solidFill>
              </a:rPr>
              <a:t>~46%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347472" y="49194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806050"/>
                </a:solidFill>
              </a:rPr>
              <a:t>Mercado casi 50/50 alza vs pausa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4096512" y="3913632"/>
            <a:ext cx="18288" cy="1316736"/>
          </a:xfrm>
          <a:prstGeom prst="rect">
            <a:avLst/>
          </a:prstGeom>
          <a:solidFill>
            <a:srgbClr val="E0C8C0"/>
          </a:solidFill>
          <a:ln/>
        </p:spPr>
      </p:sp>
      <p:sp>
        <p:nvSpPr>
          <p:cNvPr id="56" name="Text 54"/>
          <p:cNvSpPr/>
          <p:nvPr/>
        </p:nvSpPr>
        <p:spPr>
          <a:xfrm>
            <a:off x="4187952" y="3931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06050"/>
                </a:solidFill>
              </a:rPr>
              <a:t>Mié 19 ago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806050"/>
                </a:solidFill>
              </a:rPr>
              <a:t>(post-minutas)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4187952" y="427939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06050"/>
                </a:solidFill>
              </a:rPr>
              <a:t>Hold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5376672" y="427939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A9058"/>
                </a:solidFill>
              </a:rPr>
              <a:t>Recorte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6656832" y="427939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82820"/>
                </a:solidFill>
              </a:rPr>
              <a:t>Alza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4187952" y="4535424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1210"/>
                </a:solidFill>
              </a:rPr>
              <a:t>68.4%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5376672" y="4535424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9058"/>
                </a:solidFill>
              </a:rPr>
              <a:t>~4%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6656832" y="4535424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82820"/>
                </a:solidFill>
              </a:rPr>
              <a:t>31.6%</a:t>
            </a:r>
            <a:endParaRPr lang="en-US" sz="1300" dirty="0"/>
          </a:p>
        </p:txBody>
      </p:sp>
      <p:sp>
        <p:nvSpPr>
          <p:cNvPr id="63" name="Text 61"/>
          <p:cNvSpPr/>
          <p:nvPr/>
        </p:nvSpPr>
        <p:spPr>
          <a:xfrm>
            <a:off x="4187952" y="49194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806050"/>
                </a:solidFill>
              </a:rPr>
              <a:t>Minutas hawkish → alza sube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7936992" y="3913632"/>
            <a:ext cx="18288" cy="1316736"/>
          </a:xfrm>
          <a:prstGeom prst="rect">
            <a:avLst/>
          </a:prstGeom>
          <a:solidFill>
            <a:srgbClr val="E0C8C0"/>
          </a:solidFill>
          <a:ln/>
        </p:spPr>
      </p:sp>
      <p:sp>
        <p:nvSpPr>
          <p:cNvPr id="65" name="Text 63"/>
          <p:cNvSpPr/>
          <p:nvPr/>
        </p:nvSpPr>
        <p:spPr>
          <a:xfrm>
            <a:off x="8028432" y="3931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06050"/>
                </a:solidFill>
              </a:rPr>
              <a:t>Vie 21 ago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806050"/>
                </a:solidFill>
              </a:rPr>
              <a:t>(post-datos)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8028432" y="427939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06050"/>
                </a:solidFill>
              </a:rPr>
              <a:t>Hold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9217152" y="427939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A9058"/>
                </a:solidFill>
              </a:rPr>
              <a:t>Recorte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10497312" y="427939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82820"/>
                </a:solidFill>
              </a:rPr>
              <a:t>Alza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8028432" y="4535424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1210"/>
                </a:solidFill>
              </a:rPr>
              <a:t>68.4%</a:t>
            </a:r>
            <a:endParaRPr lang="en-US" sz="1300" dirty="0"/>
          </a:p>
        </p:txBody>
      </p:sp>
      <p:sp>
        <p:nvSpPr>
          <p:cNvPr id="70" name="Text 68"/>
          <p:cNvSpPr/>
          <p:nvPr/>
        </p:nvSpPr>
        <p:spPr>
          <a:xfrm>
            <a:off x="9217152" y="4535424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9058"/>
                </a:solidFill>
              </a:rPr>
              <a:t>28.1%</a:t>
            </a:r>
            <a:endParaRPr lang="en-US" sz="1300" dirty="0"/>
          </a:p>
        </p:txBody>
      </p:sp>
      <p:sp>
        <p:nvSpPr>
          <p:cNvPr id="71" name="Text 69"/>
          <p:cNvSpPr/>
          <p:nvPr/>
        </p:nvSpPr>
        <p:spPr>
          <a:xfrm>
            <a:off x="10497312" y="4535424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82820"/>
                </a:solidFill>
              </a:rPr>
              <a:t>3.5%</a:t>
            </a:r>
            <a:endParaRPr lang="en-US" sz="1300" dirty="0"/>
          </a:p>
        </p:txBody>
      </p:sp>
      <p:sp>
        <p:nvSpPr>
          <p:cNvPr id="72" name="Text 70"/>
          <p:cNvSpPr/>
          <p:nvPr/>
        </p:nvSpPr>
        <p:spPr>
          <a:xfrm>
            <a:off x="8028432" y="49194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806050"/>
                </a:solidFill>
              </a:rPr>
              <a:t>¡Philly Fed + PMI = giro a recorte!</a:t>
            </a:r>
            <a:endParaRPr lang="en-US" sz="700" dirty="0"/>
          </a:p>
        </p:txBody>
      </p:sp>
      <p:sp>
        <p:nvSpPr>
          <p:cNvPr id="73" name="Shape 71"/>
          <p:cNvSpPr/>
          <p:nvPr/>
        </p:nvSpPr>
        <p:spPr>
          <a:xfrm>
            <a:off x="0" y="6510528"/>
            <a:ext cx="12161520" cy="347472"/>
          </a:xfrm>
          <a:prstGeom prst="rect">
            <a:avLst/>
          </a:prstGeom>
          <a:solidFill>
            <a:srgbClr val="1E1210"/>
          </a:solidFill>
          <a:ln/>
        </p:spPr>
      </p:sp>
      <p:sp>
        <p:nvSpPr>
          <p:cNvPr id="74" name="Text 72"/>
          <p:cNvSpPr/>
          <p:nvPr/>
        </p:nvSpPr>
        <p:spPr>
          <a:xfrm>
            <a:off x="164592" y="6510528"/>
            <a:ext cx="1179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C09880"/>
                </a:solidFill>
              </a:rPr>
              <a:t>Fuentes: InvestingLive · S&amp;P Global PMI · National Pulse · CME FedWatch · Newsquawk · TheStreet  |  Análisis informativo — No constituye asesoría financiera.  2 / 5</a:t>
            </a:r>
            <a:endParaRPr lang="en-US" sz="6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FF8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347472"/>
          </a:xfrm>
          <a:prstGeom prst="rect">
            <a:avLst/>
          </a:prstGeom>
          <a:solidFill>
            <a:srgbClr val="1E1210"/>
          </a:solidFill>
          <a:ln/>
        </p:spPr>
      </p:sp>
      <p:sp>
        <p:nvSpPr>
          <p:cNvPr id="4" name="Text 2"/>
          <p:cNvSpPr/>
          <p:nvPr/>
        </p:nvSpPr>
        <p:spPr>
          <a:xfrm>
            <a:off x="164592" y="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09880"/>
                </a:solidFill>
              </a:rPr>
              <a:t>Mercados Globales — Cierre Jue 20 / Apertura Vie 21 agosto 2026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503920" y="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09880"/>
                </a:solidFill>
              </a:rPr>
              <a:t>Viernes 21 agosto 2026 · Morning Brief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28600" y="411480"/>
            <a:ext cx="1170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210"/>
                </a:solidFill>
              </a:rPr>
              <a:t>Mercados Globales — Cierre Jue 20 / Apertura Vie 21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28600" y="822960"/>
            <a:ext cx="5303520" cy="2834640"/>
          </a:xfrm>
          <a:prstGeom prst="rect">
            <a:avLst/>
          </a:prstGeom>
          <a:solidFill>
            <a:srgbClr val="FFFAF8"/>
          </a:solidFill>
          <a:ln w="12700">
            <a:solidFill>
              <a:srgbClr val="E0C8C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822960"/>
            <a:ext cx="5303520" cy="274320"/>
          </a:xfrm>
          <a:prstGeom prst="rect">
            <a:avLst/>
          </a:prstGeom>
          <a:solidFill>
            <a:srgbClr val="1E1210"/>
          </a:solidFill>
          <a:ln/>
        </p:spPr>
      </p:sp>
      <p:sp>
        <p:nvSpPr>
          <p:cNvPr id="9" name="Text 7"/>
          <p:cNvSpPr/>
          <p:nvPr/>
        </p:nvSpPr>
        <p:spPr>
          <a:xfrm>
            <a:off x="228600" y="82296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IPC BMV — CONTRACORRIENTE EL JUEVES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47472" y="1170432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1210"/>
                </a:solidFill>
              </a:rPr>
              <a:t>64,194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3383280" y="146304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06050"/>
                </a:solidFill>
              </a:rPr>
              <a:t>pts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47472" y="1801368"/>
            <a:ext cx="1463040" cy="201168"/>
          </a:xfrm>
          <a:prstGeom prst="rect">
            <a:avLst/>
          </a:prstGeom>
          <a:solidFill>
            <a:srgbClr val="E0F4EC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" y="180136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A9058"/>
                </a:solidFill>
              </a:rPr>
              <a:t>▲ +0.41% jue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920240" y="180136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06050"/>
                </a:solidFill>
              </a:rPr>
              <a:t>Mientras S&amp;P caía −0.69%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47472" y="2057400"/>
            <a:ext cx="4974336" cy="18288"/>
          </a:xfrm>
          <a:prstGeom prst="rect">
            <a:avLst/>
          </a:prstGeom>
          <a:solidFill>
            <a:srgbClr val="E0C8C0"/>
          </a:solidFill>
          <a:ln/>
        </p:spPr>
      </p:sp>
      <p:sp>
        <p:nvSpPr>
          <p:cNvPr id="16" name="Text 14"/>
          <p:cNvSpPr/>
          <p:nvPr/>
        </p:nvSpPr>
        <p:spPr>
          <a:xfrm>
            <a:off x="347472" y="2103120"/>
            <a:ext cx="49743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06050"/>
                </a:solidFill>
              </a:rPr>
              <a:t>¿POR QUÉ EL IPC SUBIÓ CUANDO WALL ST. CAYÓ?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47472" y="2340864"/>
            <a:ext cx="49743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E1210"/>
                </a:solidFill>
              </a:rPr>
              <a:t>⛏️   Peñoles +2.7% · Grupo México +1.3% → plata y cobre arrastraron al IPC al alza</a:t>
            </a:r>
            <a:endParaRPr lang="en-US" sz="780" dirty="0"/>
          </a:p>
        </p:txBody>
      </p:sp>
      <p:sp>
        <p:nvSpPr>
          <p:cNvPr id="18" name="Text 16"/>
          <p:cNvSpPr/>
          <p:nvPr/>
        </p:nvSpPr>
        <p:spPr>
          <a:xfrm>
            <a:off x="347472" y="2651760"/>
            <a:ext cx="49743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E1210"/>
                </a:solidFill>
              </a:rPr>
              <a:t>💵  Peso fuerte → reducción del costo de deuda en MXN de emisoras</a:t>
            </a:r>
            <a:endParaRPr lang="en-US" sz="780" dirty="0"/>
          </a:p>
        </p:txBody>
      </p:sp>
      <p:sp>
        <p:nvSpPr>
          <p:cNvPr id="19" name="Text 17"/>
          <p:cNvSpPr/>
          <p:nvPr/>
        </p:nvSpPr>
        <p:spPr>
          <a:xfrm>
            <a:off x="347472" y="2962656"/>
            <a:ext cx="49743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E1210"/>
                </a:solidFill>
              </a:rPr>
              <a:t>🛢  Brent $93 → Pemex y energéticas operaron con prima</a:t>
            </a:r>
            <a:endParaRPr lang="en-US" sz="780" dirty="0"/>
          </a:p>
        </p:txBody>
      </p:sp>
      <p:sp>
        <p:nvSpPr>
          <p:cNvPr id="20" name="Text 18"/>
          <p:cNvSpPr/>
          <p:nvPr/>
        </p:nvSpPr>
        <p:spPr>
          <a:xfrm>
            <a:off x="347472" y="3273552"/>
            <a:ext cx="49743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E1210"/>
                </a:solidFill>
              </a:rPr>
              <a:t>🔄  IPC: riesgo técnico si pierde soporte en 65,000 pts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5715000" y="822960"/>
            <a:ext cx="6217920" cy="2834640"/>
          </a:xfrm>
          <a:prstGeom prst="rect">
            <a:avLst/>
          </a:prstGeom>
          <a:solidFill>
            <a:srgbClr val="FFFAF8"/>
          </a:solidFill>
          <a:ln w="12700">
            <a:solidFill>
              <a:srgbClr val="E0C8C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715000" y="822960"/>
            <a:ext cx="6217920" cy="274320"/>
          </a:xfrm>
          <a:prstGeom prst="rect">
            <a:avLst/>
          </a:prstGeom>
          <a:solidFill>
            <a:srgbClr val="1E1210"/>
          </a:solidFill>
          <a:ln/>
        </p:spPr>
      </p:sp>
      <p:sp>
        <p:nvSpPr>
          <p:cNvPr id="23" name="Text 21"/>
          <p:cNvSpPr/>
          <p:nvPr/>
        </p:nvSpPr>
        <p:spPr>
          <a:xfrm>
            <a:off x="5715000" y="82296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ÍNDICES GLOBALES — CIERRE JUEVES 20 AGO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833872" y="117043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1210"/>
                </a:solidFill>
              </a:rPr>
              <a:t>S&amp;P 500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229600" y="117043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E1210"/>
                </a:solidFill>
              </a:rPr>
              <a:t>7,655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058400" y="1170432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A82820"/>
                </a:solidFill>
              </a:rPr>
              <a:t>−0.69%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833872" y="1499616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06050"/>
                </a:solidFill>
              </a:rPr>
              <a:t>Philly Fed hawkish → caída</a:t>
            </a:r>
            <a:endParaRPr lang="en-US" sz="680" dirty="0"/>
          </a:p>
        </p:txBody>
      </p:sp>
      <p:sp>
        <p:nvSpPr>
          <p:cNvPr id="28" name="Shape 26"/>
          <p:cNvSpPr/>
          <p:nvPr/>
        </p:nvSpPr>
        <p:spPr>
          <a:xfrm>
            <a:off x="5833872" y="1682496"/>
            <a:ext cx="5943600" cy="18288"/>
          </a:xfrm>
          <a:prstGeom prst="rect">
            <a:avLst/>
          </a:prstGeom>
          <a:solidFill>
            <a:srgbClr val="E0C8C0"/>
          </a:solidFill>
          <a:ln/>
        </p:spPr>
      </p:sp>
      <p:sp>
        <p:nvSpPr>
          <p:cNvPr id="29" name="Text 27"/>
          <p:cNvSpPr/>
          <p:nvPr/>
        </p:nvSpPr>
        <p:spPr>
          <a:xfrm>
            <a:off x="5833872" y="171907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1210"/>
                </a:solidFill>
              </a:rPr>
              <a:t>Nasdaq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29600" y="171907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E1210"/>
                </a:solidFill>
              </a:rPr>
              <a:t>−0.52%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058400" y="1719072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A82820"/>
                </a:solidFill>
              </a:rPr>
              <a:t>−0.52%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833872" y="2048256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06050"/>
                </a:solidFill>
              </a:rPr>
              <a:t>Tech bajo presión de yields</a:t>
            </a:r>
            <a:endParaRPr lang="en-US" sz="680" dirty="0"/>
          </a:p>
        </p:txBody>
      </p:sp>
      <p:sp>
        <p:nvSpPr>
          <p:cNvPr id="33" name="Shape 31"/>
          <p:cNvSpPr/>
          <p:nvPr/>
        </p:nvSpPr>
        <p:spPr>
          <a:xfrm>
            <a:off x="5833872" y="2231136"/>
            <a:ext cx="5943600" cy="18288"/>
          </a:xfrm>
          <a:prstGeom prst="rect">
            <a:avLst/>
          </a:prstGeom>
          <a:solidFill>
            <a:srgbClr val="E0C8C0"/>
          </a:solidFill>
          <a:ln/>
        </p:spPr>
      </p:sp>
      <p:sp>
        <p:nvSpPr>
          <p:cNvPr id="34" name="Text 32"/>
          <p:cNvSpPr/>
          <p:nvPr/>
        </p:nvSpPr>
        <p:spPr>
          <a:xfrm>
            <a:off x="5833872" y="226771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1210"/>
                </a:solidFill>
              </a:rPr>
              <a:t>Dow Jones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229600" y="226771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E1210"/>
                </a:solidFill>
              </a:rPr>
              <a:t>−0.71%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058400" y="2267712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A82820"/>
                </a:solidFill>
              </a:rPr>
              <a:t>−0.71%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833872" y="2596896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06050"/>
                </a:solidFill>
              </a:rPr>
              <a:t>Mayor caída del día</a:t>
            </a:r>
            <a:endParaRPr lang="en-US" sz="680" dirty="0"/>
          </a:p>
        </p:txBody>
      </p:sp>
      <p:sp>
        <p:nvSpPr>
          <p:cNvPr id="38" name="Shape 36"/>
          <p:cNvSpPr/>
          <p:nvPr/>
        </p:nvSpPr>
        <p:spPr>
          <a:xfrm>
            <a:off x="5833872" y="2779776"/>
            <a:ext cx="5943600" cy="18288"/>
          </a:xfrm>
          <a:prstGeom prst="rect">
            <a:avLst/>
          </a:prstGeom>
          <a:solidFill>
            <a:srgbClr val="E0C8C0"/>
          </a:solidFill>
          <a:ln/>
        </p:spPr>
      </p:sp>
      <p:sp>
        <p:nvSpPr>
          <p:cNvPr id="39" name="Text 37"/>
          <p:cNvSpPr/>
          <p:nvPr/>
        </p:nvSpPr>
        <p:spPr>
          <a:xfrm>
            <a:off x="5833872" y="281635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1210"/>
                </a:solidFill>
              </a:rPr>
              <a:t>DAX 40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229600" y="281635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E1210"/>
                </a:solidFill>
              </a:rPr>
              <a:t>~25,983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0058400" y="2816352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A82820"/>
                </a:solidFill>
              </a:rPr>
              <a:t>−0.31%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833872" y="3145536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06050"/>
                </a:solidFill>
              </a:rPr>
              <a:t>Europa acompañó al riesgo global</a:t>
            </a:r>
            <a:endParaRPr lang="en-US" sz="680" dirty="0"/>
          </a:p>
        </p:txBody>
      </p:sp>
      <p:sp>
        <p:nvSpPr>
          <p:cNvPr id="43" name="Shape 41"/>
          <p:cNvSpPr/>
          <p:nvPr/>
        </p:nvSpPr>
        <p:spPr>
          <a:xfrm>
            <a:off x="228600" y="3749040"/>
            <a:ext cx="11704320" cy="18288"/>
          </a:xfrm>
          <a:prstGeom prst="rect">
            <a:avLst/>
          </a:prstGeom>
          <a:solidFill>
            <a:srgbClr val="E0C8C0"/>
          </a:solidFill>
          <a:ln/>
        </p:spPr>
      </p:sp>
      <p:sp>
        <p:nvSpPr>
          <p:cNvPr id="44" name="Shape 42"/>
          <p:cNvSpPr/>
          <p:nvPr/>
        </p:nvSpPr>
        <p:spPr>
          <a:xfrm>
            <a:off x="228600" y="3813048"/>
            <a:ext cx="5577840" cy="2286000"/>
          </a:xfrm>
          <a:prstGeom prst="rect">
            <a:avLst/>
          </a:prstGeom>
          <a:solidFill>
            <a:srgbClr val="FAF2D0"/>
          </a:solidFill>
          <a:ln w="12700">
            <a:solidFill>
              <a:srgbClr val="E0C8C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28600" y="3813048"/>
            <a:ext cx="5577840" cy="274320"/>
          </a:xfrm>
          <a:prstGeom prst="rect">
            <a:avLst/>
          </a:prstGeom>
          <a:solidFill>
            <a:srgbClr val="A88010"/>
          </a:solidFill>
          <a:ln/>
        </p:spPr>
      </p:sp>
      <p:sp>
        <p:nvSpPr>
          <p:cNvPr id="46" name="Text 44"/>
          <p:cNvSpPr/>
          <p:nvPr/>
        </p:nvSpPr>
        <p:spPr>
          <a:xfrm>
            <a:off x="228600" y="3813048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🥇  ORO — NUEVO RÉCORD HISTÓRICO ABSOLUTO · VIERNES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347472" y="4160520"/>
            <a:ext cx="5029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A88010"/>
                </a:solidFill>
              </a:rPr>
              <a:t>$4,577–$4,595</a:t>
            </a:r>
            <a:endParaRPr lang="en-US" sz="3200" dirty="0"/>
          </a:p>
        </p:txBody>
      </p:sp>
      <p:sp>
        <p:nvSpPr>
          <p:cNvPr id="48" name="Text 46"/>
          <p:cNvSpPr/>
          <p:nvPr/>
        </p:nvSpPr>
        <p:spPr>
          <a:xfrm>
            <a:off x="4663440" y="44805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06050"/>
                </a:solidFill>
              </a:rPr>
              <a:t>/oz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347472" y="4773168"/>
            <a:ext cx="2011680" cy="201168"/>
          </a:xfrm>
          <a:prstGeom prst="rect">
            <a:avLst/>
          </a:prstGeom>
          <a:solidFill>
            <a:srgbClr val="E0F4EC"/>
          </a:solidFill>
          <a:ln/>
        </p:spPr>
      </p:sp>
      <p:sp>
        <p:nvSpPr>
          <p:cNvPr id="50" name="Text 48"/>
          <p:cNvSpPr/>
          <p:nvPr/>
        </p:nvSpPr>
        <p:spPr>
          <a:xfrm>
            <a:off x="347472" y="477316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A9058"/>
                </a:solidFill>
              </a:rPr>
              <a:t>▲ +~2.5% vs ayer ($4,474)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347472" y="5029200"/>
            <a:ext cx="5248656" cy="18288"/>
          </a:xfrm>
          <a:prstGeom prst="rect">
            <a:avLst/>
          </a:prstGeom>
          <a:solidFill>
            <a:srgbClr val="E0C8C0"/>
          </a:solidFill>
          <a:ln/>
        </p:spPr>
      </p:sp>
      <p:sp>
        <p:nvSpPr>
          <p:cNvPr id="52" name="Text 50"/>
          <p:cNvSpPr/>
          <p:nvPr/>
        </p:nvSpPr>
        <p:spPr>
          <a:xfrm>
            <a:off x="347472" y="5065776"/>
            <a:ext cx="52486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E1210"/>
                </a:solidFill>
              </a:rPr>
              <a:t>⚓  Ormuz CONFIRMADO (barco AMARA capturado) → demanda refugio dispara el oro</a:t>
            </a:r>
            <a:endParaRPr lang="en-US" sz="780" dirty="0"/>
          </a:p>
        </p:txBody>
      </p:sp>
      <p:sp>
        <p:nvSpPr>
          <p:cNvPr id="53" name="Text 51"/>
          <p:cNvSpPr/>
          <p:nvPr/>
        </p:nvSpPr>
        <p:spPr>
          <a:xfrm>
            <a:off x="347472" y="5312664"/>
            <a:ext cx="52486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E1210"/>
                </a:solidFill>
              </a:rPr>
              <a:t>💵  DXY débil + FedWatch gira a recorte → el oro recupera todo su impulso</a:t>
            </a:r>
            <a:endParaRPr lang="en-US" sz="780" dirty="0"/>
          </a:p>
        </p:txBody>
      </p:sp>
      <p:sp>
        <p:nvSpPr>
          <p:cNvPr id="54" name="Text 52"/>
          <p:cNvSpPr/>
          <p:nvPr/>
        </p:nvSpPr>
        <p:spPr>
          <a:xfrm>
            <a:off x="347472" y="5559552"/>
            <a:ext cx="52486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E1210"/>
                </a:solidFill>
              </a:rPr>
              <a:t>📈  Acumula +37%+ anual · Activo más rentable de 2026</a:t>
            </a:r>
            <a:endParaRPr lang="en-US" sz="780" dirty="0"/>
          </a:p>
        </p:txBody>
      </p:sp>
      <p:sp>
        <p:nvSpPr>
          <p:cNvPr id="55" name="Text 53"/>
          <p:cNvSpPr/>
          <p:nvPr/>
        </p:nvSpPr>
        <p:spPr>
          <a:xfrm>
            <a:off x="347472" y="5806440"/>
            <a:ext cx="52486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E1210"/>
                </a:solidFill>
              </a:rPr>
              <a:t>🎯  Resistencia clave: $4,600 · Soporte: $4,440</a:t>
            </a:r>
            <a:endParaRPr lang="en-US" sz="780" dirty="0"/>
          </a:p>
        </p:txBody>
      </p:sp>
      <p:sp>
        <p:nvSpPr>
          <p:cNvPr id="56" name="Shape 54"/>
          <p:cNvSpPr/>
          <p:nvPr/>
        </p:nvSpPr>
        <p:spPr>
          <a:xfrm>
            <a:off x="5989320" y="3813048"/>
            <a:ext cx="5943600" cy="2286000"/>
          </a:xfrm>
          <a:prstGeom prst="rect">
            <a:avLst/>
          </a:prstGeom>
          <a:solidFill>
            <a:srgbClr val="FFFAF8"/>
          </a:solidFill>
          <a:ln w="12700">
            <a:solidFill>
              <a:srgbClr val="E0C8C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989320" y="3813048"/>
            <a:ext cx="5943600" cy="274320"/>
          </a:xfrm>
          <a:prstGeom prst="rect">
            <a:avLst/>
          </a:prstGeom>
          <a:solidFill>
            <a:srgbClr val="2A8878"/>
          </a:solidFill>
          <a:ln/>
        </p:spPr>
      </p:sp>
      <p:sp>
        <p:nvSpPr>
          <p:cNvPr id="58" name="Text 56"/>
          <p:cNvSpPr/>
          <p:nvPr/>
        </p:nvSpPr>
        <p:spPr>
          <a:xfrm>
            <a:off x="5989320" y="381304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OTROS ACTIVOS · APERTURA 21 AGO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6126480" y="4160520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1210"/>
                </a:solidFill>
              </a:rPr>
              <a:t>🛢  Brent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8229600" y="4160520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E1210"/>
                </a:solidFill>
              </a:rPr>
              <a:t>~$94.00/bbl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10149840" y="4160520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A9058"/>
                </a:solidFill>
              </a:rPr>
              <a:t>+1.1%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6126480" y="4453128"/>
            <a:ext cx="55778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06050"/>
                </a:solidFill>
              </a:rPr>
              <a:t>AMARA capturado → prima Ormuz</a:t>
            </a:r>
            <a:endParaRPr lang="en-US" sz="650" dirty="0"/>
          </a:p>
        </p:txBody>
      </p:sp>
      <p:sp>
        <p:nvSpPr>
          <p:cNvPr id="63" name="Shape 61"/>
          <p:cNvSpPr/>
          <p:nvPr/>
        </p:nvSpPr>
        <p:spPr>
          <a:xfrm>
            <a:off x="6126480" y="4562856"/>
            <a:ext cx="5577840" cy="18288"/>
          </a:xfrm>
          <a:prstGeom prst="rect">
            <a:avLst/>
          </a:prstGeom>
          <a:solidFill>
            <a:srgbClr val="E0C8C0"/>
          </a:solidFill>
          <a:ln/>
        </p:spPr>
      </p:sp>
      <p:sp>
        <p:nvSpPr>
          <p:cNvPr id="64" name="Text 62"/>
          <p:cNvSpPr/>
          <p:nvPr/>
        </p:nvSpPr>
        <p:spPr>
          <a:xfrm>
            <a:off x="6126480" y="4581144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1210"/>
                </a:solidFill>
              </a:rPr>
              <a:t>🛢  WTI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8229600" y="4581144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E1210"/>
                </a:solidFill>
              </a:rPr>
              <a:t>~$86.83/bbl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10149840" y="4581144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A9058"/>
                </a:solidFill>
              </a:rPr>
              <a:t>+1.2%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6126480" y="4873752"/>
            <a:ext cx="55778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06050"/>
                </a:solidFill>
              </a:rPr>
              <a:t>Acompaña al Brent</a:t>
            </a:r>
            <a:endParaRPr lang="en-US" sz="650" dirty="0"/>
          </a:p>
        </p:txBody>
      </p:sp>
      <p:sp>
        <p:nvSpPr>
          <p:cNvPr id="68" name="Shape 66"/>
          <p:cNvSpPr/>
          <p:nvPr/>
        </p:nvSpPr>
        <p:spPr>
          <a:xfrm>
            <a:off x="6126480" y="4983480"/>
            <a:ext cx="5577840" cy="18288"/>
          </a:xfrm>
          <a:prstGeom prst="rect">
            <a:avLst/>
          </a:prstGeom>
          <a:solidFill>
            <a:srgbClr val="E0C8C0"/>
          </a:solidFill>
          <a:ln/>
        </p:spPr>
      </p:sp>
      <p:sp>
        <p:nvSpPr>
          <p:cNvPr id="69" name="Text 67"/>
          <p:cNvSpPr/>
          <p:nvPr/>
        </p:nvSpPr>
        <p:spPr>
          <a:xfrm>
            <a:off x="6126480" y="5001768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1210"/>
                </a:solidFill>
              </a:rPr>
              <a:t>🥈  Plata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8229600" y="5001768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E1210"/>
                </a:solidFill>
              </a:rPr>
              <a:t>$67.97/oz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10149840" y="5001768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B87020"/>
                </a:solidFill>
              </a:rPr>
              <a:t>~0%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6126480" y="5294376"/>
            <a:ext cx="55778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06050"/>
                </a:solidFill>
              </a:rPr>
              <a:t>Consolida tras $68 ayer</a:t>
            </a:r>
            <a:endParaRPr lang="en-US" sz="650" dirty="0"/>
          </a:p>
        </p:txBody>
      </p:sp>
      <p:sp>
        <p:nvSpPr>
          <p:cNvPr id="73" name="Shape 71"/>
          <p:cNvSpPr/>
          <p:nvPr/>
        </p:nvSpPr>
        <p:spPr>
          <a:xfrm>
            <a:off x="6126480" y="5404104"/>
            <a:ext cx="5577840" cy="18288"/>
          </a:xfrm>
          <a:prstGeom prst="rect">
            <a:avLst/>
          </a:prstGeom>
          <a:solidFill>
            <a:srgbClr val="E0C8C0"/>
          </a:solidFill>
          <a:ln/>
        </p:spPr>
      </p:sp>
      <p:sp>
        <p:nvSpPr>
          <p:cNvPr id="74" name="Text 72"/>
          <p:cNvSpPr/>
          <p:nvPr/>
        </p:nvSpPr>
        <p:spPr>
          <a:xfrm>
            <a:off x="6126480" y="5422392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1210"/>
                </a:solidFill>
              </a:rPr>
              <a:t>🔵  Cobre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8229600" y="5422392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E1210"/>
                </a:solidFill>
              </a:rPr>
              <a:t>$6.58/lb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10149840" y="5422392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A9058"/>
                </a:solidFill>
              </a:rPr>
              <a:t>+1.51%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6126480" y="5715000"/>
            <a:ext cx="55778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06050"/>
                </a:solidFill>
              </a:rPr>
              <a:t>Demanda China revive</a:t>
            </a:r>
            <a:endParaRPr lang="en-US" sz="650" dirty="0"/>
          </a:p>
        </p:txBody>
      </p:sp>
      <p:sp>
        <p:nvSpPr>
          <p:cNvPr id="78" name="Shape 76"/>
          <p:cNvSpPr/>
          <p:nvPr/>
        </p:nvSpPr>
        <p:spPr>
          <a:xfrm>
            <a:off x="6126480" y="5824728"/>
            <a:ext cx="5577840" cy="18288"/>
          </a:xfrm>
          <a:prstGeom prst="rect">
            <a:avLst/>
          </a:prstGeom>
          <a:solidFill>
            <a:srgbClr val="E0C8C0"/>
          </a:solidFill>
          <a:ln/>
        </p:spPr>
      </p:sp>
      <p:sp>
        <p:nvSpPr>
          <p:cNvPr id="79" name="Text 77"/>
          <p:cNvSpPr/>
          <p:nvPr/>
        </p:nvSpPr>
        <p:spPr>
          <a:xfrm>
            <a:off x="6126480" y="5843016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1210"/>
                </a:solidFill>
              </a:rPr>
              <a:t>🔥  Gas Natural</a:t>
            </a:r>
            <a:endParaRPr lang="en-US" sz="850" dirty="0"/>
          </a:p>
        </p:txBody>
      </p:sp>
      <p:sp>
        <p:nvSpPr>
          <p:cNvPr id="80" name="Text 78"/>
          <p:cNvSpPr/>
          <p:nvPr/>
        </p:nvSpPr>
        <p:spPr>
          <a:xfrm>
            <a:off x="8229600" y="5843016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E1210"/>
                </a:solidFill>
              </a:rPr>
              <a:t>$2.79/MMBtu</a:t>
            </a:r>
            <a:endParaRPr lang="en-US" sz="850" dirty="0"/>
          </a:p>
        </p:txBody>
      </p:sp>
      <p:sp>
        <p:nvSpPr>
          <p:cNvPr id="81" name="Text 79"/>
          <p:cNvSpPr/>
          <p:nvPr/>
        </p:nvSpPr>
        <p:spPr>
          <a:xfrm>
            <a:off x="10149840" y="5843016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A9058"/>
                </a:solidFill>
              </a:rPr>
              <a:t>+1.9%</a:t>
            </a:r>
            <a:endParaRPr lang="en-US" sz="850" dirty="0"/>
          </a:p>
        </p:txBody>
      </p:sp>
      <p:sp>
        <p:nvSpPr>
          <p:cNvPr id="82" name="Text 80"/>
          <p:cNvSpPr/>
          <p:nvPr/>
        </p:nvSpPr>
        <p:spPr>
          <a:xfrm>
            <a:off x="6126480" y="6135624"/>
            <a:ext cx="55778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06050"/>
                </a:solidFill>
              </a:rPr>
              <a:t>Demanda estival + ruta Ormuz</a:t>
            </a:r>
            <a:endParaRPr lang="en-US" sz="650" dirty="0"/>
          </a:p>
        </p:txBody>
      </p:sp>
      <p:sp>
        <p:nvSpPr>
          <p:cNvPr id="83" name="Shape 81"/>
          <p:cNvSpPr/>
          <p:nvPr/>
        </p:nvSpPr>
        <p:spPr>
          <a:xfrm>
            <a:off x="0" y="6510528"/>
            <a:ext cx="12161520" cy="347472"/>
          </a:xfrm>
          <a:prstGeom prst="rect">
            <a:avLst/>
          </a:prstGeom>
          <a:solidFill>
            <a:srgbClr val="1E1210"/>
          </a:solidFill>
          <a:ln/>
        </p:spPr>
      </p:sp>
      <p:sp>
        <p:nvSpPr>
          <p:cNvPr id="84" name="Text 82"/>
          <p:cNvSpPr/>
          <p:nvPr/>
        </p:nvSpPr>
        <p:spPr>
          <a:xfrm>
            <a:off x="164592" y="6510528"/>
            <a:ext cx="1179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C09880"/>
                </a:solidFill>
              </a:rPr>
              <a:t>Fuentes: Yahoo Finance · CNBC · TheStreet · Rio Times · Fortune · Trading Economics  |  Análisis informativo — No constituye asesoría financiera.  3 / 5</a:t>
            </a:r>
            <a:endParaRPr lang="en-US" sz="6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FF8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347472"/>
          </a:xfrm>
          <a:prstGeom prst="rect">
            <a:avLst/>
          </a:prstGeom>
          <a:solidFill>
            <a:srgbClr val="1E1210"/>
          </a:solidFill>
          <a:ln/>
        </p:spPr>
      </p:sp>
      <p:sp>
        <p:nvSpPr>
          <p:cNvPr id="4" name="Text 2"/>
          <p:cNvSpPr/>
          <p:nvPr/>
        </p:nvSpPr>
        <p:spPr>
          <a:xfrm>
            <a:off x="164592" y="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09880"/>
                </a:solidFill>
              </a:rPr>
              <a:t>Divisas &amp; Ormuz CONFIRMADO — 21 agosto 2026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503920" y="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09880"/>
                </a:solidFill>
              </a:rPr>
              <a:t>Viernes 21 agosto 2026 · Morning Brief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28600" y="411480"/>
            <a:ext cx="1170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210"/>
                </a:solidFill>
              </a:rPr>
              <a:t>Divisas &amp; Ormuz Confirmado — 21 agosto 2026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28600" y="822960"/>
            <a:ext cx="3749040" cy="3246120"/>
          </a:xfrm>
          <a:prstGeom prst="rect">
            <a:avLst/>
          </a:prstGeom>
          <a:solidFill>
            <a:srgbClr val="FFFAF8"/>
          </a:solidFill>
          <a:ln w="12700">
            <a:solidFill>
              <a:srgbClr val="E0C8C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822960"/>
            <a:ext cx="3749040" cy="256032"/>
          </a:xfrm>
          <a:prstGeom prst="rect">
            <a:avLst/>
          </a:prstGeom>
          <a:solidFill>
            <a:srgbClr val="1E1210"/>
          </a:solidFill>
          <a:ln/>
        </p:spPr>
      </p:sp>
      <p:sp>
        <p:nvSpPr>
          <p:cNvPr id="9" name="Text 7"/>
          <p:cNvSpPr/>
          <p:nvPr/>
        </p:nvSpPr>
        <p:spPr>
          <a:xfrm>
            <a:off x="228600" y="82296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TIPO DE CAMBIO · APERTURA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47472" y="1115568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06050"/>
                </a:solidFill>
              </a:rPr>
              <a:t>USD / MXN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47472" y="1335024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9058"/>
                </a:solidFill>
              </a:rPr>
              <a:t>$16.91–16.93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47472" y="1792224"/>
            <a:ext cx="2011680" cy="201168"/>
          </a:xfrm>
          <a:prstGeom prst="rect">
            <a:avLst/>
          </a:prstGeom>
          <a:solidFill>
            <a:srgbClr val="E0F4EC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" y="1792224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A9058"/>
                </a:solidFill>
              </a:rPr>
              <a:t>▲ Mejor nivel 2026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2011680"/>
            <a:ext cx="3383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06050"/>
                </a:solidFill>
              </a:rPr>
              <a:t>Peso sigue fortaleciéndose vs $16.9444 ayer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47472" y="2084832"/>
            <a:ext cx="3383280" cy="18288"/>
          </a:xfrm>
          <a:prstGeom prst="rect">
            <a:avLst/>
          </a:prstGeom>
          <a:solidFill>
            <a:srgbClr val="E0C8C0"/>
          </a:solidFill>
          <a:ln/>
        </p:spPr>
      </p:sp>
      <p:sp>
        <p:nvSpPr>
          <p:cNvPr id="16" name="Text 14"/>
          <p:cNvSpPr/>
          <p:nvPr/>
        </p:nvSpPr>
        <p:spPr>
          <a:xfrm>
            <a:off x="347472" y="2121408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06050"/>
                </a:solidFill>
              </a:rPr>
              <a:t>EUR / USD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47472" y="2340864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A9058"/>
                </a:solidFill>
              </a:rPr>
              <a:t>1.1691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347472" y="2798064"/>
            <a:ext cx="2011680" cy="201168"/>
          </a:xfrm>
          <a:prstGeom prst="rect">
            <a:avLst/>
          </a:prstGeom>
          <a:solidFill>
            <a:srgbClr val="E0F4EC"/>
          </a:solidFill>
          <a:ln/>
        </p:spPr>
      </p:sp>
      <p:sp>
        <p:nvSpPr>
          <p:cNvPr id="19" name="Text 17"/>
          <p:cNvSpPr/>
          <p:nvPr/>
        </p:nvSpPr>
        <p:spPr>
          <a:xfrm>
            <a:off x="347472" y="2798064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A9058"/>
                </a:solidFill>
              </a:rPr>
              <a:t>▲ +0.05% vs ayer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47472" y="3017520"/>
            <a:ext cx="3383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06050"/>
                </a:solidFill>
              </a:rPr>
              <a:t>DXY bajo · EUR gana terreno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347472" y="3090672"/>
            <a:ext cx="3383280" cy="18288"/>
          </a:xfrm>
          <a:prstGeom prst="rect">
            <a:avLst/>
          </a:prstGeom>
          <a:solidFill>
            <a:srgbClr val="E0C8C0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3127248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06050"/>
                </a:solidFill>
              </a:rPr>
              <a:t>EUR / MXN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47472" y="3346704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1210"/>
                </a:solidFill>
              </a:rPr>
              <a:t>~$19.80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347472" y="3803904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06050"/>
                </a:solidFill>
              </a:rPr>
              <a:t>≈ sin cambio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347472" y="4023360"/>
            <a:ext cx="3383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06050"/>
                </a:solidFill>
              </a:rPr>
              <a:t>Calculado: 1.1691 × 16.92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347472" y="4041648"/>
            <a:ext cx="3383280" cy="18288"/>
          </a:xfrm>
          <a:prstGeom prst="rect">
            <a:avLst/>
          </a:prstGeom>
          <a:solidFill>
            <a:srgbClr val="E0C8C0"/>
          </a:solidFill>
          <a:ln/>
        </p:spPr>
      </p:sp>
      <p:sp>
        <p:nvSpPr>
          <p:cNvPr id="27" name="Text 25"/>
          <p:cNvSpPr/>
          <p:nvPr/>
        </p:nvSpPr>
        <p:spPr>
          <a:xfrm>
            <a:off x="347472" y="4078224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" i="1" dirty="0">
                <a:solidFill>
                  <a:srgbClr val="806050"/>
                </a:solidFill>
              </a:rPr>
              <a:t>Superpeso: 3 semanas consecutivas por debajo de $17.00. FedWatch gira a recorte → DXY cae → MXN gana.</a:t>
            </a:r>
            <a:endParaRPr lang="en-US" sz="720" dirty="0"/>
          </a:p>
        </p:txBody>
      </p:sp>
      <p:sp>
        <p:nvSpPr>
          <p:cNvPr id="28" name="Shape 26"/>
          <p:cNvSpPr/>
          <p:nvPr/>
        </p:nvSpPr>
        <p:spPr>
          <a:xfrm>
            <a:off x="4160520" y="822960"/>
            <a:ext cx="7772400" cy="3246120"/>
          </a:xfrm>
          <a:prstGeom prst="rect">
            <a:avLst/>
          </a:prstGeom>
          <a:solidFill>
            <a:srgbClr val="FFFAF8"/>
          </a:solidFill>
          <a:ln w="12700">
            <a:solidFill>
              <a:srgbClr val="E0C8C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160520" y="822960"/>
            <a:ext cx="7772400" cy="274320"/>
          </a:xfrm>
          <a:prstGeom prst="rect">
            <a:avLst/>
          </a:prstGeom>
          <a:solidFill>
            <a:srgbClr val="C04840"/>
          </a:solidFill>
          <a:ln/>
        </p:spPr>
      </p:sp>
      <p:sp>
        <p:nvSpPr>
          <p:cNvPr id="30" name="Text 28"/>
          <p:cNvSpPr/>
          <p:nvPr/>
        </p:nvSpPr>
        <p:spPr>
          <a:xfrm>
            <a:off x="4160520" y="8229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⚓  ORMUZ — CAPTURA DEL AMARA CONFIRMADA OFICIALMENTE · NUEVA ESCALADA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297680" y="1170432"/>
            <a:ext cx="7406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06050"/>
                </a:solidFill>
              </a:rPr>
              <a:t>BUQUE "AMARA" — DETALLES DE LA CAPTURA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297680" y="1408176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06050"/>
                </a:solidFill>
              </a:rPr>
              <a:t>Fecha de captura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6492240" y="1408176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1210"/>
                </a:solidFill>
              </a:rPr>
              <a:t>17 agosto 2026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297680" y="1664208"/>
            <a:ext cx="7406640" cy="18288"/>
          </a:xfrm>
          <a:prstGeom prst="rect">
            <a:avLst/>
          </a:prstGeom>
          <a:solidFill>
            <a:srgbClr val="E0C8C0"/>
          </a:solidFill>
          <a:ln/>
        </p:spPr>
      </p:sp>
      <p:sp>
        <p:nvSpPr>
          <p:cNvPr id="35" name="Text 33"/>
          <p:cNvSpPr/>
          <p:nvPr/>
        </p:nvSpPr>
        <p:spPr>
          <a:xfrm>
            <a:off x="4297680" y="1700784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06050"/>
                </a:solidFill>
              </a:rPr>
              <a:t>Bandera / Armador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6492240" y="1700784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1210"/>
                </a:solidFill>
              </a:rPr>
              <a:t>Liberia / EAU (ligado a ADNOC)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297680" y="1956816"/>
            <a:ext cx="7406640" cy="18288"/>
          </a:xfrm>
          <a:prstGeom prst="rect">
            <a:avLst/>
          </a:prstGeom>
          <a:solidFill>
            <a:srgbClr val="E0C8C0"/>
          </a:solidFill>
          <a:ln/>
        </p:spPr>
      </p:sp>
      <p:sp>
        <p:nvSpPr>
          <p:cNvPr id="38" name="Text 36"/>
          <p:cNvSpPr/>
          <p:nvPr/>
        </p:nvSpPr>
        <p:spPr>
          <a:xfrm>
            <a:off x="4297680" y="199339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06050"/>
                </a:solidFill>
              </a:rPr>
              <a:t>Ubicación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6492240" y="199339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1210"/>
                </a:solidFill>
              </a:rPr>
              <a:t>Cerca de Isla Qeshm, Estrecho de Ormuz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297680" y="2249424"/>
            <a:ext cx="7406640" cy="18288"/>
          </a:xfrm>
          <a:prstGeom prst="rect">
            <a:avLst/>
          </a:prstGeom>
          <a:solidFill>
            <a:srgbClr val="E0C8C0"/>
          </a:solidFill>
          <a:ln/>
        </p:spPr>
      </p:sp>
      <p:sp>
        <p:nvSpPr>
          <p:cNvPr id="41" name="Text 39"/>
          <p:cNvSpPr/>
          <p:nvPr/>
        </p:nvSpPr>
        <p:spPr>
          <a:xfrm>
            <a:off x="4297680" y="228600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06050"/>
                </a:solidFill>
              </a:rPr>
              <a:t>Actor capturante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6492240" y="2286000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1210"/>
                </a:solidFill>
              </a:rPr>
              <a:t>IRGC (Guardias Revolucionarios de Irán)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297680" y="2542032"/>
            <a:ext cx="7406640" cy="18288"/>
          </a:xfrm>
          <a:prstGeom prst="rect">
            <a:avLst/>
          </a:prstGeom>
          <a:solidFill>
            <a:srgbClr val="E0C8C0"/>
          </a:solidFill>
          <a:ln/>
        </p:spPr>
      </p:sp>
      <p:sp>
        <p:nvSpPr>
          <p:cNvPr id="44" name="Text 42"/>
          <p:cNvSpPr/>
          <p:nvPr/>
        </p:nvSpPr>
        <p:spPr>
          <a:xfrm>
            <a:off x="4297680" y="257860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06050"/>
                </a:solidFill>
              </a:rPr>
              <a:t>1ª captura desde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6492240" y="2578608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1210"/>
                </a:solidFill>
              </a:rPr>
              <a:t>22 junio 2026 · Patrón de escalamiento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297680" y="2907792"/>
            <a:ext cx="7406640" cy="18288"/>
          </a:xfrm>
          <a:prstGeom prst="rect">
            <a:avLst/>
          </a:prstGeom>
          <a:solidFill>
            <a:srgbClr val="E0C8C0"/>
          </a:solidFill>
          <a:ln/>
        </p:spPr>
      </p:sp>
      <p:sp>
        <p:nvSpPr>
          <p:cNvPr id="47" name="Text 45"/>
          <p:cNvSpPr/>
          <p:nvPr/>
        </p:nvSpPr>
        <p:spPr>
          <a:xfrm>
            <a:off x="4297680" y="2944368"/>
            <a:ext cx="7406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06050"/>
                </a:solidFill>
              </a:rPr>
              <a:t>JUSTIFICACIÓN IRANÍ Y RESPUESTA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4297680" y="3163824"/>
            <a:ext cx="7406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E1210"/>
                </a:solidFill>
              </a:rPr>
              <a:t>🇮🇷  Irán citó: rechazo de la ruta norte iraní por el AMARA + impago de tarifas de tránsito</a:t>
            </a:r>
            <a:endParaRPr lang="en-US" sz="780" dirty="0"/>
          </a:p>
        </p:txBody>
      </p:sp>
      <p:sp>
        <p:nvSpPr>
          <p:cNvPr id="49" name="Text 47"/>
          <p:cNvSpPr/>
          <p:nvPr/>
        </p:nvSpPr>
        <p:spPr>
          <a:xfrm>
            <a:off x="4297680" y="3456432"/>
            <a:ext cx="7406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E1210"/>
                </a:solidFill>
              </a:rPr>
              <a:t>🇦🇪  EAU denunció ataques previos a buques ADNOC en la misma zona días antes</a:t>
            </a:r>
            <a:endParaRPr lang="en-US" sz="780" dirty="0"/>
          </a:p>
        </p:txBody>
      </p:sp>
      <p:sp>
        <p:nvSpPr>
          <p:cNvPr id="50" name="Text 48"/>
          <p:cNvSpPr/>
          <p:nvPr/>
        </p:nvSpPr>
        <p:spPr>
          <a:xfrm>
            <a:off x="4297680" y="3749040"/>
            <a:ext cx="7406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E1210"/>
                </a:solidFill>
              </a:rPr>
              <a:t>🛢  Prima Brent: ~$10-12/bbl estimada por analistas sobre precio "sin conflicto"</a:t>
            </a:r>
            <a:endParaRPr lang="en-US" sz="780" dirty="0"/>
          </a:p>
        </p:txBody>
      </p:sp>
      <p:sp>
        <p:nvSpPr>
          <p:cNvPr id="51" name="Text 49"/>
          <p:cNvSpPr/>
          <p:nvPr/>
        </p:nvSpPr>
        <p:spPr>
          <a:xfrm>
            <a:off x="4297680" y="4041648"/>
            <a:ext cx="7406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E1210"/>
                </a:solidFill>
              </a:rPr>
              <a:t>🚨  Escenario de riesgo: captura + misiles = Brent podría cruzar $95-$100 esta semana</a:t>
            </a:r>
            <a:endParaRPr lang="en-US" sz="780" dirty="0"/>
          </a:p>
        </p:txBody>
      </p:sp>
      <p:sp>
        <p:nvSpPr>
          <p:cNvPr id="52" name="Shape 50"/>
          <p:cNvSpPr/>
          <p:nvPr/>
        </p:nvSpPr>
        <p:spPr>
          <a:xfrm>
            <a:off x="228600" y="4160520"/>
            <a:ext cx="11704320" cy="27432"/>
          </a:xfrm>
          <a:prstGeom prst="rect">
            <a:avLst/>
          </a:prstGeom>
          <a:solidFill>
            <a:srgbClr val="C04840"/>
          </a:solidFill>
          <a:ln/>
        </p:spPr>
      </p:sp>
      <p:sp>
        <p:nvSpPr>
          <p:cNvPr id="53" name="Shape 51"/>
          <p:cNvSpPr/>
          <p:nvPr/>
        </p:nvSpPr>
        <p:spPr>
          <a:xfrm>
            <a:off x="228600" y="4187952"/>
            <a:ext cx="11704320" cy="1938528"/>
          </a:xfrm>
          <a:prstGeom prst="rect">
            <a:avLst/>
          </a:prstGeom>
          <a:solidFill>
            <a:srgbClr val="FFF4F2"/>
          </a:solidFill>
          <a:ln w="12700">
            <a:solidFill>
              <a:srgbClr val="E0C8C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47472" y="4242816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4840"/>
                </a:solidFill>
              </a:rPr>
              <a:t>🇲🇽  IMPACTO ORMUZ EN MÉXICO — BRENT $94 Y SUBIENDO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347472" y="4535424"/>
            <a:ext cx="11430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E1210"/>
                </a:solidFill>
              </a:rPr>
              <a:t>🛢  PEMEX: exporta ~800,000 bbl/día de crudo Maya (precio referenciado a WTI/Brent) — cada $1 de alza en Brent = ~$800K USD/día más de ingresos para Pemex y el fisco mexicano</a:t>
            </a:r>
            <a:endParaRPr lang="en-US" sz="780" dirty="0"/>
          </a:p>
        </p:txBody>
      </p:sp>
      <p:sp>
        <p:nvSpPr>
          <p:cNvPr id="56" name="Text 54"/>
          <p:cNvSpPr/>
          <p:nvPr/>
        </p:nvSpPr>
        <p:spPr>
          <a:xfrm>
            <a:off x="347472" y="4873752"/>
            <a:ext cx="11430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E1210"/>
                </a:solidFill>
              </a:rPr>
              <a:t>⛽  GASOLINAS: México importa ~60% de sus gasolinas y diésel — si Brent supera $95, el costo de importación sube y presiona precios internos → riesgo inflación secundaria</a:t>
            </a:r>
            <a:endParaRPr lang="en-US" sz="780" dirty="0"/>
          </a:p>
        </p:txBody>
      </p:sp>
      <p:sp>
        <p:nvSpPr>
          <p:cNvPr id="57" name="Text 55"/>
          <p:cNvSpPr/>
          <p:nvPr/>
        </p:nvSpPr>
        <p:spPr>
          <a:xfrm>
            <a:off x="347472" y="5212080"/>
            <a:ext cx="11430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E1210"/>
                </a:solidFill>
              </a:rPr>
              <a:t>🏦  BANXICO: el diferencial de inflación MX-EE.UU. se ampliaría si gasolinas suben → Banxico podría pausar recortes más tiempo. Decisión clave: 25 sep. Tasa actual: 6.75%</a:t>
            </a:r>
            <a:endParaRPr lang="en-US" sz="780" dirty="0"/>
          </a:p>
        </p:txBody>
      </p:sp>
      <p:sp>
        <p:nvSpPr>
          <p:cNvPr id="58" name="Text 56"/>
          <p:cNvSpPr/>
          <p:nvPr/>
        </p:nvSpPr>
        <p:spPr>
          <a:xfrm>
            <a:off x="347472" y="5550408"/>
            <a:ext cx="11430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E1210"/>
                </a:solidFill>
              </a:rPr>
              <a:t>📦  T-MEC: manufactura EE.UU. fuerte (Philly Fed 47.4) → demanda de bienes mexicanos en alza → exportaciones beneficiadas</a:t>
            </a:r>
            <a:endParaRPr lang="en-US" sz="780" dirty="0"/>
          </a:p>
        </p:txBody>
      </p:sp>
      <p:sp>
        <p:nvSpPr>
          <p:cNvPr id="59" name="Shape 57"/>
          <p:cNvSpPr/>
          <p:nvPr/>
        </p:nvSpPr>
        <p:spPr>
          <a:xfrm>
            <a:off x="0" y="6510528"/>
            <a:ext cx="12161520" cy="347472"/>
          </a:xfrm>
          <a:prstGeom prst="rect">
            <a:avLst/>
          </a:prstGeom>
          <a:solidFill>
            <a:srgbClr val="1E1210"/>
          </a:solidFill>
          <a:ln/>
        </p:spPr>
      </p:sp>
      <p:sp>
        <p:nvSpPr>
          <p:cNvPr id="60" name="Text 58"/>
          <p:cNvSpPr/>
          <p:nvPr/>
        </p:nvSpPr>
        <p:spPr>
          <a:xfrm>
            <a:off x="164592" y="6510528"/>
            <a:ext cx="1179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C09880"/>
                </a:solidFill>
              </a:rPr>
              <a:t>Fuentes: Maritime Executive · Al Jazeera · CNN · Heraldo de México · Fortune · Bloomberg  |  Análisis informativo — No constituye asesoría financiera.  4 / 5</a:t>
            </a:r>
            <a:endParaRPr lang="en-US" sz="6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FF8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347472"/>
          </a:xfrm>
          <a:prstGeom prst="rect">
            <a:avLst/>
          </a:prstGeom>
          <a:solidFill>
            <a:srgbClr val="1E1210"/>
          </a:solidFill>
          <a:ln/>
        </p:spPr>
      </p:sp>
      <p:sp>
        <p:nvSpPr>
          <p:cNvPr id="4" name="Text 2"/>
          <p:cNvSpPr/>
          <p:nvPr/>
        </p:nvSpPr>
        <p:spPr>
          <a:xfrm>
            <a:off x="164592" y="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09880"/>
                </a:solidFill>
              </a:rPr>
              <a:t>México — Noticias &amp; Cierre de Semana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503920" y="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09880"/>
                </a:solidFill>
              </a:rPr>
              <a:t>Viernes 21 agosto 2026 · Morning Brief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28600" y="411480"/>
            <a:ext cx="1170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210"/>
                </a:solidFill>
              </a:rPr>
              <a:t>México — Noticias &amp; Cierre de Semana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28600" y="822960"/>
            <a:ext cx="6583680" cy="1755648"/>
          </a:xfrm>
          <a:prstGeom prst="rect">
            <a:avLst/>
          </a:prstGeom>
          <a:solidFill>
            <a:srgbClr val="FFFAF8"/>
          </a:solidFill>
          <a:ln w="12700">
            <a:solidFill>
              <a:srgbClr val="E0C8C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822960"/>
            <a:ext cx="6583680" cy="237744"/>
          </a:xfrm>
          <a:prstGeom prst="rect">
            <a:avLst/>
          </a:prstGeom>
          <a:solidFill>
            <a:srgbClr val="A88010"/>
          </a:solidFill>
          <a:ln/>
        </p:spPr>
      </p:sp>
      <p:sp>
        <p:nvSpPr>
          <p:cNvPr id="9" name="Text 7"/>
          <p:cNvSpPr/>
          <p:nvPr/>
        </p:nvSpPr>
        <p:spPr>
          <a:xfrm>
            <a:off x="228600" y="822960"/>
            <a:ext cx="6583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ORO &amp; MINERAS · SEMANA HISTÓRICA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47472" y="1097280"/>
            <a:ext cx="6355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1210"/>
                </a:solidFill>
              </a:rPr>
              <a:t>Oro $4,585 — Las Mineras de BMV Fueron las Ganadoras de la Semana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47472" y="1408176"/>
            <a:ext cx="6355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E1210"/>
                </a:solidFill>
              </a:rPr>
              <a:t>El oro cerró la semana con un nuevo récord histórico en $4,577-$4,595/oz (+37%+ anual). Las mineras del IPC fueron las grandes beneficiadas: Peñoles (plata) y Grupo México (cobre/plata) lideraron las alzas mientras Wall Street caía. La plata acumula +70%+ anual. La combinación de crisis Ormuz + giro dovish en la Fed hace que los metales preciosos sean la operación más rentable de 2026 hasta el momento.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228600" y="2651760"/>
            <a:ext cx="6583680" cy="1755648"/>
          </a:xfrm>
          <a:prstGeom prst="rect">
            <a:avLst/>
          </a:prstGeom>
          <a:solidFill>
            <a:srgbClr val="FFFAF8"/>
          </a:solidFill>
          <a:ln w="12700">
            <a:solidFill>
              <a:srgbClr val="E0C8C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2651760"/>
            <a:ext cx="6583680" cy="237744"/>
          </a:xfrm>
          <a:prstGeom prst="rect">
            <a:avLst/>
          </a:prstGeom>
          <a:solidFill>
            <a:srgbClr val="2A9058"/>
          </a:solidFill>
          <a:ln/>
        </p:spPr>
      </p:sp>
      <p:sp>
        <p:nvSpPr>
          <p:cNvPr id="14" name="Text 12"/>
          <p:cNvSpPr/>
          <p:nvPr/>
        </p:nvSpPr>
        <p:spPr>
          <a:xfrm>
            <a:off x="228600" y="2651760"/>
            <a:ext cx="6583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SUPERPESO · SEMANA BRILLANTE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47472" y="2926080"/>
            <a:ext cx="6355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1210"/>
                </a:solidFill>
              </a:rPr>
              <a:t>Peso Consolida por Debajo de $17 — Tercer Semana en Máximos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47472" y="3236976"/>
            <a:ext cx="6355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E1210"/>
                </a:solidFill>
              </a:rPr>
              <a:t>El peso mexicano cierra la semana en $16.91-16.93, su tercer semana consecutiva por debajo de $17 en 2026. El giro de FedWatch (de alza 31.6% → recorte 28.1%) debilita al DXY y fortalece divisas emergentes. El carry trade MXN sigue siendo la operación más popular entre fondos institucionales (83,700 contratos netos largos en CME). Banxico tasa 6.75% — diferencial de ~300pb vs Fed.</a:t>
            </a:r>
            <a:endParaRPr lang="en-US" sz="780" dirty="0"/>
          </a:p>
        </p:txBody>
      </p:sp>
      <p:sp>
        <p:nvSpPr>
          <p:cNvPr id="17" name="Shape 15"/>
          <p:cNvSpPr/>
          <p:nvPr/>
        </p:nvSpPr>
        <p:spPr>
          <a:xfrm>
            <a:off x="228600" y="4480560"/>
            <a:ext cx="6583680" cy="1755648"/>
          </a:xfrm>
          <a:prstGeom prst="rect">
            <a:avLst/>
          </a:prstGeom>
          <a:solidFill>
            <a:srgbClr val="FFFAF8"/>
          </a:solidFill>
          <a:ln w="12700">
            <a:solidFill>
              <a:srgbClr val="E0C8C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" y="4480560"/>
            <a:ext cx="6583680" cy="237744"/>
          </a:xfrm>
          <a:prstGeom prst="rect">
            <a:avLst/>
          </a:prstGeom>
          <a:solidFill>
            <a:srgbClr val="C07040"/>
          </a:solidFill>
          <a:ln/>
        </p:spPr>
      </p:sp>
      <p:sp>
        <p:nvSpPr>
          <p:cNvPr id="19" name="Text 17"/>
          <p:cNvSpPr/>
          <p:nvPr/>
        </p:nvSpPr>
        <p:spPr>
          <a:xfrm>
            <a:off x="228600" y="4480560"/>
            <a:ext cx="6583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MANUFACTURA · T-MEC · NEARSHORING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347472" y="4754880"/>
            <a:ext cx="6355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1210"/>
                </a:solidFill>
              </a:rPr>
              <a:t>Philly Fed 47.4 — Manufactura EE.UU. en Máximos de 5 Años · Buenas Noticias para México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47472" y="5065776"/>
            <a:ext cx="6355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E1210"/>
                </a:solidFill>
              </a:rPr>
              <a:t>El índice de manufactura de Filadelfia saltó a 47.4 (vs 24.1 esperado) — el mayor desde 2021. Esto es directamente positivo para México: más actividad manufacturera en EE.UU. = más demanda de bienes producidos en México vía T-MEC. El nearshoring sigue siendo la gran historia estructural: cumplimiento de reglas de origen T-MEC en 89% y exportaciones +24.6% en 1S 2026.</a:t>
            </a:r>
            <a:endParaRPr lang="en-US" sz="780" dirty="0"/>
          </a:p>
        </p:txBody>
      </p:sp>
      <p:sp>
        <p:nvSpPr>
          <p:cNvPr id="22" name="Shape 20"/>
          <p:cNvSpPr/>
          <p:nvPr/>
        </p:nvSpPr>
        <p:spPr>
          <a:xfrm>
            <a:off x="6995160" y="822960"/>
            <a:ext cx="4937760" cy="5413248"/>
          </a:xfrm>
          <a:prstGeom prst="rect">
            <a:avLst/>
          </a:prstGeom>
          <a:solidFill>
            <a:srgbClr val="FFFAF8"/>
          </a:solidFill>
          <a:ln w="12700">
            <a:solidFill>
              <a:srgbClr val="E0C8C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95160" y="822960"/>
            <a:ext cx="4937760" cy="256032"/>
          </a:xfrm>
          <a:prstGeom prst="rect">
            <a:avLst/>
          </a:prstGeom>
          <a:solidFill>
            <a:srgbClr val="1E1210"/>
          </a:solidFill>
          <a:ln/>
        </p:spPr>
      </p:sp>
      <p:sp>
        <p:nvSpPr>
          <p:cNvPr id="24" name="Text 22"/>
          <p:cNvSpPr/>
          <p:nvPr/>
        </p:nvSpPr>
        <p:spPr>
          <a:xfrm>
            <a:off x="6995160" y="822960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AGENDA · SEMANA QUE VIENE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7114032" y="1152144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06050"/>
                </a:solidFill>
              </a:rPr>
              <a:t>Hoy · Vie 21 ago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9418320" y="1152144"/>
            <a:ext cx="2377440" cy="201168"/>
          </a:xfrm>
          <a:prstGeom prst="rect">
            <a:avLst/>
          </a:prstGeom>
          <a:solidFill>
            <a:srgbClr val="FAE8E6"/>
          </a:solidFill>
          <a:ln/>
        </p:spPr>
      </p:sp>
      <p:sp>
        <p:nvSpPr>
          <p:cNvPr id="27" name="Text 25"/>
          <p:cNvSpPr/>
          <p:nvPr/>
        </p:nvSpPr>
        <p:spPr>
          <a:xfrm>
            <a:off x="9418320" y="1152144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04840"/>
                </a:solidFill>
              </a:rPr>
              <a:t>HOY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7114032" y="1371600"/>
            <a:ext cx="46634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1210"/>
                </a:solidFill>
              </a:rPr>
              <a:t>• Cierre de semana en mercados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7114032" y="1618488"/>
            <a:ext cx="46634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1210"/>
                </a:solidFill>
              </a:rPr>
              <a:t>• Oro $4,585 nuevo récord · Brent $94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7114032" y="1865376"/>
            <a:ext cx="46634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1210"/>
                </a:solidFill>
              </a:rPr>
              <a:t>• Peso $16.92 · IPC ~64,200 est. cierre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7114032" y="2258568"/>
            <a:ext cx="4663440" cy="18288"/>
          </a:xfrm>
          <a:prstGeom prst="rect">
            <a:avLst/>
          </a:prstGeom>
          <a:solidFill>
            <a:srgbClr val="E0C8C0"/>
          </a:solidFill>
          <a:ln/>
        </p:spPr>
      </p:sp>
      <p:sp>
        <p:nvSpPr>
          <p:cNvPr id="32" name="Text 30"/>
          <p:cNvSpPr/>
          <p:nvPr/>
        </p:nvSpPr>
        <p:spPr>
          <a:xfrm>
            <a:off x="7114032" y="2331720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06050"/>
                </a:solidFill>
              </a:rPr>
              <a:t>Semana 25-29 ago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9418320" y="2331720"/>
            <a:ext cx="2377440" cy="201168"/>
          </a:xfrm>
          <a:prstGeom prst="rect">
            <a:avLst/>
          </a:prstGeom>
          <a:solidFill>
            <a:srgbClr val="FDF0D4"/>
          </a:solidFill>
          <a:ln/>
        </p:spPr>
      </p:sp>
      <p:sp>
        <p:nvSpPr>
          <p:cNvPr id="34" name="Text 32"/>
          <p:cNvSpPr/>
          <p:nvPr/>
        </p:nvSpPr>
        <p:spPr>
          <a:xfrm>
            <a:off x="9418320" y="233172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07040"/>
                </a:solidFill>
              </a:rPr>
              <a:t>PRÓXIMA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7114032" y="2551176"/>
            <a:ext cx="46634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1210"/>
                </a:solidFill>
              </a:rPr>
              <a:t>• Sin grandes datos macro en EE.UU.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7114032" y="2798064"/>
            <a:ext cx="46634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1210"/>
                </a:solidFill>
              </a:rPr>
              <a:t>• Atención: Ormuz y evolución crudo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7114032" y="3191256"/>
            <a:ext cx="4663440" cy="18288"/>
          </a:xfrm>
          <a:prstGeom prst="rect">
            <a:avLst/>
          </a:prstGeom>
          <a:solidFill>
            <a:srgbClr val="E0C8C0"/>
          </a:solidFill>
          <a:ln/>
        </p:spPr>
      </p:sp>
      <p:sp>
        <p:nvSpPr>
          <p:cNvPr id="38" name="Text 36"/>
          <p:cNvSpPr/>
          <p:nvPr/>
        </p:nvSpPr>
        <p:spPr>
          <a:xfrm>
            <a:off x="7114032" y="3264408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06050"/>
                </a:solidFill>
              </a:rPr>
              <a:t>Sep 5 ago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9418320" y="3264408"/>
            <a:ext cx="2377440" cy="201168"/>
          </a:xfrm>
          <a:prstGeom prst="rect">
            <a:avLst/>
          </a:prstGeom>
          <a:solidFill>
            <a:srgbClr val="FDF0D4"/>
          </a:solidFill>
          <a:ln/>
        </p:spPr>
      </p:sp>
      <p:sp>
        <p:nvSpPr>
          <p:cNvPr id="40" name="Text 38"/>
          <p:cNvSpPr/>
          <p:nvPr/>
        </p:nvSpPr>
        <p:spPr>
          <a:xfrm>
            <a:off x="9418320" y="326440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B87020"/>
                </a:solidFill>
              </a:rPr>
              <a:t>RELEVANTE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7114032" y="3483864"/>
            <a:ext cx="46634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1210"/>
                </a:solidFill>
              </a:rPr>
              <a:t>• Nóminas no agrícolas EE.UU. (NFP)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7114032" y="3730752"/>
            <a:ext cx="46634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1210"/>
                </a:solidFill>
              </a:rPr>
              <a:t>• Tasa de desempleo · Salarios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7114032" y="4123944"/>
            <a:ext cx="4663440" cy="18288"/>
          </a:xfrm>
          <a:prstGeom prst="rect">
            <a:avLst/>
          </a:prstGeom>
          <a:solidFill>
            <a:srgbClr val="E0C8C0"/>
          </a:solidFill>
          <a:ln/>
        </p:spPr>
      </p:sp>
      <p:sp>
        <p:nvSpPr>
          <p:cNvPr id="44" name="Text 42"/>
          <p:cNvSpPr/>
          <p:nvPr/>
        </p:nvSpPr>
        <p:spPr>
          <a:xfrm>
            <a:off x="7114032" y="4197096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06050"/>
                </a:solidFill>
              </a:rPr>
              <a:t>Sep 16, 2026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9418320" y="4197096"/>
            <a:ext cx="2377440" cy="201168"/>
          </a:xfrm>
          <a:prstGeom prst="rect">
            <a:avLst/>
          </a:prstGeom>
          <a:solidFill>
            <a:srgbClr val="FAE8E6"/>
          </a:solidFill>
          <a:ln/>
        </p:spPr>
      </p:sp>
      <p:sp>
        <p:nvSpPr>
          <p:cNvPr id="46" name="Text 44"/>
          <p:cNvSpPr/>
          <p:nvPr/>
        </p:nvSpPr>
        <p:spPr>
          <a:xfrm>
            <a:off x="9418320" y="4197096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04840"/>
                </a:solidFill>
              </a:rPr>
              <a:t>DECISIVO 🔴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7114032" y="4416552"/>
            <a:ext cx="46634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1210"/>
                </a:solidFill>
              </a:rPr>
              <a:t>• Decisión Fed: hold 68.4% · recorte 28.1%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7114032" y="4663440"/>
            <a:ext cx="46634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1210"/>
                </a:solidFill>
              </a:rPr>
              <a:t>• USD/MXN: evento más importante Q3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7114032" y="5056632"/>
            <a:ext cx="4663440" cy="18288"/>
          </a:xfrm>
          <a:prstGeom prst="rect">
            <a:avLst/>
          </a:prstGeom>
          <a:solidFill>
            <a:srgbClr val="E0C8C0"/>
          </a:solidFill>
          <a:ln/>
        </p:spPr>
      </p:sp>
      <p:sp>
        <p:nvSpPr>
          <p:cNvPr id="50" name="Text 48"/>
          <p:cNvSpPr/>
          <p:nvPr/>
        </p:nvSpPr>
        <p:spPr>
          <a:xfrm>
            <a:off x="7114032" y="5129784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06050"/>
                </a:solidFill>
              </a:rPr>
              <a:t>Sep 25, 2026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9418320" y="5129784"/>
            <a:ext cx="2377440" cy="201168"/>
          </a:xfrm>
          <a:prstGeom prst="rect">
            <a:avLst/>
          </a:prstGeom>
          <a:solidFill>
            <a:srgbClr val="E4F4F0"/>
          </a:solidFill>
          <a:ln/>
        </p:spPr>
      </p:sp>
      <p:sp>
        <p:nvSpPr>
          <p:cNvPr id="52" name="Text 50"/>
          <p:cNvSpPr/>
          <p:nvPr/>
        </p:nvSpPr>
        <p:spPr>
          <a:xfrm>
            <a:off x="9418320" y="5129784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A8878"/>
                </a:solidFill>
              </a:rPr>
              <a:t>CLAVE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7114032" y="5349240"/>
            <a:ext cx="46634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1210"/>
                </a:solidFill>
              </a:rPr>
              <a:t>• Decisión tasa Banxico (6.75% actual)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7114032" y="5596128"/>
            <a:ext cx="46634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1210"/>
                </a:solidFill>
              </a:rPr>
              <a:t>• Inflación agosto MX = input clave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7114032" y="5989320"/>
            <a:ext cx="4663440" cy="18288"/>
          </a:xfrm>
          <a:prstGeom prst="rect">
            <a:avLst/>
          </a:prstGeom>
          <a:solidFill>
            <a:srgbClr val="E0C8C0"/>
          </a:solidFill>
          <a:ln/>
        </p:spPr>
      </p:sp>
      <p:sp>
        <p:nvSpPr>
          <p:cNvPr id="56" name="Shape 54"/>
          <p:cNvSpPr/>
          <p:nvPr/>
        </p:nvSpPr>
        <p:spPr>
          <a:xfrm>
            <a:off x="228600" y="6327648"/>
            <a:ext cx="6583680" cy="347472"/>
          </a:xfrm>
          <a:prstGeom prst="rect">
            <a:avLst/>
          </a:prstGeom>
          <a:solidFill>
            <a:srgbClr val="FAF2D0"/>
          </a:solidFill>
          <a:ln w="12700">
            <a:solidFill>
              <a:srgbClr val="E0C8C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47472" y="6345936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B87020"/>
                </a:solidFill>
              </a:rPr>
              <a:t>🎯  Cierre de semana: Oro $4,585 récord + Philly Fed 47.4 + FedWatch gira a recorte (28.1%) = la narrativa de "recorte en sep" regresa. El peso y las mineras de BMV son los grandes ganadores de la semana.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0" y="6510528"/>
            <a:ext cx="12161520" cy="347472"/>
          </a:xfrm>
          <a:prstGeom prst="rect">
            <a:avLst/>
          </a:prstGeom>
          <a:solidFill>
            <a:srgbClr val="1E1210"/>
          </a:solidFill>
          <a:ln/>
        </p:spPr>
      </p:sp>
      <p:sp>
        <p:nvSpPr>
          <p:cNvPr id="59" name="Text 57"/>
          <p:cNvSpPr/>
          <p:nvPr/>
        </p:nvSpPr>
        <p:spPr>
          <a:xfrm>
            <a:off x="164592" y="6510528"/>
            <a:ext cx="1179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C09880"/>
                </a:solidFill>
              </a:rPr>
              <a:t>Fuentes: Banxico · CME FedWatch · Rio Times · CNBC · El Financiero · Bloomberg · Maritime Executive  |  Análisis informativo — No constituye asesoría financiera.  5 / 5</a:t>
            </a:r>
            <a:endParaRPr lang="en-US" sz="6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2026-08-21T17:21:21Z</dcterms:created>
  <dcterms:modified xsi:type="dcterms:W3CDTF">2026-08-21T17:21:21Z</dcterms:modified>
</cp:coreProperties>
</file>