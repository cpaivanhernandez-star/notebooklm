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A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2560320"/>
          </a:xfrm>
          <a:prstGeom prst="rect">
            <a:avLst/>
          </a:prstGeom>
          <a:solidFill>
            <a:srgbClr val="162A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B898"/>
                </a:solidFill>
              </a:rPr>
              <a:t>Jueves · 27 agosto 2026 · Apertura de mercados · Morning Brief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52"/>
                </a:solidFill>
              </a:rPr>
              <a:t>MÉXICO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BRIEFING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B898"/>
                </a:solidFill>
              </a:rPr>
              <a:t>Monitor de Mercados · Índices · Divisas · Commodities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2651760"/>
            <a:ext cx="12161520" cy="329184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2651760"/>
            <a:ext cx="1179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IPC BMV ~66,146 pts  ·  S&amp;P 7,682  ·  Gold $4,594 (−1.4%)  ·  Brent $89.44 (−2.7%)  ·  USD/MXN $16.96  ·  Jackson Hole mañana — Warsh habla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31089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3218688"/>
            <a:ext cx="3346704" cy="256032"/>
          </a:xfrm>
          <a:prstGeom prst="roundRect">
            <a:avLst>
              <a:gd name="adj" fmla="val 25000"/>
            </a:avLst>
          </a:prstGeom>
          <a:solidFill>
            <a:srgbClr val="E2F5EB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3218688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52"/>
                </a:solidFill>
              </a:rPr>
              <a:t>IPC BMV  — Apertura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A12"/>
                </a:solidFill>
              </a:rPr>
              <a:t>~66,146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" y="41330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7060"/>
                </a:solidFill>
              </a:rPr>
              <a:t>5 sesiones al alza · prev. 66,293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97680" y="31089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3218688"/>
            <a:ext cx="3346704" cy="256032"/>
          </a:xfrm>
          <a:prstGeom prst="roundRect">
            <a:avLst>
              <a:gd name="adj" fmla="val 25000"/>
            </a:avLst>
          </a:prstGeom>
          <a:solidFill>
            <a:srgbClr val="E2EEF8"/>
          </a:solidFill>
          <a:ln/>
        </p:spPr>
      </p:sp>
      <p:sp>
        <p:nvSpPr>
          <p:cNvPr id="17" name="Text 15"/>
          <p:cNvSpPr/>
          <p:nvPr/>
        </p:nvSpPr>
        <p:spPr>
          <a:xfrm>
            <a:off x="4407408" y="3218688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78A8"/>
                </a:solidFill>
              </a:rPr>
              <a:t>S&amp;P 500  — Apertura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89120" y="35478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A12"/>
                </a:solidFill>
              </a:rPr>
              <a:t>7,681.56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89120" y="41330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7060"/>
                </a:solidFill>
              </a:rPr>
              <a:t>+0.06% · Nasdaq −0.12% · Dow −0.16%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321040" y="31089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30768" y="3218688"/>
            <a:ext cx="3346704" cy="256032"/>
          </a:xfrm>
          <a:prstGeom prst="roundRect">
            <a:avLst>
              <a:gd name="adj" fmla="val 25000"/>
            </a:avLst>
          </a:prstGeom>
          <a:solidFill>
            <a:srgbClr val="FAF2D0"/>
          </a:solidFill>
          <a:ln/>
        </p:spPr>
      </p:sp>
      <p:sp>
        <p:nvSpPr>
          <p:cNvPr id="22" name="Text 20"/>
          <p:cNvSpPr/>
          <p:nvPr/>
        </p:nvSpPr>
        <p:spPr>
          <a:xfrm>
            <a:off x="8430768" y="3218688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8010"/>
                </a:solidFill>
              </a:rPr>
              <a:t>Gold XAU/USD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0" y="35478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A12"/>
                </a:solidFill>
              </a:rPr>
              <a:t>$4,594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12480" y="41330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7060"/>
                </a:solidFill>
              </a:rPr>
              <a:t>−1.38% · +15% en agosto (máx hist.)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1A12"/>
          </a:solidFill>
          <a:ln/>
        </p:spPr>
      </p:sp>
      <p:sp>
        <p:nvSpPr>
          <p:cNvPr id="26" name="Text 24"/>
          <p:cNvSpPr/>
          <p:nvPr/>
        </p:nvSpPr>
        <p:spPr>
          <a:xfrm>
            <a:off x="164592" y="6565392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0B898"/>
                </a:solidFill>
              </a:rPr>
              <a:t>Fuentes: BMV · CNBC · Charles Schwab · Infobae · Rio Times · Acento Noticias  |  Análisis informativo — No constituye asesoría financiera.  1 / 4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A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438912"/>
          </a:xfrm>
          <a:prstGeom prst="rect">
            <a:avLst/>
          </a:prstGeom>
          <a:solidFill>
            <a:srgbClr val="0D1A12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98"/>
                </a:solidFill>
              </a:rPr>
              <a:t>Jueves 27 agosto 2026 · Morning Brief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7D52"/>
                </a:solidFill>
              </a:rPr>
              <a:t>ÍNDICES GLOBALES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A12"/>
                </a:solidFill>
              </a:rPr>
              <a:t>Índices Bursátiles — Apertura 27 agosto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896112"/>
            <a:ext cx="1161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7060"/>
                </a:solidFill>
              </a:rPr>
              <a:t>IPC BMV en 5ª sesión al alza · Wall Street mixto · Europa y Asia positivos al cierre previo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52144"/>
            <a:ext cx="11612880" cy="13716"/>
          </a:xfrm>
          <a:prstGeom prst="rect">
            <a:avLst/>
          </a:prstGeom>
          <a:solidFill>
            <a:srgbClr val="C8E0D0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225296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353312"/>
            <a:ext cx="2194560" cy="274320"/>
          </a:xfrm>
          <a:prstGeom prst="roundRect">
            <a:avLst>
              <a:gd name="adj" fmla="val 23333"/>
            </a:avLst>
          </a:prstGeom>
          <a:solidFill>
            <a:srgbClr val="E2F5EB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3533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2"/>
                </a:solidFill>
              </a:rPr>
              <a:t>🇲🇽  IPC BMV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68249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A12"/>
                </a:solidFill>
              </a:rPr>
              <a:t>~66,146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84048" y="2395728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DFF4EC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39572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5 sesiones alza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0" y="1444752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7060"/>
                </a:solidFill>
              </a:rPr>
              <a:t>Prev. cierre: 66,293 (+0.79% el martes 25 ago)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07060"/>
                </a:solidFill>
              </a:rPr>
              <a:t>Apertura estimada: ~66,146 pts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07060"/>
                </a:solidFill>
              </a:rPr>
              <a:t>Mineras (Grupo México, Peñoles) y financieras lideran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852160" y="12801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A12"/>
                </a:solidFill>
              </a:rPr>
              <a:t>🇺🇸  Wall Street — Apertura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52160" y="1609344"/>
            <a:ext cx="6016752" cy="713232"/>
          </a:xfrm>
          <a:prstGeom prst="roundRect">
            <a:avLst>
              <a:gd name="adj" fmla="val 12821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98464" y="170078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4830"/>
                </a:solidFill>
              </a:rPr>
              <a:t>S&amp;P 500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98464" y="19568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A12"/>
                </a:solidFill>
              </a:rPr>
              <a:t>7,681.56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0" y="1773936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DFF4EC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0" y="177393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+0.06%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149840" y="1773936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07060"/>
                </a:solidFill>
              </a:rPr>
              <a:t>7,667.56 apertura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852160" y="2414016"/>
            <a:ext cx="6016752" cy="713232"/>
          </a:xfrm>
          <a:prstGeom prst="roundRect">
            <a:avLst>
              <a:gd name="adj" fmla="val 12821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98464" y="250545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4830"/>
                </a:solidFill>
              </a:rPr>
              <a:t>Dow Jones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98464" y="2761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A12"/>
                </a:solidFill>
              </a:rPr>
              <a:t>53,493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778240" y="2578608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27" name="Text 25"/>
          <p:cNvSpPr/>
          <p:nvPr/>
        </p:nvSpPr>
        <p:spPr>
          <a:xfrm>
            <a:off x="8778240" y="257860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−0.16%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149840" y="2578608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07060"/>
                </a:solidFill>
              </a:rPr>
              <a:t>−84 pts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852160" y="3218688"/>
            <a:ext cx="6016752" cy="713232"/>
          </a:xfrm>
          <a:prstGeom prst="roundRect">
            <a:avLst>
              <a:gd name="adj" fmla="val 12821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98464" y="33101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4830"/>
                </a:solidFill>
              </a:rPr>
              <a:t>Nasdaq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98464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A12"/>
                </a:solidFill>
              </a:rPr>
              <a:t>26,119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778240" y="3383280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33" name="Text 31"/>
          <p:cNvSpPr/>
          <p:nvPr/>
        </p:nvSpPr>
        <p:spPr>
          <a:xfrm>
            <a:off x="8778240" y="33832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−0.12%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149840" y="3383280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07060"/>
                </a:solidFill>
              </a:rPr>
              <a:t>−32 pts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74320" y="3236976"/>
            <a:ext cx="11612880" cy="13716"/>
          </a:xfrm>
          <a:prstGeom prst="rect">
            <a:avLst/>
          </a:prstGeom>
          <a:solidFill>
            <a:srgbClr val="C8E0D0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31012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A12"/>
                </a:solidFill>
              </a:rPr>
              <a:t>Europa — Cierre previo (ago 26)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9360" y="331012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A12"/>
                </a:solidFill>
              </a:rPr>
              <a:t>Asia — Cierre previo (ago 26/27)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621024"/>
            <a:ext cx="5760720" cy="713232"/>
          </a:xfrm>
          <a:prstGeom prst="roundRect">
            <a:avLst>
              <a:gd name="adj" fmla="val 12821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371246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4830"/>
                </a:solidFill>
              </a:rPr>
              <a:t>DAX (Alemania)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20624" y="3968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A12"/>
                </a:solidFill>
              </a:rPr>
              <a:t>26,266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840480" y="3785616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DFF4EC"/>
          </a:solidFill>
          <a:ln/>
        </p:spPr>
      </p:sp>
      <p:sp>
        <p:nvSpPr>
          <p:cNvPr id="42" name="Text 40"/>
          <p:cNvSpPr/>
          <p:nvPr/>
        </p:nvSpPr>
        <p:spPr>
          <a:xfrm>
            <a:off x="3840480" y="378561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+0.61%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4443984"/>
            <a:ext cx="5760720" cy="713232"/>
          </a:xfrm>
          <a:prstGeom prst="roundRect">
            <a:avLst>
              <a:gd name="adj" fmla="val 12821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453542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4830"/>
                </a:solidFill>
              </a:rPr>
              <a:t>FTSE 100 (Reino Unido)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20624" y="4791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A12"/>
                </a:solidFill>
              </a:rPr>
              <a:t>10,886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840480" y="4608576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DFF4EC"/>
          </a:solidFill>
          <a:ln/>
        </p:spPr>
      </p:sp>
      <p:sp>
        <p:nvSpPr>
          <p:cNvPr id="47" name="Text 45"/>
          <p:cNvSpPr/>
          <p:nvPr/>
        </p:nvSpPr>
        <p:spPr>
          <a:xfrm>
            <a:off x="3840480" y="460857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+0.29%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309360" y="3621024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55664" y="371246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4830"/>
                </a:solidFill>
              </a:rPr>
              <a:t>Nikkei 225 (Japón)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55664" y="3968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A12"/>
                </a:solidFill>
              </a:rPr>
              <a:t>66,228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10058400" y="3785616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DFF4EC"/>
          </a:solidFill>
          <a:ln/>
        </p:spPr>
      </p:sp>
      <p:sp>
        <p:nvSpPr>
          <p:cNvPr id="52" name="Text 50"/>
          <p:cNvSpPr/>
          <p:nvPr/>
        </p:nvSpPr>
        <p:spPr>
          <a:xfrm>
            <a:off x="10058400" y="378561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+0.56%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5321808"/>
            <a:ext cx="11594592" cy="1005840"/>
          </a:xfrm>
          <a:prstGeom prst="roundRect">
            <a:avLst>
              <a:gd name="adj" fmla="val 9091"/>
            </a:avLst>
          </a:prstGeom>
          <a:solidFill>
            <a:srgbClr val="E2F5EB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" y="539496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2"/>
                </a:solidFill>
              </a:rPr>
              <a:t>⚡  JACKSON HOLE — MAÑANA VIERNES 28 AGO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20624" y="5705856"/>
            <a:ext cx="11338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4830"/>
                </a:solidFill>
              </a:rPr>
              <a:t>Kevin Warsh (nuevo presidente de la Fed) da su primer discurso. Mercados en modo espera. Cualquier señal sobre tasas moverá los índices.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1A12"/>
          </a:solidFill>
          <a:ln/>
        </p:spPr>
      </p:sp>
      <p:sp>
        <p:nvSpPr>
          <p:cNvPr id="57" name="Text 55"/>
          <p:cNvSpPr/>
          <p:nvPr/>
        </p:nvSpPr>
        <p:spPr>
          <a:xfrm>
            <a:off x="164592" y="6565392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0B898"/>
                </a:solidFill>
              </a:rPr>
              <a:t>Fuentes: CNBC · Charles Schwab · Acento Noticias · StreetStats · Infobae  |  Análisis informativo — No constituye asesoría financiera.  2 / 4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A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438912"/>
          </a:xfrm>
          <a:prstGeom prst="rect">
            <a:avLst/>
          </a:prstGeom>
          <a:solidFill>
            <a:srgbClr val="0D1A12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98"/>
                </a:solidFill>
              </a:rPr>
              <a:t>Jueves 27 agosto 2026 · Morning Brief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7D52"/>
                </a:solidFill>
              </a:rPr>
              <a:t>DIVISAS &amp; COMMODITIES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A12"/>
                </a:solidFill>
              </a:rPr>
              <a:t>Divisas &amp; Materias Primas — 27 agosto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896112"/>
            <a:ext cx="1161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7060"/>
                </a:solidFill>
              </a:rPr>
              <a:t>Peso sub-17 · Oro +15% en agosto (récord histórico mensual) · Brent cae −2.7% por debilidad de demanda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52144"/>
            <a:ext cx="11612880" cy="13716"/>
          </a:xfrm>
          <a:prstGeom prst="rect">
            <a:avLst/>
          </a:prstGeom>
          <a:solidFill>
            <a:srgbClr val="C8E0D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2529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A12"/>
                </a:solidFill>
              </a:rPr>
              <a:t>💱  TIPOS DE CAMBIO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627632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E2F5EB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27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52"/>
                </a:solidFill>
              </a:rPr>
              <a:t>USD / MXN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93852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A12"/>
                </a:solidFill>
              </a:rPr>
              <a:t>$16.96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26080" y="175564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7060"/>
                </a:solidFill>
              </a:rPr>
              <a:t>Peso sub-17 · sem: 16.89–16.99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596896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E2EEF8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596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78A8"/>
                </a:solidFill>
              </a:rPr>
              <a:t>EUR / USD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29077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A12"/>
                </a:solidFill>
              </a:rPr>
              <a:t>1.175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26080" y="27249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7060"/>
                </a:solidFill>
              </a:rPr>
              <a:t>Dólar debilitado · Euro al alza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3493008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566160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ECE8FA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848A8"/>
                </a:solidFill>
              </a:rPr>
              <a:t>EUR / MXN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38770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A12"/>
                </a:solidFill>
              </a:rPr>
              <a:t>$19.77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926080" y="369417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7060"/>
                </a:solidFill>
              </a:rPr>
              <a:t>Ref. ago 26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943600" y="122529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A12"/>
                </a:solidFill>
              </a:rPr>
              <a:t>🥇  METALES PRECIOSOS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155448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53328" y="1627632"/>
            <a:ext cx="2377440" cy="256032"/>
          </a:xfrm>
          <a:prstGeom prst="roundRect">
            <a:avLst>
              <a:gd name="adj" fmla="val 25000"/>
            </a:avLst>
          </a:prstGeom>
          <a:solidFill>
            <a:srgbClr val="FAF2D0"/>
          </a:solidFill>
          <a:ln/>
        </p:spPr>
      </p:sp>
      <p:sp>
        <p:nvSpPr>
          <p:cNvPr id="28" name="Text 26"/>
          <p:cNvSpPr/>
          <p:nvPr/>
        </p:nvSpPr>
        <p:spPr>
          <a:xfrm>
            <a:off x="6053328" y="16276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8010"/>
                </a:solidFill>
              </a:rPr>
              <a:t>Oro (XAU/USD)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53328" y="193852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A12"/>
                </a:solidFill>
              </a:rPr>
              <a:t>$4,594 /oz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52560" y="1783080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31" name="Text 29"/>
          <p:cNvSpPr/>
          <p:nvPr/>
        </p:nvSpPr>
        <p:spPr>
          <a:xfrm>
            <a:off x="9052560" y="178308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−1.38%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53328" y="2157984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60"/>
                </a:solidFill>
              </a:rPr>
              <a:t>+15% en agosto · récord histórico mensual (máx desde 1999)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943600" y="2523744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53328" y="2596896"/>
            <a:ext cx="2377440" cy="256032"/>
          </a:xfrm>
          <a:prstGeom prst="roundRect">
            <a:avLst>
              <a:gd name="adj" fmla="val 25000"/>
            </a:avLst>
          </a:prstGeom>
          <a:solidFill>
            <a:srgbClr val="FAF2D0"/>
          </a:solidFill>
          <a:ln/>
        </p:spPr>
      </p:sp>
      <p:sp>
        <p:nvSpPr>
          <p:cNvPr id="35" name="Text 33"/>
          <p:cNvSpPr/>
          <p:nvPr/>
        </p:nvSpPr>
        <p:spPr>
          <a:xfrm>
            <a:off x="6053328" y="25968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8010"/>
                </a:solidFill>
              </a:rPr>
              <a:t>Plata (XAG/USD)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53328" y="29077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A12"/>
                </a:solidFill>
              </a:rPr>
              <a:t>$68.73 /oz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52560" y="2752344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DFF4EC"/>
          </a:solidFill>
          <a:ln/>
        </p:spPr>
      </p:sp>
      <p:sp>
        <p:nvSpPr>
          <p:cNvPr id="38" name="Text 36"/>
          <p:cNvSpPr/>
          <p:nvPr/>
        </p:nvSpPr>
        <p:spPr>
          <a:xfrm>
            <a:off x="9052560" y="275234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+0.12%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53328" y="3127248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60"/>
                </a:solidFill>
              </a:rPr>
              <a:t>+18% en el mes · +78% interanual · demanda industrial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74320" y="4572000"/>
            <a:ext cx="11612880" cy="13716"/>
          </a:xfrm>
          <a:prstGeom prst="rect">
            <a:avLst/>
          </a:prstGeom>
          <a:solidFill>
            <a:srgbClr val="C8E0D0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645152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A12"/>
                </a:solidFill>
              </a:rPr>
              <a:t>⛽  ENERGÍA &amp; MATERIAS PRIMAS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974336"/>
            <a:ext cx="3749040" cy="1316736"/>
          </a:xfrm>
          <a:prstGeom prst="roundRect">
            <a:avLst>
              <a:gd name="adj" fmla="val 6944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" y="5084064"/>
            <a:ext cx="3529584" cy="256032"/>
          </a:xfrm>
          <a:prstGeom prst="roundRect">
            <a:avLst>
              <a:gd name="adj" fmla="val 25000"/>
            </a:avLst>
          </a:prstGeom>
          <a:solidFill>
            <a:srgbClr val="FDF0D8"/>
          </a:solidFill>
          <a:ln/>
        </p:spPr>
      </p:sp>
      <p:sp>
        <p:nvSpPr>
          <p:cNvPr id="44" name="Text 42"/>
          <p:cNvSpPr/>
          <p:nvPr/>
        </p:nvSpPr>
        <p:spPr>
          <a:xfrm>
            <a:off x="384048" y="5084064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7830"/>
                </a:solidFill>
              </a:rPr>
              <a:t>Brent Crude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84048" y="5394960"/>
            <a:ext cx="3529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A12"/>
                </a:solidFill>
              </a:rPr>
              <a:t>$89.44 /bbl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384048" y="5815584"/>
            <a:ext cx="137160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47" name="Text 45"/>
          <p:cNvSpPr/>
          <p:nvPr/>
        </p:nvSpPr>
        <p:spPr>
          <a:xfrm>
            <a:off x="384048" y="58155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−2.67%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84048" y="6108192"/>
            <a:ext cx="35295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7060"/>
                </a:solidFill>
              </a:rPr>
              <a:t>Caída por debilidad de demanda global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4206240" y="4974336"/>
            <a:ext cx="3749040" cy="1316736"/>
          </a:xfrm>
          <a:prstGeom prst="roundRect">
            <a:avLst>
              <a:gd name="adj" fmla="val 6944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15968" y="5084064"/>
            <a:ext cx="3529584" cy="256032"/>
          </a:xfrm>
          <a:prstGeom prst="roundRect">
            <a:avLst>
              <a:gd name="adj" fmla="val 25000"/>
            </a:avLst>
          </a:prstGeom>
          <a:solidFill>
            <a:srgbClr val="FDF0D8"/>
          </a:solidFill>
          <a:ln/>
        </p:spPr>
      </p:sp>
      <p:sp>
        <p:nvSpPr>
          <p:cNvPr id="51" name="Text 49"/>
          <p:cNvSpPr/>
          <p:nvPr/>
        </p:nvSpPr>
        <p:spPr>
          <a:xfrm>
            <a:off x="4315968" y="5084064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7830"/>
                </a:solidFill>
              </a:rPr>
              <a:t>WTI Crude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315968" y="5394960"/>
            <a:ext cx="3529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A12"/>
                </a:solidFill>
              </a:rPr>
              <a:t>$84.95 /bbl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4315968" y="5815584"/>
            <a:ext cx="137160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54" name="Text 52"/>
          <p:cNvSpPr/>
          <p:nvPr/>
        </p:nvSpPr>
        <p:spPr>
          <a:xfrm>
            <a:off x="4315968" y="58155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−2.0%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315968" y="6108192"/>
            <a:ext cx="35295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7060"/>
                </a:solidFill>
              </a:rPr>
              <a:t>En línea con Brent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8138160" y="4974336"/>
            <a:ext cx="3749040" cy="1316736"/>
          </a:xfrm>
          <a:prstGeom prst="roundRect">
            <a:avLst>
              <a:gd name="adj" fmla="val 6944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47888" y="5084064"/>
            <a:ext cx="3529584" cy="256032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/>
        </p:spPr>
      </p:sp>
      <p:sp>
        <p:nvSpPr>
          <p:cNvPr id="58" name="Text 56"/>
          <p:cNvSpPr/>
          <p:nvPr/>
        </p:nvSpPr>
        <p:spPr>
          <a:xfrm>
            <a:off x="8247888" y="5084064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8A6A"/>
                </a:solidFill>
              </a:rPr>
              <a:t>Cobre (LME)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247888" y="5394960"/>
            <a:ext cx="3529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A12"/>
                </a:solidFill>
              </a:rPr>
              <a:t>$6.75 /lb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8247888" y="5815584"/>
            <a:ext cx="1371600" cy="237744"/>
          </a:xfrm>
          <a:prstGeom prst="roundRect">
            <a:avLst>
              <a:gd name="adj" fmla="val 23077"/>
            </a:avLst>
          </a:prstGeom>
          <a:solidFill>
            <a:srgbClr val="DFF4EC"/>
          </a:solidFill>
          <a:ln/>
        </p:spPr>
      </p:sp>
      <p:sp>
        <p:nvSpPr>
          <p:cNvPr id="61" name="Text 59"/>
          <p:cNvSpPr/>
          <p:nvPr/>
        </p:nvSpPr>
        <p:spPr>
          <a:xfrm>
            <a:off x="8247888" y="58155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+0.59%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247888" y="6108192"/>
            <a:ext cx="35295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7060"/>
                </a:solidFill>
              </a:rPr>
              <a:t>+52.75% interanual · inventarios bajos (42 días de caída)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1A12"/>
          </a:solidFill>
          <a:ln/>
        </p:spPr>
      </p:sp>
      <p:sp>
        <p:nvSpPr>
          <p:cNvPr id="64" name="Text 62"/>
          <p:cNvSpPr/>
          <p:nvPr/>
        </p:nvSpPr>
        <p:spPr>
          <a:xfrm>
            <a:off x="164592" y="6565392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0B898"/>
                </a:solidFill>
              </a:rPr>
              <a:t>Fuentes: LiteFinance · Forbes Advisor · Carbon Credits · Rio Times · Wise · Investing.com  |  Análisis informativo — No constituye asesoría financiera.  3 / 4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A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438912"/>
          </a:xfrm>
          <a:prstGeom prst="rect">
            <a:avLst/>
          </a:prstGeom>
          <a:solidFill>
            <a:srgbClr val="0D1A12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98"/>
                </a:solidFill>
              </a:rPr>
              <a:t>Jueves 27 agosto 2026 · Morning Brief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7D52"/>
                </a:solidFill>
              </a:rPr>
              <a:t>BMV ACCIONES · MACRO EE.UU.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A12"/>
                </a:solidFill>
              </a:rPr>
              <a:t>BMV — Acciones Destacadas &amp; Macro EE.UU.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1612880" cy="13716"/>
          </a:xfrm>
          <a:prstGeom prst="rect">
            <a:avLst/>
          </a:prstGeom>
          <a:solidFill>
            <a:srgbClr val="C8E0D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875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058"/>
                </a:solidFill>
              </a:rPr>
              <a:t>📈  BMV — GANADORAS RECIENTES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5486400" cy="402336"/>
          </a:xfrm>
          <a:prstGeom prst="roundRect">
            <a:avLst>
              <a:gd name="adj" fmla="val 22727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371600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DFF4EC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3716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9058"/>
                </a:solidFill>
              </a:rPr>
              <a:t>BBAJIO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591056" y="13716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12"/>
                </a:solidFill>
              </a:rPr>
              <a:t>$56.61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98064" y="1371600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DFF4EC"/>
          </a:solidFill>
          <a:ln/>
        </p:spPr>
      </p:sp>
      <p:sp>
        <p:nvSpPr>
          <p:cNvPr id="14" name="Text 12"/>
          <p:cNvSpPr/>
          <p:nvPr/>
        </p:nvSpPr>
        <p:spPr>
          <a:xfrm>
            <a:off x="2798064" y="13716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+1.27%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95344" y="1371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60"/>
                </a:solidFill>
              </a:rPr>
              <a:t>BanBajío · lider 2026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4320" y="1773936"/>
            <a:ext cx="5486400" cy="402336"/>
          </a:xfrm>
          <a:prstGeom prst="roundRect">
            <a:avLst>
              <a:gd name="adj" fmla="val 22727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1847088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DFF4EC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18470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9058"/>
                </a:solidFill>
              </a:rPr>
              <a:t>FEMSA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591056" y="18470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12"/>
                </a:solidFill>
              </a:rPr>
              <a:t>$203.46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98064" y="1847088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DFF4EC"/>
          </a:solidFill>
          <a:ln/>
        </p:spPr>
      </p:sp>
      <p:sp>
        <p:nvSpPr>
          <p:cNvPr id="21" name="Text 19"/>
          <p:cNvSpPr/>
          <p:nvPr/>
        </p:nvSpPr>
        <p:spPr>
          <a:xfrm>
            <a:off x="2798064" y="18470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+1.29%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95344" y="18470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60"/>
                </a:solidFill>
              </a:rPr>
              <a:t>Consumo · 2do en ranking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74320" y="2249424"/>
            <a:ext cx="5486400" cy="402336"/>
          </a:xfrm>
          <a:prstGeom prst="roundRect">
            <a:avLst>
              <a:gd name="adj" fmla="val 22727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2322576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DFF4EC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23225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9058"/>
                </a:solidFill>
              </a:rPr>
              <a:t>AMX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591056" y="23225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12"/>
                </a:solidFill>
              </a:rPr>
              <a:t>—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98064" y="2322576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DFF4EC"/>
          </a:solidFill>
          <a:ln/>
        </p:spPr>
      </p:sp>
      <p:sp>
        <p:nvSpPr>
          <p:cNvPr id="28" name="Text 26"/>
          <p:cNvSpPr/>
          <p:nvPr/>
        </p:nvSpPr>
        <p:spPr>
          <a:xfrm>
            <a:off x="2798064" y="232257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+0.65%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95344" y="23225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60"/>
                </a:solidFill>
              </a:rPr>
              <a:t>América Móvil · +8.11% YTD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74320" y="2724912"/>
            <a:ext cx="5486400" cy="402336"/>
          </a:xfrm>
          <a:prstGeom prst="roundRect">
            <a:avLst>
              <a:gd name="adj" fmla="val 22727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2798064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DFF4EC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" y="27980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9058"/>
                </a:solidFill>
              </a:rPr>
              <a:t>CHDRAUI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591056" y="27980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12"/>
                </a:solidFill>
              </a:rPr>
              <a:t>$92.94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98064" y="2798064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DFF4EC"/>
          </a:solidFill>
          <a:ln/>
        </p:spPr>
      </p:sp>
      <p:sp>
        <p:nvSpPr>
          <p:cNvPr id="35" name="Text 33"/>
          <p:cNvSpPr/>
          <p:nvPr/>
        </p:nvSpPr>
        <p:spPr>
          <a:xfrm>
            <a:off x="2798064" y="279806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+0.99%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895344" y="27980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60"/>
                </a:solidFill>
              </a:rPr>
              <a:t>Supermercados · firma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74320" y="3200400"/>
            <a:ext cx="5486400" cy="402336"/>
          </a:xfrm>
          <a:prstGeom prst="roundRect">
            <a:avLst>
              <a:gd name="adj" fmla="val 22727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3273552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DFF4EC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" y="3273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9058"/>
                </a:solidFill>
              </a:rPr>
              <a:t>GRP.MÉXICO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591056" y="3273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12"/>
                </a:solidFill>
              </a:rPr>
              <a:t>—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98064" y="3273552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DFF4EC"/>
          </a:solidFill>
          <a:ln/>
        </p:spPr>
      </p:sp>
      <p:sp>
        <p:nvSpPr>
          <p:cNvPr id="42" name="Text 40"/>
          <p:cNvSpPr/>
          <p:nvPr/>
        </p:nvSpPr>
        <p:spPr>
          <a:xfrm>
            <a:off x="2798064" y="32735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+6.0% (ago)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895344" y="32735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60"/>
                </a:solidFill>
              </a:rPr>
              <a:t>Cobre récord · minera líder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217920" y="98755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3020"/>
                </a:solidFill>
              </a:rPr>
              <a:t>📉  BMV — REZAGADAS RECIENTES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1298448"/>
            <a:ext cx="5669280" cy="402336"/>
          </a:xfrm>
          <a:prstGeom prst="roundRect">
            <a:avLst>
              <a:gd name="adj" fmla="val 22727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27648" y="1371600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FAE4E0"/>
          </a:solidFill>
          <a:ln/>
        </p:spPr>
      </p:sp>
      <p:sp>
        <p:nvSpPr>
          <p:cNvPr id="47" name="Text 45"/>
          <p:cNvSpPr/>
          <p:nvPr/>
        </p:nvSpPr>
        <p:spPr>
          <a:xfrm>
            <a:off x="6327648" y="13716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3020"/>
                </a:solidFill>
              </a:rPr>
              <a:t>ALSEA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534656" y="13716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12"/>
                </a:solidFill>
              </a:rPr>
              <a:t>—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833104" y="137160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50" name="Text 48"/>
          <p:cNvSpPr/>
          <p:nvPr/>
        </p:nvSpPr>
        <p:spPr>
          <a:xfrm>
            <a:off x="8833104" y="13716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−0.40%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040112" y="1371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60"/>
                </a:solidFill>
              </a:rPr>
              <a:t>−25.3% YTD · presión costos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217920" y="1773936"/>
            <a:ext cx="5669280" cy="402336"/>
          </a:xfrm>
          <a:prstGeom prst="roundRect">
            <a:avLst>
              <a:gd name="adj" fmla="val 22727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27648" y="1847088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FAE4E0"/>
          </a:solidFill>
          <a:ln/>
        </p:spPr>
      </p:sp>
      <p:sp>
        <p:nvSpPr>
          <p:cNvPr id="54" name="Text 52"/>
          <p:cNvSpPr/>
          <p:nvPr/>
        </p:nvSpPr>
        <p:spPr>
          <a:xfrm>
            <a:off x="6327648" y="18470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3020"/>
                </a:solidFill>
              </a:rPr>
              <a:t>ASUR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534656" y="18470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12"/>
                </a:solidFill>
              </a:rPr>
              <a:t>$443.23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833104" y="1847088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57" name="Text 55"/>
          <p:cNvSpPr/>
          <p:nvPr/>
        </p:nvSpPr>
        <p:spPr>
          <a:xfrm>
            <a:off x="8833104" y="18470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−1.16%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0040112" y="18470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60"/>
                </a:solidFill>
              </a:rPr>
              <a:t>Aero. · 448 → 443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217920" y="2249424"/>
            <a:ext cx="5669280" cy="402336"/>
          </a:xfrm>
          <a:prstGeom prst="roundRect">
            <a:avLst>
              <a:gd name="adj" fmla="val 22727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27648" y="2322576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FAE4E0"/>
          </a:solidFill>
          <a:ln/>
        </p:spPr>
      </p:sp>
      <p:sp>
        <p:nvSpPr>
          <p:cNvPr id="61" name="Text 59"/>
          <p:cNvSpPr/>
          <p:nvPr/>
        </p:nvSpPr>
        <p:spPr>
          <a:xfrm>
            <a:off x="6327648" y="23225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3020"/>
                </a:solidFill>
              </a:rPr>
              <a:t>GRUMA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534656" y="2322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A12"/>
                </a:solidFill>
              </a:rPr>
              <a:t>$252.03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833104" y="2322576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64" name="Text 62"/>
          <p:cNvSpPr/>
          <p:nvPr/>
        </p:nvSpPr>
        <p:spPr>
          <a:xfrm>
            <a:off x="8833104" y="232257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−0.74%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040112" y="23225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60"/>
                </a:solidFill>
              </a:rPr>
              <a:t>−18.76% YTD · granos altos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274320" y="3730752"/>
            <a:ext cx="11612880" cy="13716"/>
          </a:xfrm>
          <a:prstGeom prst="rect">
            <a:avLst/>
          </a:prstGeom>
          <a:solidFill>
            <a:srgbClr val="C8E0D0"/>
          </a:solidFill>
          <a:ln/>
        </p:spPr>
      </p:sp>
      <p:sp>
        <p:nvSpPr>
          <p:cNvPr id="67" name="Text 65"/>
          <p:cNvSpPr/>
          <p:nvPr/>
        </p:nvSpPr>
        <p:spPr>
          <a:xfrm>
            <a:off x="274320" y="3785616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A12"/>
                </a:solidFill>
              </a:rPr>
              <a:t>🇺🇸  MACRO EE.UU. — DATOS RECIENTES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74320" y="4114800"/>
            <a:ext cx="2834640" cy="1243584"/>
          </a:xfrm>
          <a:prstGeom prst="roundRect">
            <a:avLst>
              <a:gd name="adj" fmla="val 7353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84048" y="4224528"/>
            <a:ext cx="2615184" cy="256032"/>
          </a:xfrm>
          <a:prstGeom prst="roundRect">
            <a:avLst>
              <a:gd name="adj" fmla="val 25000"/>
            </a:avLst>
          </a:prstGeom>
          <a:solidFill>
            <a:srgbClr val="FDF0D8"/>
          </a:solidFill>
          <a:ln/>
        </p:spPr>
      </p:sp>
      <p:sp>
        <p:nvSpPr>
          <p:cNvPr id="70" name="Text 68"/>
          <p:cNvSpPr/>
          <p:nvPr/>
        </p:nvSpPr>
        <p:spPr>
          <a:xfrm>
            <a:off x="384048" y="422452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7830"/>
                </a:solidFill>
              </a:rPr>
              <a:t>PIB Q2 2026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84048" y="4535424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A12"/>
                </a:solidFill>
              </a:rPr>
              <a:t>+1.5%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384048" y="497433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7060"/>
                </a:solidFill>
              </a:rPr>
              <a:t>anualizado · ↓ de +2.1% en Q1 — desaceleración notable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3236976" y="4114800"/>
            <a:ext cx="2834640" cy="1243584"/>
          </a:xfrm>
          <a:prstGeom prst="roundRect">
            <a:avLst>
              <a:gd name="adj" fmla="val 7353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346704" y="4224528"/>
            <a:ext cx="2615184" cy="256032"/>
          </a:xfrm>
          <a:prstGeom prst="roundRect">
            <a:avLst>
              <a:gd name="adj" fmla="val 25000"/>
            </a:avLst>
          </a:prstGeom>
          <a:solidFill>
            <a:srgbClr val="DFF4EC"/>
          </a:solidFill>
          <a:ln/>
        </p:spPr>
      </p:sp>
      <p:sp>
        <p:nvSpPr>
          <p:cNvPr id="75" name="Text 73"/>
          <p:cNvSpPr/>
          <p:nvPr/>
        </p:nvSpPr>
        <p:spPr>
          <a:xfrm>
            <a:off x="3346704" y="422452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9058"/>
                </a:solidFill>
              </a:rPr>
              <a:t>Jobless Claims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346704" y="4535424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A12"/>
                </a:solidFill>
              </a:rPr>
              <a:t>206K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3346704" y="497433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7060"/>
                </a:solidFill>
              </a:rPr>
              <a:t>vs ~210K est. · mercado laboral estable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6199632" y="4114800"/>
            <a:ext cx="2834640" cy="1243584"/>
          </a:xfrm>
          <a:prstGeom prst="roundRect">
            <a:avLst>
              <a:gd name="adj" fmla="val 7353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09360" y="4224528"/>
            <a:ext cx="2615184" cy="256032"/>
          </a:xfrm>
          <a:prstGeom prst="roundRect">
            <a:avLst>
              <a:gd name="adj" fmla="val 25000"/>
            </a:avLst>
          </a:prstGeom>
          <a:solidFill>
            <a:srgbClr val="E2EEF8"/>
          </a:solidFill>
          <a:ln/>
        </p:spPr>
      </p:sp>
      <p:sp>
        <p:nvSpPr>
          <p:cNvPr id="80" name="Text 78"/>
          <p:cNvSpPr/>
          <p:nvPr/>
        </p:nvSpPr>
        <p:spPr>
          <a:xfrm>
            <a:off x="6309360" y="422452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878A8"/>
                </a:solidFill>
              </a:rPr>
              <a:t>PCE Inflación (jul)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6309360" y="4535424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A12"/>
                </a:solidFill>
              </a:rPr>
              <a:t>+0.2%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6309360" y="497433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7060"/>
                </a:solidFill>
              </a:rPr>
              <a:t>m/m · indicador preferido de la Fed · leve presión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9162288" y="4114800"/>
            <a:ext cx="2834640" cy="1243584"/>
          </a:xfrm>
          <a:prstGeom prst="roundRect">
            <a:avLst>
              <a:gd name="adj" fmla="val 7353"/>
            </a:avLst>
          </a:prstGeom>
          <a:solidFill>
            <a:srgbClr val="F8FDF9"/>
          </a:solidFill>
          <a:ln w="12700">
            <a:solidFill>
              <a:srgbClr val="C8E0D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272016" y="4224528"/>
            <a:ext cx="2615184" cy="256032"/>
          </a:xfrm>
          <a:prstGeom prst="roundRect">
            <a:avLst>
              <a:gd name="adj" fmla="val 25000"/>
            </a:avLst>
          </a:prstGeom>
          <a:solidFill>
            <a:srgbClr val="E2F5EB"/>
          </a:solidFill>
          <a:ln/>
        </p:spPr>
      </p:sp>
      <p:sp>
        <p:nvSpPr>
          <p:cNvPr id="85" name="Text 83"/>
          <p:cNvSpPr/>
          <p:nvPr/>
        </p:nvSpPr>
        <p:spPr>
          <a:xfrm>
            <a:off x="9272016" y="422452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D52"/>
                </a:solidFill>
              </a:rPr>
              <a:t>Philly Fed (ago)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9272016" y="4535424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A12"/>
                </a:solidFill>
              </a:rPr>
              <a:t>47.4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9272016" y="497433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7060"/>
                </a:solidFill>
              </a:rPr>
              <a:t>vs 24.1 est. · max 5 años · manufactura acelera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274320" y="5449824"/>
            <a:ext cx="11612880" cy="13716"/>
          </a:xfrm>
          <a:prstGeom prst="rect">
            <a:avLst/>
          </a:prstGeom>
          <a:solidFill>
            <a:srgbClr val="C8E0D0"/>
          </a:solidFill>
          <a:ln/>
        </p:spPr>
      </p:sp>
      <p:sp>
        <p:nvSpPr>
          <p:cNvPr id="89" name="Text 87"/>
          <p:cNvSpPr/>
          <p:nvPr/>
        </p:nvSpPr>
        <p:spPr>
          <a:xfrm>
            <a:off x="274320" y="55046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A12"/>
                </a:solidFill>
              </a:rPr>
              <a:t>📋  REPORTES TRIMESTRALES HOY (EE.UU.):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274320" y="5760720"/>
            <a:ext cx="1161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7060"/>
                </a:solidFill>
              </a:rPr>
              <a:t>Dollar General · Dollar Tree · Best Buy · Marvell Technology · Autodesk · Workday · Affirm · Ulta Beauty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274320" y="6016752"/>
            <a:ext cx="1161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7060"/>
                </a:solidFill>
              </a:rPr>
              <a:t>NVIDIA resultados (publicados ayer) · Mercado digiere impacto en tech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1A12"/>
          </a:solidFill>
          <a:ln/>
        </p:spPr>
      </p:sp>
      <p:sp>
        <p:nvSpPr>
          <p:cNvPr id="93" name="Text 91"/>
          <p:cNvSpPr/>
          <p:nvPr/>
        </p:nvSpPr>
        <p:spPr>
          <a:xfrm>
            <a:off x="164592" y="6565392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0B898"/>
                </a:solidFill>
              </a:rPr>
              <a:t>Fuentes: El CEO BMV · Investing.com MX · CNBC · Kiplinger · MUFG Research · Charles Schwab  |  Análisis informativo — No constituye asesoría financiera.  4 / 4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México Briefing 27ago2026</dc:title>
  <dc:subject>México Briefing — 27 Agosto 2026 — Apertura</dc:subject>
  <dc:creator>México Briefing</dc:creator>
  <cp:lastModifiedBy>México Briefing</cp:lastModifiedBy>
  <cp:revision>1</cp:revision>
  <dcterms:created xsi:type="dcterms:W3CDTF">2026-08-27T01:11:08Z</dcterms:created>
  <dcterms:modified xsi:type="dcterms:W3CDTF">2026-08-27T01:11:08Z</dcterms:modified>
</cp:coreProperties>
</file>