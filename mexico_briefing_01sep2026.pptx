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2542032"/>
          </a:xfrm>
          <a:prstGeom prst="rect">
            <a:avLst/>
          </a:prstGeom>
          <a:solidFill>
            <a:srgbClr val="18243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C8"/>
                </a:solidFill>
              </a:rPr>
              <a:t>Martes · 1 septiembre 2026 · Apertura de mercados · Morning Brief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78C8"/>
                </a:solidFill>
              </a:rPr>
              <a:t>MÉXICO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BRIEFING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C8"/>
                </a:solidFill>
              </a:rPr>
              <a:t>Monitor de Mercados · Índices · Divisas · Commodities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2633472"/>
            <a:ext cx="12161520" cy="329184"/>
          </a:xfrm>
          <a:prstGeom prst="rect">
            <a:avLst/>
          </a:prstGeom>
          <a:solidFill>
            <a:srgbClr val="2A5A8A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2633472"/>
            <a:ext cx="1179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IPC BMV ~65,048 cierre · S&amp;P −0.7% · Nasdaq −1.3% · Warsh hawkish → +65% prob. alza Fed sep · Brent $92 · Oro −1.9% · USD/MXN $17.00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3090672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3200400"/>
            <a:ext cx="3346704" cy="256032"/>
          </a:xfrm>
          <a:prstGeom prst="roundRect">
            <a:avLst>
              <a:gd name="adj" fmla="val 25000"/>
            </a:avLst>
          </a:prstGeom>
          <a:solidFill>
            <a:srgbClr val="E2EEFA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3200400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5A8A"/>
                </a:solidFill>
              </a:rPr>
              <a:t>IPC BMV — Prev. Cierre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352958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0"/>
                </a:solidFill>
              </a:rPr>
              <a:t>65,048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" y="4114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7090"/>
                </a:solidFill>
              </a:rPr>
              <a:t>Lun 31 ago −0.67% · apertura bajo presión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97680" y="3090672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3200400"/>
            <a:ext cx="3346704" cy="256032"/>
          </a:xfrm>
          <a:prstGeom prst="roundRect">
            <a:avLst>
              <a:gd name="adj" fmla="val 25000"/>
            </a:avLst>
          </a:prstGeom>
          <a:solidFill>
            <a:srgbClr val="FAE4E0"/>
          </a:solidFill>
          <a:ln/>
        </p:spPr>
      </p:sp>
      <p:sp>
        <p:nvSpPr>
          <p:cNvPr id="17" name="Text 15"/>
          <p:cNvSpPr/>
          <p:nvPr/>
        </p:nvSpPr>
        <p:spPr>
          <a:xfrm>
            <a:off x="4407408" y="3200400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S&amp;P 500 — Futuros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89120" y="352958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0"/>
                </a:solidFill>
              </a:rPr>
              <a:t>−0.7%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89120" y="4114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7090"/>
                </a:solidFill>
              </a:rPr>
              <a:t>Dow −0.7% · Nasdaq −1.3% · risk-off global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321040" y="3090672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30768" y="3200400"/>
            <a:ext cx="3346704" cy="256032"/>
          </a:xfrm>
          <a:prstGeom prst="roundRect">
            <a:avLst>
              <a:gd name="adj" fmla="val 25000"/>
            </a:avLst>
          </a:prstGeom>
          <a:solidFill>
            <a:srgbClr val="FDF0D8"/>
          </a:solidFill>
          <a:ln/>
        </p:spPr>
      </p:sp>
      <p:sp>
        <p:nvSpPr>
          <p:cNvPr id="22" name="Text 20"/>
          <p:cNvSpPr/>
          <p:nvPr/>
        </p:nvSpPr>
        <p:spPr>
          <a:xfrm>
            <a:off x="8430768" y="3200400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7830"/>
                </a:solidFill>
              </a:rPr>
              <a:t>Brent Crude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0" y="352958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520"/>
                </a:solidFill>
              </a:rPr>
              <a:t>$91–92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412480" y="4114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7090"/>
                </a:solidFill>
              </a:rPr>
              <a:t>+0.87% · tensiones EE.UU.-Irán · Ormuz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4626864"/>
            <a:ext cx="11594592" cy="658368"/>
          </a:xfrm>
          <a:prstGeom prst="roundRect">
            <a:avLst>
              <a:gd name="adj" fmla="val 13889"/>
            </a:avLst>
          </a:prstGeom>
          <a:solidFill>
            <a:srgbClr val="E2EE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470001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5A8A"/>
                </a:solidFill>
              </a:rPr>
              <a:t>⚡  JACKSON HOLE — WARSH (28 AGO):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69664" y="4700016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A"/>
                </a:solidFill>
              </a:rPr>
              <a:t>Señal hawkish: "la inflación sigue alta y la Fed puede tener más trabajo por hacer". Probabilidad de alza en sep saltó del 36% al +65%. Mercados en modo risk-off.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E1520"/>
          </a:solidFill>
          <a:ln/>
        </p:spPr>
      </p:sp>
      <p:sp>
        <p:nvSpPr>
          <p:cNvPr id="29" name="Text 27"/>
          <p:cNvSpPr/>
          <p:nvPr/>
        </p:nvSpPr>
        <p:spPr>
          <a:xfrm>
            <a:off x="164592" y="6565392"/>
            <a:ext cx="1179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AAC8"/>
                </a:solidFill>
              </a:rPr>
              <a:t>Fuentes: Rio Times · TheStreet · Investrade · Federal Reserve · CNBC  |  Análisis informativo — No constituye asesoría financiera.  1 / 4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438912"/>
          </a:xfrm>
          <a:prstGeom prst="rect">
            <a:avLst/>
          </a:prstGeom>
          <a:solidFill>
            <a:srgbClr val="0E1520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8"/>
                </a:solidFill>
              </a:rPr>
              <a:t>Martes 1 septiembre 2026 · Morning Brief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78C8"/>
                </a:solidFill>
              </a:rPr>
              <a:t>ÍNDICES GLOBALES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12064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520"/>
                </a:solidFill>
              </a:rPr>
              <a:t>Índices Bursátiles — Apertura 1 septiembre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877824"/>
            <a:ext cx="1161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7090"/>
                </a:solidFill>
              </a:rPr>
              <a:t>Septiembre arranca en risk-off · Warsh hawkish + tensiones EE.UU.-Irán presionan toda la renta variable global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133856"/>
            <a:ext cx="11612880" cy="13716"/>
          </a:xfrm>
          <a:prstGeom prst="rect">
            <a:avLst/>
          </a:prstGeom>
          <a:solidFill>
            <a:srgbClr val="C8D8E8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207008"/>
            <a:ext cx="5303520" cy="1901952"/>
          </a:xfrm>
          <a:prstGeom prst="roundRect">
            <a:avLst>
              <a:gd name="adj" fmla="val 4808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335024"/>
            <a:ext cx="2377440" cy="274320"/>
          </a:xfrm>
          <a:prstGeom prst="roundRect">
            <a:avLst>
              <a:gd name="adj" fmla="val 23333"/>
            </a:avLst>
          </a:prstGeom>
          <a:solidFill>
            <a:srgbClr val="E2EEFA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3350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5A8A"/>
                </a:solidFill>
              </a:rPr>
              <a:t>🇲🇽  IPC BMV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1682496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520"/>
                </a:solidFill>
              </a:rPr>
              <a:t>65,048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84048" y="23774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3774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−0.67% lun 31 ago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56432" y="1463040"/>
            <a:ext cx="19933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07090"/>
                </a:solidFill>
              </a:rPr>
              <a:t>Rango lunes: 64,914 – 65,571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07090"/>
                </a:solidFill>
              </a:rPr>
              <a:t>Apertura martes: presión global bajista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07090"/>
                </a:solidFill>
              </a:rPr>
              <a:t>Warsh + Ormuz pesan en toda la renta variable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833872" y="12618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520"/>
                </a:solidFill>
              </a:rPr>
              <a:t>🇺🇸  Wall Street — Futuros / Apertura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33872" y="1572768"/>
            <a:ext cx="6016752" cy="676656"/>
          </a:xfrm>
          <a:prstGeom prst="roundRect">
            <a:avLst>
              <a:gd name="adj" fmla="val 13514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0176" y="164592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A"/>
                </a:solidFill>
              </a:rPr>
              <a:t>S&amp;P 500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80176" y="19202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3020"/>
                </a:solidFill>
              </a:rPr>
              <a:t>−0.50%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67344" y="1719072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21" name="Text 19"/>
          <p:cNvSpPr/>
          <p:nvPr/>
        </p:nvSpPr>
        <p:spPr>
          <a:xfrm>
            <a:off x="8467344" y="17190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−38 pts futuros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40112" y="177393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07090"/>
                </a:solidFill>
              </a:rPr>
              <a:t>Abre −0.7%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833872" y="2359152"/>
            <a:ext cx="6016752" cy="676656"/>
          </a:xfrm>
          <a:prstGeom prst="roundRect">
            <a:avLst>
              <a:gd name="adj" fmla="val 13514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0176" y="243230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A"/>
                </a:solidFill>
              </a:rPr>
              <a:t>Dow Jones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80176" y="270662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3020"/>
                </a:solidFill>
              </a:rPr>
              <a:t>−0.45%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467344" y="2505456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27" name="Text 25"/>
          <p:cNvSpPr/>
          <p:nvPr/>
        </p:nvSpPr>
        <p:spPr>
          <a:xfrm>
            <a:off x="8467344" y="250545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−239 pts futuros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040112" y="25603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07090"/>
                </a:solidFill>
              </a:rPr>
              <a:t>Abre −363 pts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833872" y="3145536"/>
            <a:ext cx="6016752" cy="676656"/>
          </a:xfrm>
          <a:prstGeom prst="roundRect">
            <a:avLst>
              <a:gd name="adj" fmla="val 13514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0176" y="321868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A"/>
                </a:solidFill>
              </a:rPr>
              <a:t>Nasdaq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80176" y="34930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3020"/>
                </a:solidFill>
              </a:rPr>
              <a:t>−0.93%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467344" y="3291840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33" name="Text 31"/>
          <p:cNvSpPr/>
          <p:nvPr/>
        </p:nvSpPr>
        <p:spPr>
          <a:xfrm>
            <a:off x="8467344" y="32918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−276 pts futuros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040112" y="334670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07090"/>
                </a:solidFill>
              </a:rPr>
              <a:t>Abre −1.3%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74320" y="3200400"/>
            <a:ext cx="11612880" cy="13716"/>
          </a:xfrm>
          <a:prstGeom prst="rect">
            <a:avLst/>
          </a:prstGeom>
          <a:solidFill>
            <a:srgbClr val="C8D8E8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27355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520"/>
                </a:solidFill>
              </a:rPr>
              <a:t>🌍  Europa &amp; Asia — Cierre previo / Sesión nocturna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584448"/>
            <a:ext cx="3749040" cy="1499616"/>
          </a:xfrm>
          <a:prstGeom prst="roundRect">
            <a:avLst>
              <a:gd name="adj" fmla="val 6098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3694176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A"/>
                </a:solidFill>
              </a:rPr>
              <a:t>🇩🇪  DAX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02336" y="398678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07090"/>
                </a:solidFill>
              </a:rPr>
              <a:t>Alemania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02336" y="4187952"/>
            <a:ext cx="3493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1520"/>
                </a:solidFill>
              </a:rPr>
              <a:t>26,020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1508760" y="4663440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42" name="Text 40"/>
          <p:cNvSpPr/>
          <p:nvPr/>
        </p:nvSpPr>
        <p:spPr>
          <a:xfrm>
            <a:off x="1508760" y="466344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−0.90%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60520" y="3584448"/>
            <a:ext cx="3749040" cy="1499616"/>
          </a:xfrm>
          <a:prstGeom prst="roundRect">
            <a:avLst>
              <a:gd name="adj" fmla="val 6098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88536" y="3694176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A"/>
                </a:solidFill>
              </a:rPr>
              <a:t>🇬🇧  FTSE 100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288536" y="398678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07090"/>
                </a:solidFill>
              </a:rPr>
              <a:t>Reino Unido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288536" y="4187952"/>
            <a:ext cx="3493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1520"/>
                </a:solidFill>
              </a:rPr>
              <a:t>10,739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5394960" y="4663440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48" name="Text 46"/>
          <p:cNvSpPr/>
          <p:nvPr/>
        </p:nvSpPr>
        <p:spPr>
          <a:xfrm>
            <a:off x="5394960" y="466344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−0.77%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046720" y="3584448"/>
            <a:ext cx="3749040" cy="1499616"/>
          </a:xfrm>
          <a:prstGeom prst="roundRect">
            <a:avLst>
              <a:gd name="adj" fmla="val 6098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74736" y="3694176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A"/>
                </a:solidFill>
              </a:rPr>
              <a:t>🇯🇵  Nikkei 225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174736" y="398678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07090"/>
                </a:solidFill>
              </a:rPr>
              <a:t>Japón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174736" y="4187952"/>
            <a:ext cx="3493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1520"/>
                </a:solidFill>
              </a:rPr>
              <a:t>66,215</a:t>
            </a:r>
            <a:endParaRPr lang="en-US" sz="2100" dirty="0"/>
          </a:p>
        </p:txBody>
      </p:sp>
      <p:sp>
        <p:nvSpPr>
          <p:cNvPr id="53" name="Shape 51"/>
          <p:cNvSpPr/>
          <p:nvPr/>
        </p:nvSpPr>
        <p:spPr>
          <a:xfrm>
            <a:off x="9281160" y="4663440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54" name="Text 52"/>
          <p:cNvSpPr/>
          <p:nvPr/>
        </p:nvSpPr>
        <p:spPr>
          <a:xfrm>
            <a:off x="9281160" y="466344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−0.14%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74320" y="5266944"/>
            <a:ext cx="11594592" cy="749808"/>
          </a:xfrm>
          <a:prstGeom prst="roundRect">
            <a:avLst>
              <a:gd name="adj" fmla="val 12195"/>
            </a:avLst>
          </a:prstGeom>
          <a:solidFill>
            <a:srgbClr val="E2EE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" y="5340096"/>
            <a:ext cx="113202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A"/>
                </a:solidFill>
              </a:rPr>
              <a:t>Todos los índices en negativo · Catalizador común: Warsh señala inflación persistente → mayor probabilidad de alza Fed en sep · Rendimientos de Treasuries en máximos desde ene 2025 · Geopolítica Ormuz agrega volatilidad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E1520"/>
          </a:solidFill>
          <a:ln/>
        </p:spPr>
      </p:sp>
      <p:sp>
        <p:nvSpPr>
          <p:cNvPr id="58" name="Text 56"/>
          <p:cNvSpPr/>
          <p:nvPr/>
        </p:nvSpPr>
        <p:spPr>
          <a:xfrm>
            <a:off x="164592" y="6565392"/>
            <a:ext cx="1179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AAC8"/>
                </a:solidFill>
              </a:rPr>
              <a:t>Fuentes: TheStreet · Investrade · STL.News · Rio Times Online  |  Análisis informativo — No constituye asesoría financiera.  2 / 4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438912"/>
          </a:xfrm>
          <a:prstGeom prst="rect">
            <a:avLst/>
          </a:prstGeom>
          <a:solidFill>
            <a:srgbClr val="0E1520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8"/>
                </a:solidFill>
              </a:rPr>
              <a:t>Martes 1 septiembre 2026 · Morning Brief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78C8"/>
                </a:solidFill>
              </a:rPr>
              <a:t>DIVISAS &amp; COMMODITIES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12064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520"/>
                </a:solidFill>
              </a:rPr>
              <a:t>Divisas &amp; Materias Primas — 1 septiembre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877824"/>
            <a:ext cx="1161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7090"/>
                </a:solidFill>
              </a:rPr>
              <a:t>Peso resiliente sub-17 gracias a diferencial Banxico (6.75%) · Oro cae por yields altos · Brent sube por Ormuz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133856"/>
            <a:ext cx="11612880" cy="13716"/>
          </a:xfrm>
          <a:prstGeom prst="rect">
            <a:avLst/>
          </a:prstGeom>
          <a:solidFill>
            <a:srgbClr val="C8D8E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070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1520"/>
                </a:solidFill>
              </a:rPr>
              <a:t>💱  TIPOS DE CAMBIO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517904"/>
            <a:ext cx="5303520" cy="804672"/>
          </a:xfrm>
          <a:prstGeom prst="roundRect">
            <a:avLst>
              <a:gd name="adj" fmla="val 11364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591056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E2EEFA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5910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5A8A"/>
                </a:solidFill>
              </a:rPr>
              <a:t>USD / MXN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19019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520"/>
                </a:solidFill>
              </a:rPr>
              <a:t>$16.9959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17520" y="1700784"/>
            <a:ext cx="24323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07090"/>
                </a:solidFill>
              </a:rPr>
              <a:t>Peso sub-17 · diferencial Banxico 6.75% como ancla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2450592"/>
            <a:ext cx="5303520" cy="804672"/>
          </a:xfrm>
          <a:prstGeom prst="roundRect">
            <a:avLst>
              <a:gd name="adj" fmla="val 11364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523744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DDEEFA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5237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8C8"/>
                </a:solidFill>
              </a:rPr>
              <a:t>EUR / USD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283464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520"/>
                </a:solidFill>
              </a:rPr>
              <a:t>1.1606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017520" y="2633472"/>
            <a:ext cx="24323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07090"/>
                </a:solidFill>
              </a:rPr>
              <a:t>Dólar se fortalece post-Warsh · euro cede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5303520" cy="804672"/>
          </a:xfrm>
          <a:prstGeom prst="roundRect">
            <a:avLst>
              <a:gd name="adj" fmla="val 11364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456432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E4EEF8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4564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6A9A"/>
                </a:solidFill>
              </a:rPr>
              <a:t>EUR / MXN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376732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520"/>
                </a:solidFill>
              </a:rPr>
              <a:t>$21.03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017520" y="3566160"/>
            <a:ext cx="24323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07090"/>
                </a:solidFill>
              </a:rPr>
              <a:t>Mid-market · promedio 2026 ≈ $21.07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943600" y="120700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1520"/>
                </a:solidFill>
              </a:rPr>
              <a:t>🥇  METALES PRECIOSOS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1517904"/>
            <a:ext cx="5943600" cy="804672"/>
          </a:xfrm>
          <a:prstGeom prst="roundRect">
            <a:avLst>
              <a:gd name="adj" fmla="val 11364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53328" y="1591056"/>
            <a:ext cx="2560320" cy="256032"/>
          </a:xfrm>
          <a:prstGeom prst="roundRect">
            <a:avLst>
              <a:gd name="adj" fmla="val 25000"/>
            </a:avLst>
          </a:prstGeom>
          <a:solidFill>
            <a:srgbClr val="FAF2D0"/>
          </a:solidFill>
          <a:ln/>
        </p:spPr>
      </p:sp>
      <p:sp>
        <p:nvSpPr>
          <p:cNvPr id="28" name="Text 26"/>
          <p:cNvSpPr/>
          <p:nvPr/>
        </p:nvSpPr>
        <p:spPr>
          <a:xfrm>
            <a:off x="6053328" y="15910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8010"/>
                </a:solidFill>
              </a:rPr>
              <a:t>Oro  (XAU/USD)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53328" y="19019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520"/>
                </a:solidFill>
              </a:rPr>
              <a:t>~$4,360 /oz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833104" y="1719072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31" name="Text 29"/>
          <p:cNvSpPr/>
          <p:nvPr/>
        </p:nvSpPr>
        <p:spPr>
          <a:xfrm>
            <a:off x="8833104" y="17190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−1.86%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53328" y="2121408"/>
            <a:ext cx="5705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07090"/>
                </a:solidFill>
              </a:rPr>
              <a:t>Yields Treasuries en máx. jan-2025 presionan al oro · +15% en agosto aún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5943600" y="2450592"/>
            <a:ext cx="5943600" cy="804672"/>
          </a:xfrm>
          <a:prstGeom prst="roundRect">
            <a:avLst>
              <a:gd name="adj" fmla="val 11364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53328" y="2523744"/>
            <a:ext cx="2560320" cy="256032"/>
          </a:xfrm>
          <a:prstGeom prst="roundRect">
            <a:avLst>
              <a:gd name="adj" fmla="val 25000"/>
            </a:avLst>
          </a:prstGeom>
          <a:solidFill>
            <a:srgbClr val="FAF2D0"/>
          </a:solidFill>
          <a:ln/>
        </p:spPr>
      </p:sp>
      <p:sp>
        <p:nvSpPr>
          <p:cNvPr id="35" name="Text 33"/>
          <p:cNvSpPr/>
          <p:nvPr/>
        </p:nvSpPr>
        <p:spPr>
          <a:xfrm>
            <a:off x="6053328" y="25237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8010"/>
                </a:solidFill>
              </a:rPr>
              <a:t>Plata (XAG/USD)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53328" y="283464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520"/>
                </a:solidFill>
              </a:rPr>
              <a:t>~$65 /oz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833104" y="2651760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38" name="Text 36"/>
          <p:cNvSpPr/>
          <p:nvPr/>
        </p:nvSpPr>
        <p:spPr>
          <a:xfrm>
            <a:off x="8833104" y="265176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−2.2%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53328" y="3054096"/>
            <a:ext cx="5705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07090"/>
                </a:solidFill>
              </a:rPr>
              <a:t>Sesión mixta: $66.60 Asia → $64.76 apertura EU/NY · vol. alta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274320" y="4370832"/>
            <a:ext cx="11612880" cy="13716"/>
          </a:xfrm>
          <a:prstGeom prst="rect">
            <a:avLst/>
          </a:prstGeom>
          <a:solidFill>
            <a:srgbClr val="C8D8E8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443984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1520"/>
                </a:solidFill>
              </a:rPr>
              <a:t>⛽  ENERGÍA &amp; MATERIAS PRIMAS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773168"/>
            <a:ext cx="2788920" cy="1316736"/>
          </a:xfrm>
          <a:prstGeom prst="roundRect">
            <a:avLst>
              <a:gd name="adj" fmla="val 6944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882896"/>
            <a:ext cx="2606040" cy="237744"/>
          </a:xfrm>
          <a:prstGeom prst="roundRect">
            <a:avLst>
              <a:gd name="adj" fmla="val 26923"/>
            </a:avLst>
          </a:prstGeom>
          <a:solidFill>
            <a:srgbClr val="FDF0D8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488289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7830"/>
                </a:solidFill>
              </a:rPr>
              <a:t>Brent Crude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65760" y="517550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520"/>
                </a:solidFill>
              </a:rPr>
              <a:t>$91–92 /bbl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074420" y="5596128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DFF4EB"/>
          </a:solidFill>
          <a:ln/>
        </p:spPr>
      </p:sp>
      <p:sp>
        <p:nvSpPr>
          <p:cNvPr id="47" name="Text 45"/>
          <p:cNvSpPr/>
          <p:nvPr/>
        </p:nvSpPr>
        <p:spPr>
          <a:xfrm>
            <a:off x="1074420" y="559612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8A50"/>
                </a:solidFill>
              </a:rPr>
              <a:t>▲ +0.87%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" y="5888736"/>
            <a:ext cx="2606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07090"/>
                </a:solidFill>
              </a:rPr>
              <a:t>Tensiones EE.UU.-Irán · Ormuz activo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200400" y="4773168"/>
            <a:ext cx="2788920" cy="1316736"/>
          </a:xfrm>
          <a:prstGeom prst="roundRect">
            <a:avLst>
              <a:gd name="adj" fmla="val 6944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91840" y="4882896"/>
            <a:ext cx="2606040" cy="237744"/>
          </a:xfrm>
          <a:prstGeom prst="roundRect">
            <a:avLst>
              <a:gd name="adj" fmla="val 26923"/>
            </a:avLst>
          </a:prstGeom>
          <a:solidFill>
            <a:srgbClr val="FDF0D8"/>
          </a:solidFill>
          <a:ln/>
        </p:spPr>
      </p:sp>
      <p:sp>
        <p:nvSpPr>
          <p:cNvPr id="51" name="Text 49"/>
          <p:cNvSpPr/>
          <p:nvPr/>
        </p:nvSpPr>
        <p:spPr>
          <a:xfrm>
            <a:off x="3291840" y="488289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7830"/>
                </a:solidFill>
              </a:rPr>
              <a:t>WTI Crude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291840" y="517550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520"/>
                </a:solidFill>
              </a:rPr>
              <a:t>$88.78 /bbl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000500" y="5596128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DFF4EB"/>
          </a:solidFill>
          <a:ln/>
        </p:spPr>
      </p:sp>
      <p:sp>
        <p:nvSpPr>
          <p:cNvPr id="54" name="Text 52"/>
          <p:cNvSpPr/>
          <p:nvPr/>
        </p:nvSpPr>
        <p:spPr>
          <a:xfrm>
            <a:off x="4000500" y="559612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8A50"/>
                </a:solidFill>
              </a:rPr>
              <a:t>▲ +~0.9%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291840" y="5888736"/>
            <a:ext cx="2606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07090"/>
                </a:solidFill>
              </a:rPr>
              <a:t>En línea con Brent · demanda verano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6126480" y="4773168"/>
            <a:ext cx="2788920" cy="1316736"/>
          </a:xfrm>
          <a:prstGeom prst="roundRect">
            <a:avLst>
              <a:gd name="adj" fmla="val 6944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0" y="4882896"/>
            <a:ext cx="2606040" cy="237744"/>
          </a:xfrm>
          <a:prstGeom prst="roundRect">
            <a:avLst>
              <a:gd name="adj" fmla="val 26923"/>
            </a:avLst>
          </a:prstGeom>
          <a:solidFill>
            <a:srgbClr val="E4EEF8"/>
          </a:solidFill>
          <a:ln/>
        </p:spPr>
      </p:sp>
      <p:sp>
        <p:nvSpPr>
          <p:cNvPr id="58" name="Text 56"/>
          <p:cNvSpPr/>
          <p:nvPr/>
        </p:nvSpPr>
        <p:spPr>
          <a:xfrm>
            <a:off x="6217920" y="488289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A6A9A"/>
                </a:solidFill>
              </a:rPr>
              <a:t>Gas Natural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217920" y="517550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520"/>
                </a:solidFill>
              </a:rPr>
              <a:t>$2.89 /MMBtu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926580" y="5596128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DFF4EB"/>
          </a:solidFill>
          <a:ln/>
        </p:spPr>
      </p:sp>
      <p:sp>
        <p:nvSpPr>
          <p:cNvPr id="61" name="Text 59"/>
          <p:cNvSpPr/>
          <p:nvPr/>
        </p:nvSpPr>
        <p:spPr>
          <a:xfrm>
            <a:off x="6926580" y="559612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8A50"/>
                </a:solidFill>
              </a:rPr>
              <a:t>▲ —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217920" y="5888736"/>
            <a:ext cx="2606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07090"/>
                </a:solidFill>
              </a:rPr>
              <a:t>Henry Hub · precio estable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9052560" y="4773168"/>
            <a:ext cx="2788920" cy="1316736"/>
          </a:xfrm>
          <a:prstGeom prst="roundRect">
            <a:avLst>
              <a:gd name="adj" fmla="val 6944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144000" y="4882896"/>
            <a:ext cx="2606040" cy="237744"/>
          </a:xfrm>
          <a:prstGeom prst="roundRect">
            <a:avLst>
              <a:gd name="adj" fmla="val 26923"/>
            </a:avLst>
          </a:prstGeom>
          <a:solidFill>
            <a:srgbClr val="E2EEFA"/>
          </a:solidFill>
          <a:ln/>
        </p:spPr>
      </p:sp>
      <p:sp>
        <p:nvSpPr>
          <p:cNvPr id="65" name="Text 63"/>
          <p:cNvSpPr/>
          <p:nvPr/>
        </p:nvSpPr>
        <p:spPr>
          <a:xfrm>
            <a:off x="9144000" y="488289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5A8A"/>
                </a:solidFill>
              </a:rPr>
              <a:t>Cobre (LME)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9144000" y="517550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520"/>
                </a:solidFill>
              </a:rPr>
              <a:t>$6.62 /lb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9852660" y="5596128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DFF4EB"/>
          </a:solidFill>
          <a:ln/>
        </p:spPr>
      </p:sp>
      <p:sp>
        <p:nvSpPr>
          <p:cNvPr id="68" name="Text 66"/>
          <p:cNvSpPr/>
          <p:nvPr/>
        </p:nvSpPr>
        <p:spPr>
          <a:xfrm>
            <a:off x="9852660" y="559612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8A50"/>
                </a:solidFill>
              </a:rPr>
              <a:t>▲ +0.47%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9144000" y="5888736"/>
            <a:ext cx="2606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07090"/>
                </a:solidFill>
              </a:rPr>
              <a:t>+52.75% interanual · inventarios bajos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E1520"/>
          </a:solidFill>
          <a:ln/>
        </p:spPr>
      </p:sp>
      <p:sp>
        <p:nvSpPr>
          <p:cNvPr id="71" name="Text 69"/>
          <p:cNvSpPr/>
          <p:nvPr/>
        </p:nvSpPr>
        <p:spPr>
          <a:xfrm>
            <a:off x="164592" y="6565392"/>
            <a:ext cx="1179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AAC8"/>
                </a:solidFill>
              </a:rPr>
              <a:t>Fuentes: FXStreet · Convex · FRED St. Louis Fed · exchange-rates.org · LiteFinance  |  Análisis informativo — No constituye asesoría financiera.  3 / 4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438912"/>
          </a:xfrm>
          <a:prstGeom prst="rect">
            <a:avLst/>
          </a:prstGeom>
          <a:solidFill>
            <a:srgbClr val="0E1520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C8"/>
                </a:solidFill>
              </a:rPr>
              <a:t>Martes 1 septiembre 2026 · Morning Brief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E78C8"/>
                </a:solidFill>
              </a:rPr>
              <a:t>BMV ACCIONES · MACRO EE.UU.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12064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520"/>
                </a:solidFill>
              </a:rPr>
              <a:t>BMV — Acciones en el Radar &amp; Macro EE.UU.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11612880" cy="13716"/>
          </a:xfrm>
          <a:prstGeom prst="rect">
            <a:avLst/>
          </a:prstGeom>
          <a:solidFill>
            <a:srgbClr val="C8D8E8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96926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520"/>
                </a:solidFill>
              </a:rPr>
              <a:t>📈  BMV — EN EL RADAR (SEMANA)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243584"/>
            <a:ext cx="5303520" cy="402336"/>
          </a:xfrm>
          <a:prstGeom prst="roundRect">
            <a:avLst>
              <a:gd name="adj" fmla="val 22727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316736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DFF4EB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3167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8A50"/>
                </a:solidFill>
              </a:rPr>
              <a:t>GRP. MÉXICO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956816" y="1316736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DFF4EB"/>
          </a:solidFill>
          <a:ln/>
        </p:spPr>
      </p:sp>
      <p:sp>
        <p:nvSpPr>
          <p:cNvPr id="13" name="Text 11"/>
          <p:cNvSpPr/>
          <p:nvPr/>
        </p:nvSpPr>
        <p:spPr>
          <a:xfrm>
            <a:off x="1956816" y="131673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8A50"/>
                </a:solidFill>
              </a:rPr>
              <a:t>▲ +1.9%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55264" y="1335024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7090"/>
                </a:solidFill>
              </a:rPr>
              <a:t>Cobre al alza · minera referente del IPC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5303520" cy="402336"/>
          </a:xfrm>
          <a:prstGeom prst="roundRect">
            <a:avLst>
              <a:gd name="adj" fmla="val 22727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1792224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DFF4EB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17922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8A50"/>
                </a:solidFill>
              </a:rPr>
              <a:t>FEMSA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956816" y="1792224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DFF4EB"/>
          </a:solidFill>
          <a:ln/>
        </p:spPr>
      </p:sp>
      <p:sp>
        <p:nvSpPr>
          <p:cNvPr id="19" name="Text 17"/>
          <p:cNvSpPr/>
          <p:nvPr/>
        </p:nvSpPr>
        <p:spPr>
          <a:xfrm>
            <a:off x="1956816" y="179222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8A50"/>
                </a:solidFill>
              </a:rPr>
              <a:t>▲ +YTD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55264" y="1810512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7090"/>
                </a:solidFill>
              </a:rPr>
              <a:t>Consumo defensivo · 2do mejor 2026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74320" y="2194560"/>
            <a:ext cx="5303520" cy="402336"/>
          </a:xfrm>
          <a:prstGeom prst="roundRect">
            <a:avLst>
              <a:gd name="adj" fmla="val 22727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267712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DFF4EB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22677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8A50"/>
                </a:solidFill>
              </a:rPr>
              <a:t>BBAJIO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956816" y="2267712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DFF4EB"/>
          </a:solidFill>
          <a:ln/>
        </p:spPr>
      </p:sp>
      <p:sp>
        <p:nvSpPr>
          <p:cNvPr id="25" name="Text 23"/>
          <p:cNvSpPr/>
          <p:nvPr/>
        </p:nvSpPr>
        <p:spPr>
          <a:xfrm>
            <a:off x="1956816" y="226771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8A50"/>
                </a:solidFill>
              </a:rPr>
              <a:t>▲ +1.27%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55264" y="2286000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7090"/>
                </a:solidFill>
              </a:rPr>
              <a:t>BanBajío · lider acumulado 2026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74320" y="2670048"/>
            <a:ext cx="5303520" cy="402336"/>
          </a:xfrm>
          <a:prstGeom prst="roundRect">
            <a:avLst>
              <a:gd name="adj" fmla="val 22727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274320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DFF4EB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7432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8A50"/>
                </a:solidFill>
              </a:rPr>
              <a:t>AMX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956816" y="2743200"/>
            <a:ext cx="1188720" cy="237744"/>
          </a:xfrm>
          <a:prstGeom prst="roundRect">
            <a:avLst>
              <a:gd name="adj" fmla="val 23077"/>
            </a:avLst>
          </a:prstGeom>
          <a:solidFill>
            <a:srgbClr val="DFF4EB"/>
          </a:solidFill>
          <a:ln/>
        </p:spPr>
      </p:sp>
      <p:sp>
        <p:nvSpPr>
          <p:cNvPr id="31" name="Text 29"/>
          <p:cNvSpPr/>
          <p:nvPr/>
        </p:nvSpPr>
        <p:spPr>
          <a:xfrm>
            <a:off x="1956816" y="274320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8A50"/>
                </a:solidFill>
              </a:rPr>
              <a:t>▲ +8.1% YTD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55264" y="2761488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7090"/>
                </a:solidFill>
              </a:rPr>
              <a:t>América Móvil · resiliente al entorno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217920" y="969264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520"/>
                </a:solidFill>
              </a:rPr>
              <a:t>📉  BMV — BAJO PRESIÓN (SESIÓN)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1243584"/>
            <a:ext cx="5650992" cy="402336"/>
          </a:xfrm>
          <a:prstGeom prst="roundRect">
            <a:avLst>
              <a:gd name="adj" fmla="val 22727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27648" y="1316736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FAE4E0"/>
          </a:solidFill>
          <a:ln/>
        </p:spPr>
      </p:sp>
      <p:sp>
        <p:nvSpPr>
          <p:cNvPr id="36" name="Text 34"/>
          <p:cNvSpPr/>
          <p:nvPr/>
        </p:nvSpPr>
        <p:spPr>
          <a:xfrm>
            <a:off x="6327648" y="13167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3020"/>
                </a:solidFill>
              </a:rPr>
              <a:t>WALMEX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900416" y="1316736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38" name="Text 36"/>
          <p:cNvSpPr/>
          <p:nvPr/>
        </p:nvSpPr>
        <p:spPr>
          <a:xfrm>
            <a:off x="7900416" y="131673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−1.9%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290304" y="133502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7090"/>
                </a:solidFill>
              </a:rPr>
              <a:t>Mayor rotación · consumo defensivo cede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217920" y="1719072"/>
            <a:ext cx="5650992" cy="402336"/>
          </a:xfrm>
          <a:prstGeom prst="roundRect">
            <a:avLst>
              <a:gd name="adj" fmla="val 22727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27648" y="1792224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FAE4E0"/>
          </a:solidFill>
          <a:ln/>
        </p:spPr>
      </p:sp>
      <p:sp>
        <p:nvSpPr>
          <p:cNvPr id="42" name="Text 40"/>
          <p:cNvSpPr/>
          <p:nvPr/>
        </p:nvSpPr>
        <p:spPr>
          <a:xfrm>
            <a:off x="6327648" y="17922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3020"/>
                </a:solidFill>
              </a:rPr>
              <a:t>GAP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900416" y="1792224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44" name="Text 42"/>
          <p:cNvSpPr/>
          <p:nvPr/>
        </p:nvSpPr>
        <p:spPr>
          <a:xfrm>
            <a:off x="7900416" y="179222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−1.0%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290304" y="18105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7090"/>
                </a:solidFill>
              </a:rPr>
              <a:t>Aeropuertos · infraestructura bajo presión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217920" y="2194560"/>
            <a:ext cx="5650992" cy="402336"/>
          </a:xfrm>
          <a:prstGeom prst="roundRect">
            <a:avLst>
              <a:gd name="adj" fmla="val 22727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27648" y="2267712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FAE4E0"/>
          </a:solidFill>
          <a:ln/>
        </p:spPr>
      </p:sp>
      <p:sp>
        <p:nvSpPr>
          <p:cNvPr id="48" name="Text 46"/>
          <p:cNvSpPr/>
          <p:nvPr/>
        </p:nvSpPr>
        <p:spPr>
          <a:xfrm>
            <a:off x="6327648" y="22677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3020"/>
                </a:solidFill>
              </a:rPr>
              <a:t>ASUR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900416" y="2267712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50" name="Text 48"/>
          <p:cNvSpPr/>
          <p:nvPr/>
        </p:nvSpPr>
        <p:spPr>
          <a:xfrm>
            <a:off x="7900416" y="22677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−1.16%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290304" y="22860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7090"/>
                </a:solidFill>
              </a:rPr>
              <a:t>Aeropuerto Sureste · presión en aviación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217920" y="2670048"/>
            <a:ext cx="5650992" cy="402336"/>
          </a:xfrm>
          <a:prstGeom prst="roundRect">
            <a:avLst>
              <a:gd name="adj" fmla="val 22727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27648" y="2743200"/>
            <a:ext cx="1463040" cy="256032"/>
          </a:xfrm>
          <a:prstGeom prst="roundRect">
            <a:avLst>
              <a:gd name="adj" fmla="val 25000"/>
            </a:avLst>
          </a:prstGeom>
          <a:solidFill>
            <a:srgbClr val="FAE4E0"/>
          </a:solidFill>
          <a:ln/>
        </p:spPr>
      </p:sp>
      <p:sp>
        <p:nvSpPr>
          <p:cNvPr id="54" name="Text 52"/>
          <p:cNvSpPr/>
          <p:nvPr/>
        </p:nvSpPr>
        <p:spPr>
          <a:xfrm>
            <a:off x="6327648" y="27432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3020"/>
                </a:solidFill>
              </a:rPr>
              <a:t>GRUMA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900416" y="2743200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FAE4E0"/>
          </a:solidFill>
          <a:ln/>
        </p:spPr>
      </p:sp>
      <p:sp>
        <p:nvSpPr>
          <p:cNvPr id="56" name="Text 54"/>
          <p:cNvSpPr/>
          <p:nvPr/>
        </p:nvSpPr>
        <p:spPr>
          <a:xfrm>
            <a:off x="7900416" y="27432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0"/>
                </a:solidFill>
              </a:rPr>
              <a:t>▼ −18.7% YTD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9290304" y="276148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7090"/>
                </a:solidFill>
              </a:rPr>
              <a:t>Granos altos · mayor rezago del año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74320" y="3163824"/>
            <a:ext cx="11612880" cy="13716"/>
          </a:xfrm>
          <a:prstGeom prst="rect">
            <a:avLst/>
          </a:prstGeom>
          <a:solidFill>
            <a:srgbClr val="C8D8E8"/>
          </a:solidFill>
          <a:ln/>
        </p:spPr>
      </p:sp>
      <p:sp>
        <p:nvSpPr>
          <p:cNvPr id="59" name="Text 57"/>
          <p:cNvSpPr/>
          <p:nvPr/>
        </p:nvSpPr>
        <p:spPr>
          <a:xfrm>
            <a:off x="274320" y="3236976"/>
            <a:ext cx="1161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520"/>
                </a:solidFill>
              </a:rPr>
              <a:t>🏭  ISM MANUFACTURING PMI — AGOSTO 2026 · PUBLICADO HOY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3529584"/>
            <a:ext cx="3749040" cy="1280160"/>
          </a:xfrm>
          <a:prstGeom prst="roundRect">
            <a:avLst>
              <a:gd name="adj" fmla="val 7143"/>
            </a:avLst>
          </a:prstGeom>
          <a:solidFill>
            <a:srgbClr val="E2EE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4048" y="3621024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5A8A"/>
                </a:solidFill>
              </a:rPr>
              <a:t>ISM PMI Manufactura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84048" y="3895344"/>
            <a:ext cx="35295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520"/>
                </a:solidFill>
              </a:rPr>
              <a:t>54.6%</a:t>
            </a:r>
            <a:endParaRPr lang="en-US" sz="3000" dirty="0"/>
          </a:p>
        </p:txBody>
      </p:sp>
      <p:sp>
        <p:nvSpPr>
          <p:cNvPr id="63" name="Text 61"/>
          <p:cNvSpPr/>
          <p:nvPr/>
        </p:nvSpPr>
        <p:spPr>
          <a:xfrm>
            <a:off x="384048" y="4443984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07090"/>
                </a:solidFill>
              </a:rPr>
              <a:t>vs 55.6% jul · 8vo mes expansión consecutiva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169664" y="3529584"/>
            <a:ext cx="3749040" cy="1280160"/>
          </a:xfrm>
          <a:prstGeom prst="roundRect">
            <a:avLst>
              <a:gd name="adj" fmla="val 7143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79392" y="3621024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A"/>
                </a:solidFill>
              </a:rPr>
              <a:t>Nuevos Pedidos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279392" y="3895344"/>
            <a:ext cx="35295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520"/>
                </a:solidFill>
              </a:rPr>
              <a:t>53.7%</a:t>
            </a:r>
            <a:endParaRPr lang="en-US" sz="3000" dirty="0"/>
          </a:p>
        </p:txBody>
      </p:sp>
      <p:sp>
        <p:nvSpPr>
          <p:cNvPr id="67" name="Text 65"/>
          <p:cNvSpPr/>
          <p:nvPr/>
        </p:nvSpPr>
        <p:spPr>
          <a:xfrm>
            <a:off x="4279392" y="4443984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07090"/>
                </a:solidFill>
              </a:rPr>
              <a:t>vs 56.7% jul · baja 3 pts pero sigue en expansión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8065008" y="3529584"/>
            <a:ext cx="3822192" cy="1280160"/>
          </a:xfrm>
          <a:prstGeom prst="roundRect">
            <a:avLst>
              <a:gd name="adj" fmla="val 7143"/>
            </a:avLst>
          </a:prstGeom>
          <a:solidFill>
            <a:srgbClr val="F7FAFE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174736" y="3621024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A"/>
                </a:solidFill>
              </a:rPr>
              <a:t>Economía EE.UU.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174736" y="3858768"/>
            <a:ext cx="3602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520"/>
                </a:solidFill>
              </a:rPr>
              <a:t>22°</a:t>
            </a:r>
            <a:endParaRPr lang="en-US" sz="3000" dirty="0"/>
          </a:p>
        </p:txBody>
      </p:sp>
      <p:sp>
        <p:nvSpPr>
          <p:cNvPr id="71" name="Text 69"/>
          <p:cNvSpPr/>
          <p:nvPr/>
        </p:nvSpPr>
        <p:spPr>
          <a:xfrm>
            <a:off x="8174736" y="4443984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07090"/>
                </a:solidFill>
              </a:rPr>
              <a:t>mes consecutivo en expansión · economía sana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74320" y="4901184"/>
            <a:ext cx="11612880" cy="13716"/>
          </a:xfrm>
          <a:prstGeom prst="rect">
            <a:avLst/>
          </a:prstGeom>
          <a:solidFill>
            <a:srgbClr val="C8D8E8"/>
          </a:solidFill>
          <a:ln/>
        </p:spPr>
      </p:sp>
      <p:sp>
        <p:nvSpPr>
          <p:cNvPr id="73" name="Text 71"/>
          <p:cNvSpPr/>
          <p:nvPr/>
        </p:nvSpPr>
        <p:spPr>
          <a:xfrm>
            <a:off x="274320" y="497433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1520"/>
                </a:solidFill>
              </a:rPr>
              <a:t>🇲🇽  CONTEXTO MÉXICO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347472" y="5230368"/>
            <a:ext cx="11448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A"/>
                </a:solidFill>
              </a:rPr>
              <a:t>• Banxico: tasa 6.75% · diferencial ancla al peso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347472" y="5504688"/>
            <a:ext cx="11448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A"/>
                </a:solidFill>
              </a:rPr>
              <a:t>• Inflación 1ª quincena ago: 3.26% · dentro del objetivo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47472" y="5779008"/>
            <a:ext cx="11448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A"/>
                </a:solidFill>
              </a:rPr>
              <a:t>• PIB 2026: Banxico elevó pron. a +1.5% · nearshoring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347472" y="6053328"/>
            <a:ext cx="11448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A"/>
                </a:solidFill>
              </a:rPr>
              <a:t>• IED H1 2026: ~$35 mil mdd · récord histórico (+2.1%)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347472" y="6327648"/>
            <a:ext cx="11448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A"/>
                </a:solidFill>
              </a:rPr>
              <a:t>• Riesgo: alza Fed sep comprimiría diferencial → presión peso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E1520"/>
          </a:solidFill>
          <a:ln/>
        </p:spPr>
      </p:sp>
      <p:sp>
        <p:nvSpPr>
          <p:cNvPr id="80" name="Text 78"/>
          <p:cNvSpPr/>
          <p:nvPr/>
        </p:nvSpPr>
        <p:spPr>
          <a:xfrm>
            <a:off x="164592" y="6565392"/>
            <a:ext cx="1179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AAC8"/>
                </a:solidFill>
              </a:rPr>
              <a:t>Fuentes: PR Newswire/ISM · Rio Times · Mexico News Daily · FXStreet · Banxico  |  Análisis informativo — No constituye asesoría financiera.  4 / 4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México Briefing 01sep2026</dc:title>
  <dc:subject>México Briefing — 01 Septiembre 2026 — Apertura</dc:subject>
  <dc:creator>México Briefing</dc:creator>
  <cp:lastModifiedBy>México Briefing</cp:lastModifiedBy>
  <cp:revision>1</cp:revision>
  <dcterms:created xsi:type="dcterms:W3CDTF">2026-09-01T16:57:43Z</dcterms:created>
  <dcterms:modified xsi:type="dcterms:W3CDTF">2026-09-01T16:57:43Z</dcterms:modified>
</cp:coreProperties>
</file>